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1"/>
  </p:sldMasterIdLst>
  <p:sldIdLst>
    <p:sldId id="256" r:id="rId2"/>
    <p:sldId id="257" r:id="rId3"/>
    <p:sldId id="311" r:id="rId4"/>
    <p:sldId id="258" r:id="rId5"/>
    <p:sldId id="259" r:id="rId6"/>
    <p:sldId id="260" r:id="rId7"/>
    <p:sldId id="261" r:id="rId8"/>
    <p:sldId id="262" r:id="rId9"/>
    <p:sldId id="263" r:id="rId10"/>
    <p:sldId id="264" r:id="rId11"/>
    <p:sldId id="265" r:id="rId12"/>
    <p:sldId id="266" r:id="rId13"/>
    <p:sldId id="267" r:id="rId14"/>
    <p:sldId id="268" r:id="rId15"/>
    <p:sldId id="269" r:id="rId16"/>
    <p:sldId id="271" r:id="rId17"/>
    <p:sldId id="270"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312" r:id="rId39"/>
    <p:sldId id="292" r:id="rId40"/>
    <p:sldId id="293" r:id="rId41"/>
    <p:sldId id="313" r:id="rId42"/>
    <p:sldId id="294" r:id="rId43"/>
    <p:sldId id="295" r:id="rId44"/>
    <p:sldId id="296" r:id="rId45"/>
    <p:sldId id="297" r:id="rId46"/>
    <p:sldId id="298" r:id="rId47"/>
    <p:sldId id="299" r:id="rId48"/>
    <p:sldId id="300" r:id="rId49"/>
    <p:sldId id="301" r:id="rId50"/>
    <p:sldId id="302" r:id="rId51"/>
    <p:sldId id="306" r:id="rId52"/>
    <p:sldId id="307" r:id="rId53"/>
    <p:sldId id="308" r:id="rId54"/>
    <p:sldId id="303" r:id="rId55"/>
    <p:sldId id="304" r:id="rId56"/>
    <p:sldId id="305" r:id="rId57"/>
    <p:sldId id="309" r:id="rId58"/>
    <p:sldId id="310" r:id="rId5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aga raju" initial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99FFCC"/>
    <a:srgbClr val="4F5A8F"/>
    <a:srgbClr val="DE003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539" autoAdjust="0"/>
    <p:restoredTop sz="94628" autoAdjust="0"/>
  </p:normalViewPr>
  <p:slideViewPr>
    <p:cSldViewPr snapToGrid="0">
      <p:cViewPr>
        <p:scale>
          <a:sx n="75" d="100"/>
          <a:sy n="75" d="100"/>
        </p:scale>
        <p:origin x="720" y="21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10/23/2025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679401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10/23/2025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550263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10/23/2025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327331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10/23/2025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5158490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10/23/2025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026728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10/23/2025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22826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10/23/2025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464748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10/23/2025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794241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10/23/2025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90337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10/23/2025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1494467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10/23/2025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7764792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10/23/2025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6499546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10/23/2025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9064216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10/23/2025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4655228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10/23/2025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101843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10/23/2025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96185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8A87A34-81AB-432B-8DAE-1953F412C126}" type="datetimeFigureOut">
              <a:rPr lang="en-US" smtClean="0"/>
              <a:pPr/>
              <a:t>10/23/2025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524569667"/>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6.xml"/><Relationship Id="rId4" Type="http://schemas.openxmlformats.org/officeDocument/2006/relationships/image" Target="../media/image38.png"/></Relationships>
</file>

<file path=ppt/slides/_rels/slide5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Angular-17</a:t>
            </a:r>
            <a:endParaRPr lang="en-US" dirty="0"/>
          </a:p>
        </p:txBody>
      </p:sp>
      <p:sp>
        <p:nvSpPr>
          <p:cNvPr id="3" name="Subtitle 2"/>
          <p:cNvSpPr>
            <a:spLocks noGrp="1"/>
          </p:cNvSpPr>
          <p:nvPr>
            <p:ph type="subTitle" idx="1"/>
          </p:nvPr>
        </p:nvSpPr>
        <p:spPr>
          <a:xfrm>
            <a:off x="1371600" y="3628501"/>
            <a:ext cx="9448800" cy="685800"/>
          </a:xfrm>
        </p:spPr>
        <p:txBody>
          <a:bodyPr/>
          <a:lstStyle/>
          <a:p>
            <a:r>
              <a:rPr lang="en-US" dirty="0" smtClean="0">
                <a:solidFill>
                  <a:srgbClr val="FF0000"/>
                </a:solidFill>
              </a:rPr>
              <a:t>Nagaraju</a:t>
            </a:r>
            <a:endParaRPr lang="en-US" dirty="0">
              <a:solidFill>
                <a:srgbClr val="FF0000"/>
              </a:solidFill>
            </a:endParaRPr>
          </a:p>
        </p:txBody>
      </p:sp>
    </p:spTree>
    <p:extLst>
      <p:ext uri="{BB962C8B-B14F-4D97-AF65-F5344CB8AC3E}">
        <p14:creationId xmlns:p14="http://schemas.microsoft.com/office/powerpoint/2010/main" val="2429422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heel(1)">
                                      <p:cBhvr>
                                        <p:cTn id="12"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Angular</a:t>
            </a:r>
            <a:endParaRPr lang="en-US" dirty="0"/>
          </a:p>
        </p:txBody>
      </p:sp>
      <p:sp>
        <p:nvSpPr>
          <p:cNvPr id="3" name="Rectangle 2"/>
          <p:cNvSpPr/>
          <p:nvPr/>
        </p:nvSpPr>
        <p:spPr>
          <a:xfrm>
            <a:off x="171946" y="1665466"/>
            <a:ext cx="11747157" cy="413539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sz="2800" dirty="0"/>
              <a:t>Angular is a JavaScript framework and development platform used to create single-page web applications. It's open-source and was developed and is maintained by Google. Angular is written in </a:t>
            </a:r>
            <a:r>
              <a:rPr lang="en-US" sz="2800" dirty="0" err="1"/>
              <a:t>TypeScript</a:t>
            </a:r>
            <a:r>
              <a:rPr lang="en-US" sz="2800" dirty="0"/>
              <a:t>, a superset of JavaScript, and includes a component-based framework, libraries, and developer tools</a:t>
            </a:r>
          </a:p>
        </p:txBody>
      </p:sp>
    </p:spTree>
    <p:extLst>
      <p:ext uri="{BB962C8B-B14F-4D97-AF65-F5344CB8AC3E}">
        <p14:creationId xmlns:p14="http://schemas.microsoft.com/office/powerpoint/2010/main" val="1505055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09728" y="123299"/>
            <a:ext cx="11836936" cy="6496957"/>
          </a:xfrm>
          <a:prstGeom prst="rect">
            <a:avLst/>
          </a:prstGeom>
        </p:spPr>
      </p:pic>
    </p:spTree>
    <p:extLst>
      <p:ext uri="{BB962C8B-B14F-4D97-AF65-F5344CB8AC3E}">
        <p14:creationId xmlns:p14="http://schemas.microsoft.com/office/powerpoint/2010/main" val="41293947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a:t>
            </a:r>
            <a:r>
              <a:rPr lang="en-US" dirty="0"/>
              <a:t>Installation</a:t>
            </a:r>
            <a:r>
              <a:rPr lang="en-US" b="1" dirty="0"/>
              <a:t/>
            </a:r>
            <a:br>
              <a:rPr lang="en-US" b="1" dirty="0"/>
            </a:br>
            <a:endParaRPr lang="en-US" dirty="0"/>
          </a:p>
        </p:txBody>
      </p:sp>
      <p:sp>
        <p:nvSpPr>
          <p:cNvPr id="3" name="Rectangle 2"/>
          <p:cNvSpPr/>
          <p:nvPr/>
        </p:nvSpPr>
        <p:spPr>
          <a:xfrm>
            <a:off x="614394" y="2332302"/>
            <a:ext cx="10816281" cy="112034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As we know already, Angular is written in </a:t>
            </a:r>
            <a:r>
              <a:rPr lang="en-US" b="1" dirty="0" err="1"/>
              <a:t>TypeScript</a:t>
            </a:r>
            <a:r>
              <a:rPr lang="en-US" dirty="0"/>
              <a:t>. We need </a:t>
            </a:r>
            <a:r>
              <a:rPr lang="en-US" b="1" dirty="0"/>
              <a:t>Node</a:t>
            </a:r>
            <a:r>
              <a:rPr lang="en-US" dirty="0"/>
              <a:t> and </a:t>
            </a:r>
            <a:r>
              <a:rPr lang="en-US" b="1" dirty="0" err="1"/>
              <a:t>npm</a:t>
            </a:r>
            <a:r>
              <a:rPr lang="en-US" dirty="0"/>
              <a:t> to compile the files into </a:t>
            </a:r>
            <a:r>
              <a:rPr lang="en-US" b="1" dirty="0"/>
              <a:t>JavaScript</a:t>
            </a:r>
            <a:r>
              <a:rPr lang="en-US" dirty="0"/>
              <a:t> after that, we can deploy our application. For this purpose, </a:t>
            </a:r>
            <a:r>
              <a:rPr lang="en-US" b="1" dirty="0"/>
              <a:t>Node.js</a:t>
            </a:r>
            <a:r>
              <a:rPr lang="en-US" dirty="0"/>
              <a:t> must be installed in your system. Hopefully, you have installed </a:t>
            </a:r>
            <a:r>
              <a:rPr lang="en-US" b="1" dirty="0"/>
              <a:t>Node.js</a:t>
            </a:r>
            <a:r>
              <a:rPr lang="en-US" dirty="0"/>
              <a:t> on your machine.</a:t>
            </a:r>
          </a:p>
        </p:txBody>
      </p:sp>
      <p:sp>
        <p:nvSpPr>
          <p:cNvPr id="4" name="Rectangle 3"/>
          <p:cNvSpPr/>
          <p:nvPr/>
        </p:nvSpPr>
        <p:spPr>
          <a:xfrm>
            <a:off x="1347952" y="3452648"/>
            <a:ext cx="8150772" cy="874986"/>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t>We check it </a:t>
            </a:r>
            <a:r>
              <a:rPr lang="en-US" dirty="0" err="1" smtClean="0"/>
              <a:t>uing</a:t>
            </a:r>
            <a:r>
              <a:rPr lang="en-US" dirty="0" smtClean="0"/>
              <a:t> the below command</a:t>
            </a:r>
            <a:br>
              <a:rPr lang="en-US" dirty="0" smtClean="0"/>
            </a:br>
            <a:endParaRPr lang="en-US" dirty="0" smtClean="0"/>
          </a:p>
          <a:p>
            <a:pPr algn="ctr"/>
            <a:r>
              <a:rPr lang="en-US" dirty="0" smtClean="0"/>
              <a:t>Node –version  or node –v</a:t>
            </a:r>
          </a:p>
        </p:txBody>
      </p:sp>
      <p:sp>
        <p:nvSpPr>
          <p:cNvPr id="8" name="Rectangle 7"/>
          <p:cNvSpPr/>
          <p:nvPr/>
        </p:nvSpPr>
        <p:spPr>
          <a:xfrm>
            <a:off x="726998" y="5325761"/>
            <a:ext cx="8735786" cy="70212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err="1" smtClean="0"/>
              <a:t>Npm</a:t>
            </a:r>
            <a:r>
              <a:rPr lang="en-US" sz="1600" dirty="0" smtClean="0"/>
              <a:t> install –g @angular/cli @^17</a:t>
            </a:r>
          </a:p>
          <a:p>
            <a:pPr algn="ctr"/>
            <a:r>
              <a:rPr lang="en-US" sz="1600" dirty="0" smtClean="0"/>
              <a:t>Ng version</a:t>
            </a:r>
          </a:p>
        </p:txBody>
      </p:sp>
      <p:sp>
        <p:nvSpPr>
          <p:cNvPr id="9" name="Rectangle 4"/>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rgbClr val="000000"/>
                </a:solidFill>
                <a:effectLst/>
                <a:latin typeface="inherit"/>
              </a:rPr>
              <a:t>ng version</a:t>
            </a:r>
            <a:r>
              <a:rPr kumimoji="0" lang="en-US" altLang="en-US" sz="800" b="0" i="0" u="none" strike="noStrike" cap="none" normalizeH="0" baseline="0" smtClean="0">
                <a:ln>
                  <a:noFill/>
                </a:ln>
                <a:solidFill>
                  <a:schemeClr val="tx1"/>
                </a:solidFill>
                <a:effectLst/>
              </a:rPr>
              <a:t> </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0" name="Rectangle 9"/>
          <p:cNvSpPr/>
          <p:nvPr/>
        </p:nvSpPr>
        <p:spPr>
          <a:xfrm>
            <a:off x="2784398" y="4402436"/>
            <a:ext cx="4620986" cy="8485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solidFill>
                  <a:schemeClr val="tx1"/>
                </a:solidFill>
              </a:rPr>
              <a:t>npm</a:t>
            </a:r>
            <a:r>
              <a:rPr lang="en-US" dirty="0" smtClean="0">
                <a:solidFill>
                  <a:schemeClr val="tx1"/>
                </a:solidFill>
              </a:rPr>
              <a:t>  -v</a:t>
            </a:r>
            <a:endParaRPr lang="en-US" dirty="0">
              <a:solidFill>
                <a:schemeClr val="tx1"/>
              </a:solidFill>
            </a:endParaRPr>
          </a:p>
        </p:txBody>
      </p:sp>
    </p:spTree>
    <p:extLst>
      <p:ext uri="{BB962C8B-B14F-4D97-AF65-F5344CB8AC3E}">
        <p14:creationId xmlns:p14="http://schemas.microsoft.com/office/powerpoint/2010/main" val="3685004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randombar(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randombar(horizont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randombar(horizontal)">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randombar(horizontal)">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P spid="8" grpId="0" animBg="1"/>
      <p:bldP spid="1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Angular architecture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7383" y="1883672"/>
            <a:ext cx="11320669" cy="4566824"/>
          </a:xfrm>
          <a:prstGeom prst="rect">
            <a:avLst/>
          </a:prstGeom>
        </p:spPr>
      </p:pic>
    </p:spTree>
    <p:extLst>
      <p:ext uri="{BB962C8B-B14F-4D97-AF65-F5344CB8AC3E}">
        <p14:creationId xmlns:p14="http://schemas.microsoft.com/office/powerpoint/2010/main" val="95612870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a:t>
            </a:r>
            <a:r>
              <a:rPr lang="en-US" dirty="0"/>
              <a:t>Add a component</a:t>
            </a:r>
            <a:br>
              <a:rPr lang="en-US" dirty="0"/>
            </a:br>
            <a:endParaRPr lang="en-US" dirty="0"/>
          </a:p>
        </p:txBody>
      </p:sp>
      <p:sp>
        <p:nvSpPr>
          <p:cNvPr id="3" name="Rectangle 2"/>
          <p:cNvSpPr/>
          <p:nvPr/>
        </p:nvSpPr>
        <p:spPr>
          <a:xfrm>
            <a:off x="1354014" y="1962705"/>
            <a:ext cx="2382413" cy="315311"/>
          </a:xfrm>
          <a:prstGeom prst="rect">
            <a:avLst/>
          </a:prstGeom>
          <a:noFill/>
          <a:ln w="2857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r>
              <a:rPr lang="en-US" dirty="0" smtClean="0"/>
              <a:t>What is component ?</a:t>
            </a:r>
            <a:endParaRPr lang="en-US" dirty="0"/>
          </a:p>
        </p:txBody>
      </p:sp>
      <p:sp>
        <p:nvSpPr>
          <p:cNvPr id="4" name="Rectangle 3"/>
          <p:cNvSpPr/>
          <p:nvPr/>
        </p:nvSpPr>
        <p:spPr>
          <a:xfrm>
            <a:off x="2081048" y="2388476"/>
            <a:ext cx="8205952" cy="1206062"/>
          </a:xfrm>
          <a:prstGeom prst="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b="1" dirty="0"/>
              <a:t>Components</a:t>
            </a:r>
            <a:r>
              <a:rPr lang="en-US" dirty="0"/>
              <a:t> are building block of Angular application. The main job of Angular Component is to generate a section of web page called </a:t>
            </a:r>
            <a:r>
              <a:rPr lang="en-US" b="1" dirty="0"/>
              <a:t>view</a:t>
            </a:r>
            <a:r>
              <a:rPr lang="en-US" dirty="0"/>
              <a:t>. Every component will have an associated template and it will be used to generate views.</a:t>
            </a:r>
          </a:p>
        </p:txBody>
      </p:sp>
      <p:sp>
        <p:nvSpPr>
          <p:cNvPr id="5" name="Rectangle 4"/>
          <p:cNvSpPr/>
          <p:nvPr/>
        </p:nvSpPr>
        <p:spPr>
          <a:xfrm>
            <a:off x="8476594" y="3689131"/>
            <a:ext cx="2716924" cy="512379"/>
          </a:xfrm>
          <a:prstGeom prst="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dirty="0" smtClean="0"/>
              <a:t>Ng g c </a:t>
            </a:r>
            <a:r>
              <a:rPr lang="en-US" dirty="0" err="1" smtClean="0"/>
              <a:t>compname</a:t>
            </a:r>
            <a:endParaRPr lang="en-US" dirty="0"/>
          </a:p>
        </p:txBody>
      </p:sp>
      <p:sp>
        <p:nvSpPr>
          <p:cNvPr id="6" name="Rectangle 5"/>
          <p:cNvSpPr/>
          <p:nvPr/>
        </p:nvSpPr>
        <p:spPr>
          <a:xfrm>
            <a:off x="2006161" y="4052614"/>
            <a:ext cx="2711669" cy="528144"/>
          </a:xfrm>
          <a:prstGeom prst="rect">
            <a:avLst/>
          </a:prstGeom>
          <a:noFill/>
          <a:ln w="38100">
            <a:solidFill>
              <a:schemeClr val="accent5">
                <a:lumMod val="60000"/>
                <a:lumOff val="40000"/>
              </a:schemeClr>
            </a:solidFill>
          </a:ln>
        </p:spPr>
        <p:style>
          <a:lnRef idx="0">
            <a:scrgbClr r="0" g="0" b="0"/>
          </a:lnRef>
          <a:fillRef idx="0">
            <a:scrgbClr r="0" g="0" b="0"/>
          </a:fillRef>
          <a:effectRef idx="0">
            <a:scrgbClr r="0" g="0" b="0"/>
          </a:effectRef>
          <a:fontRef idx="minor">
            <a:schemeClr val="accent1"/>
          </a:fontRef>
        </p:style>
        <p:txBody>
          <a:bodyPr rtlCol="0" anchor="ctr"/>
          <a:lstStyle/>
          <a:p>
            <a:pPr algn="ctr"/>
            <a:r>
              <a:rPr lang="en-US" dirty="0" smtClean="0"/>
              <a:t>What is Templates</a:t>
            </a:r>
            <a:endParaRPr lang="en-US" dirty="0"/>
          </a:p>
        </p:txBody>
      </p:sp>
      <p:sp>
        <p:nvSpPr>
          <p:cNvPr id="7" name="Rectangle 6"/>
          <p:cNvSpPr/>
          <p:nvPr/>
        </p:nvSpPr>
        <p:spPr>
          <a:xfrm>
            <a:off x="3361996" y="4737538"/>
            <a:ext cx="6546632" cy="1332186"/>
          </a:xfrm>
          <a:prstGeom prst="rect">
            <a:avLst/>
          </a:prstGeom>
          <a:noFill/>
          <a:ln w="57150">
            <a:solidFill>
              <a:schemeClr val="tx2">
                <a:lumMod val="40000"/>
                <a:lumOff val="60000"/>
              </a:schemeClr>
            </a:solidFill>
          </a:ln>
        </p:spPr>
        <p:style>
          <a:lnRef idx="0">
            <a:scrgbClr r="0" g="0" b="0"/>
          </a:lnRef>
          <a:fillRef idx="0">
            <a:scrgbClr r="0" g="0" b="0"/>
          </a:fillRef>
          <a:effectRef idx="0">
            <a:scrgbClr r="0" g="0" b="0"/>
          </a:effectRef>
          <a:fontRef idx="minor">
            <a:schemeClr val="accent4"/>
          </a:fontRef>
        </p:style>
        <p:txBody>
          <a:bodyPr rtlCol="0" anchor="ctr"/>
          <a:lstStyle/>
          <a:p>
            <a:pPr algn="ctr"/>
            <a:r>
              <a:rPr lang="en-US" dirty="0"/>
              <a:t>The integral part of Angular component is </a:t>
            </a:r>
            <a:r>
              <a:rPr lang="en-US" b="1" dirty="0"/>
              <a:t>Template</a:t>
            </a:r>
            <a:r>
              <a:rPr lang="en-US" dirty="0"/>
              <a:t>. It is used to generate the HTML content. </a:t>
            </a:r>
            <a:r>
              <a:rPr lang="en-US" b="1" dirty="0"/>
              <a:t>Templates</a:t>
            </a:r>
            <a:r>
              <a:rPr lang="en-US" dirty="0"/>
              <a:t> are plain HTML with additional functionality</a:t>
            </a:r>
            <a:r>
              <a:rPr lang="en-US" dirty="0" smtClean="0"/>
              <a:t>.</a:t>
            </a:r>
          </a:p>
          <a:p>
            <a:pPr algn="ctr"/>
            <a:r>
              <a:rPr lang="en-US" dirty="0" smtClean="0"/>
              <a:t>Template url:’/app.ocomponent,html’,</a:t>
            </a:r>
          </a:p>
          <a:p>
            <a:pPr algn="ctr"/>
            <a:endParaRPr lang="en-US" dirty="0"/>
          </a:p>
        </p:txBody>
      </p:sp>
      <p:sp>
        <p:nvSpPr>
          <p:cNvPr id="9" name="Rectangle 1"/>
          <p:cNvSpPr>
            <a:spLocks noChangeArrowheads="1"/>
          </p:cNvSpPr>
          <p:nvPr/>
        </p:nvSpPr>
        <p:spPr bwMode="auto">
          <a:xfrm>
            <a:off x="0" y="120878"/>
            <a:ext cx="213520"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smtClean="0">
                <a:ln>
                  <a:noFill/>
                </a:ln>
                <a:solidFill>
                  <a:schemeClr val="tx1"/>
                </a:solidFill>
                <a:effectLst/>
              </a:rPr>
              <a:t>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73253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circle(in)">
                                      <p:cBhvr>
                                        <p:cTn id="13" dur="20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barn(inVertical)">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heel(1)">
                                      <p:cBhvr>
                                        <p:cTn id="23" dur="20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wipe(down)">
                                      <p:cBhvr>
                                        <p:cTn id="28" dur="500"/>
                                        <p:tgtEl>
                                          <p:spTgt spid="6"/>
                                        </p:tgtEl>
                                      </p:cBhvr>
                                    </p:animEffect>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randombar(horizontal)">
                                      <p:cBhvr>
                                        <p:cTn id="3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P spid="5" grpId="0" animBg="1"/>
      <p:bldP spid="6"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data binding</a:t>
            </a:r>
            <a:endParaRPr lang="en-US" dirty="0"/>
          </a:p>
        </p:txBody>
      </p:sp>
      <p:sp>
        <p:nvSpPr>
          <p:cNvPr id="9" name="Rectangle 8"/>
          <p:cNvSpPr/>
          <p:nvPr/>
        </p:nvSpPr>
        <p:spPr>
          <a:xfrm>
            <a:off x="346842" y="1757855"/>
            <a:ext cx="5612524" cy="1742090"/>
          </a:xfrm>
          <a:prstGeom prst="rect">
            <a:avLst/>
          </a:prstGeom>
          <a:noFill/>
          <a:ln w="57150">
            <a:solidFill>
              <a:schemeClr val="accent3">
                <a:lumMod val="40000"/>
                <a:lumOff val="60000"/>
              </a:schemeClr>
            </a:solidFill>
          </a:ln>
        </p:spPr>
        <p:style>
          <a:lnRef idx="0">
            <a:scrgbClr r="0" g="0" b="0"/>
          </a:lnRef>
          <a:fillRef idx="0">
            <a:scrgbClr r="0" g="0" b="0"/>
          </a:fillRef>
          <a:effectRef idx="0">
            <a:scrgbClr r="0" g="0" b="0"/>
          </a:effectRef>
          <a:fontRef idx="minor">
            <a:schemeClr val="accent6"/>
          </a:fontRef>
        </p:style>
        <p:txBody>
          <a:bodyPr rtlCol="0" anchor="ctr"/>
          <a:lstStyle/>
          <a:p>
            <a:pPr algn="ctr"/>
            <a:r>
              <a:rPr lang="en-US" dirty="0"/>
              <a:t>Data binding deals with how to bind your data from component to HTML DOM elements (Templates). We can easily interact with application without worrying about how to insert your data. We can make connections in two different ways one way and two-way binding</a:t>
            </a:r>
          </a:p>
        </p:txBody>
      </p:sp>
      <p:sp>
        <p:nvSpPr>
          <p:cNvPr id="10" name="Oval 9"/>
          <p:cNvSpPr/>
          <p:nvPr/>
        </p:nvSpPr>
        <p:spPr>
          <a:xfrm>
            <a:off x="7723790" y="1876097"/>
            <a:ext cx="2017986" cy="1032642"/>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smtClean="0"/>
              <a:t>Data Binding</a:t>
            </a:r>
            <a:endParaRPr lang="en-US" dirty="0"/>
          </a:p>
        </p:txBody>
      </p:sp>
      <p:sp>
        <p:nvSpPr>
          <p:cNvPr id="11" name="Oval 10"/>
          <p:cNvSpPr/>
          <p:nvPr/>
        </p:nvSpPr>
        <p:spPr>
          <a:xfrm>
            <a:off x="6290443" y="3129455"/>
            <a:ext cx="1326931" cy="63062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smtClean="0"/>
              <a:t>One way</a:t>
            </a:r>
            <a:endParaRPr lang="en-US" dirty="0"/>
          </a:p>
        </p:txBody>
      </p:sp>
      <p:sp>
        <p:nvSpPr>
          <p:cNvPr id="12" name="Oval 11"/>
          <p:cNvSpPr/>
          <p:nvPr/>
        </p:nvSpPr>
        <p:spPr>
          <a:xfrm>
            <a:off x="7798677" y="3132338"/>
            <a:ext cx="1326931" cy="627737"/>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err="1" smtClean="0"/>
              <a:t>twoway</a:t>
            </a:r>
            <a:endParaRPr lang="en-US" dirty="0"/>
          </a:p>
        </p:txBody>
      </p:sp>
      <p:sp>
        <p:nvSpPr>
          <p:cNvPr id="13" name="Oval 12"/>
          <p:cNvSpPr/>
          <p:nvPr/>
        </p:nvSpPr>
        <p:spPr>
          <a:xfrm>
            <a:off x="9306911" y="3164927"/>
            <a:ext cx="1326931" cy="559676"/>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Property</a:t>
            </a:r>
          </a:p>
        </p:txBody>
      </p:sp>
      <p:sp>
        <p:nvSpPr>
          <p:cNvPr id="14" name="Oval 13"/>
          <p:cNvSpPr/>
          <p:nvPr/>
        </p:nvSpPr>
        <p:spPr>
          <a:xfrm>
            <a:off x="10736318" y="3169125"/>
            <a:ext cx="1340068" cy="559676"/>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smtClean="0"/>
              <a:t>event</a:t>
            </a:r>
            <a:endParaRPr lang="en-US" dirty="0"/>
          </a:p>
        </p:txBody>
      </p:sp>
      <p:sp>
        <p:nvSpPr>
          <p:cNvPr id="15" name="Down Arrow 14"/>
          <p:cNvSpPr/>
          <p:nvPr/>
        </p:nvSpPr>
        <p:spPr>
          <a:xfrm rot="3207511">
            <a:off x="7267903" y="2583181"/>
            <a:ext cx="349471" cy="38861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own Arrow 15"/>
          <p:cNvSpPr/>
          <p:nvPr/>
        </p:nvSpPr>
        <p:spPr>
          <a:xfrm rot="20748536">
            <a:off x="7932410" y="2843684"/>
            <a:ext cx="275153" cy="29197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Down Arrow 16"/>
          <p:cNvSpPr/>
          <p:nvPr/>
        </p:nvSpPr>
        <p:spPr>
          <a:xfrm rot="19507213">
            <a:off x="9183126" y="2898347"/>
            <a:ext cx="349471" cy="38861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Down Arrow 17"/>
          <p:cNvSpPr/>
          <p:nvPr/>
        </p:nvSpPr>
        <p:spPr>
          <a:xfrm rot="17408394">
            <a:off x="9731418" y="2509643"/>
            <a:ext cx="349471" cy="38861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130899" y="3654594"/>
            <a:ext cx="2013693" cy="369332"/>
          </a:xfrm>
          <a:prstGeom prst="rect">
            <a:avLst/>
          </a:prstGeom>
        </p:spPr>
        <p:txBody>
          <a:bodyPr wrap="none">
            <a:spAutoFit/>
          </a:bodyPr>
          <a:lstStyle/>
          <a:p>
            <a:r>
              <a:rPr lang="en-US" dirty="0"/>
              <a:t>&lt;p&gt;{{ title }}&lt;/p&gt;</a:t>
            </a:r>
          </a:p>
        </p:txBody>
      </p:sp>
      <p:sp>
        <p:nvSpPr>
          <p:cNvPr id="21" name="Rectangle 20"/>
          <p:cNvSpPr/>
          <p:nvPr/>
        </p:nvSpPr>
        <p:spPr>
          <a:xfrm>
            <a:off x="3540583" y="4882458"/>
            <a:ext cx="2693366" cy="369332"/>
          </a:xfrm>
          <a:prstGeom prst="rect">
            <a:avLst/>
          </a:prstGeom>
        </p:spPr>
        <p:txBody>
          <a:bodyPr wrap="none">
            <a:spAutoFit/>
          </a:bodyPr>
          <a:lstStyle/>
          <a:p>
            <a:r>
              <a:rPr lang="en-US" dirty="0"/>
              <a:t>&lt;</a:t>
            </a:r>
            <a:r>
              <a:rPr lang="en-US" dirty="0" err="1"/>
              <a:t>img</a:t>
            </a:r>
            <a:r>
              <a:rPr lang="en-US" dirty="0"/>
              <a:t> [</a:t>
            </a:r>
            <a:r>
              <a:rPr lang="en-US" dirty="0" err="1"/>
              <a:t>src</a:t>
            </a:r>
            <a:r>
              <a:rPr lang="en-US" dirty="0"/>
              <a:t>]="</a:t>
            </a:r>
            <a:r>
              <a:rPr lang="en-US" dirty="0" err="1"/>
              <a:t>imageUrl</a:t>
            </a:r>
            <a:r>
              <a:rPr lang="en-US" dirty="0"/>
              <a:t>"&gt;</a:t>
            </a:r>
          </a:p>
        </p:txBody>
      </p:sp>
      <p:sp>
        <p:nvSpPr>
          <p:cNvPr id="22" name="Rectangle 21"/>
          <p:cNvSpPr/>
          <p:nvPr/>
        </p:nvSpPr>
        <p:spPr>
          <a:xfrm>
            <a:off x="5566787" y="5478379"/>
            <a:ext cx="5344733" cy="369332"/>
          </a:xfrm>
          <a:prstGeom prst="rect">
            <a:avLst/>
          </a:prstGeom>
        </p:spPr>
        <p:txBody>
          <a:bodyPr wrap="none">
            <a:spAutoFit/>
          </a:bodyPr>
          <a:lstStyle/>
          <a:p>
            <a:r>
              <a:rPr lang="en-US" dirty="0" smtClean="0"/>
              <a:t>&lt;button (click)="</a:t>
            </a:r>
            <a:r>
              <a:rPr lang="en-US" dirty="0" err="1" smtClean="0"/>
              <a:t>onClick</a:t>
            </a:r>
            <a:r>
              <a:rPr lang="en-US" dirty="0" smtClean="0"/>
              <a:t>()"&gt;Click me&lt;/button&gt;</a:t>
            </a:r>
            <a:endParaRPr lang="en-US" dirty="0"/>
          </a:p>
        </p:txBody>
      </p:sp>
      <p:sp>
        <p:nvSpPr>
          <p:cNvPr id="23" name="Rectangle 22"/>
          <p:cNvSpPr/>
          <p:nvPr/>
        </p:nvSpPr>
        <p:spPr>
          <a:xfrm>
            <a:off x="1846048" y="4310440"/>
            <a:ext cx="3389069" cy="369332"/>
          </a:xfrm>
          <a:prstGeom prst="rect">
            <a:avLst/>
          </a:prstGeom>
        </p:spPr>
        <p:txBody>
          <a:bodyPr wrap="none">
            <a:spAutoFit/>
          </a:bodyPr>
          <a:lstStyle/>
          <a:p>
            <a:r>
              <a:rPr lang="en-US" dirty="0"/>
              <a:t>&lt;input [(</a:t>
            </a:r>
            <a:r>
              <a:rPr lang="en-US" dirty="0" err="1"/>
              <a:t>ngModel</a:t>
            </a:r>
            <a:r>
              <a:rPr lang="en-US" dirty="0"/>
              <a:t>)]="name"&gt;</a:t>
            </a:r>
          </a:p>
        </p:txBody>
      </p:sp>
      <p:cxnSp>
        <p:nvCxnSpPr>
          <p:cNvPr id="27" name="Straight Arrow Connector 26"/>
          <p:cNvCxnSpPr>
            <a:endCxn id="20" idx="3"/>
          </p:cNvCxnSpPr>
          <p:nvPr/>
        </p:nvCxnSpPr>
        <p:spPr>
          <a:xfrm flipH="1">
            <a:off x="2144592" y="3461464"/>
            <a:ext cx="4145851" cy="3777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endCxn id="23" idx="3"/>
          </p:cNvCxnSpPr>
          <p:nvPr/>
        </p:nvCxnSpPr>
        <p:spPr>
          <a:xfrm flipH="1">
            <a:off x="5235117" y="3760075"/>
            <a:ext cx="3093543" cy="7350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3" idx="4"/>
            <a:endCxn id="21" idx="3"/>
          </p:cNvCxnSpPr>
          <p:nvPr/>
        </p:nvCxnSpPr>
        <p:spPr>
          <a:xfrm flipH="1">
            <a:off x="6233949" y="3724603"/>
            <a:ext cx="3736428" cy="13425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14" idx="4"/>
          </p:cNvCxnSpPr>
          <p:nvPr/>
        </p:nvCxnSpPr>
        <p:spPr>
          <a:xfrm flipH="1">
            <a:off x="10043160" y="3728801"/>
            <a:ext cx="1363192" cy="17495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3451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randombar(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randombar(horizont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randombar(horizontal)">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randombar(horizontal)">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randombar(horizontal)">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randombar(horizontal)">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randombar(horizontal)">
                                      <p:cBhvr>
                                        <p:cTn id="42" dur="5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randombar(horizontal)">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14" presetClass="entr" presetSubtype="10"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randombar(horizontal)">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14" presetClass="entr" presetSubtype="10"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randombar(horizontal)">
                                      <p:cBhvr>
                                        <p:cTn id="57" dur="500"/>
                                        <p:tgtEl>
                                          <p:spTgt spid="14"/>
                                        </p:tgtEl>
                                      </p:cBhvr>
                                    </p:animEffect>
                                  </p:childTnLst>
                                </p:cTn>
                              </p:par>
                            </p:childTnLst>
                          </p:cTn>
                        </p:par>
                      </p:childTnLst>
                    </p:cTn>
                  </p:par>
                  <p:par>
                    <p:cTn id="58" fill="hold">
                      <p:stCondLst>
                        <p:cond delay="indefinite"/>
                      </p:stCondLst>
                      <p:childTnLst>
                        <p:par>
                          <p:cTn id="59" fill="hold">
                            <p:stCondLst>
                              <p:cond delay="0"/>
                            </p:stCondLst>
                            <p:childTnLst>
                              <p:par>
                                <p:cTn id="60" presetID="16" presetClass="entr" presetSubtype="21" fill="hold" grpId="0" nodeType="click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barn(inVertical)">
                                      <p:cBhvr>
                                        <p:cTn id="62" dur="500"/>
                                        <p:tgtEl>
                                          <p:spTgt spid="20"/>
                                        </p:tgtEl>
                                      </p:cBhvr>
                                    </p:animEffect>
                                  </p:childTnLst>
                                </p:cTn>
                              </p:par>
                            </p:childTnLst>
                          </p:cTn>
                        </p:par>
                      </p:childTnLst>
                    </p:cTn>
                  </p:par>
                  <p:par>
                    <p:cTn id="63" fill="hold">
                      <p:stCondLst>
                        <p:cond delay="indefinite"/>
                      </p:stCondLst>
                      <p:childTnLst>
                        <p:par>
                          <p:cTn id="64" fill="hold">
                            <p:stCondLst>
                              <p:cond delay="0"/>
                            </p:stCondLst>
                            <p:childTnLst>
                              <p:par>
                                <p:cTn id="65" presetID="16" presetClass="entr" presetSubtype="21" fill="hold" grpId="0" nodeType="click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barn(inVertical)">
                                      <p:cBhvr>
                                        <p:cTn id="67" dur="500"/>
                                        <p:tgtEl>
                                          <p:spTgt spid="23"/>
                                        </p:tgtEl>
                                      </p:cBhvr>
                                    </p:animEffect>
                                  </p:childTnLst>
                                </p:cTn>
                              </p:par>
                            </p:childTnLst>
                          </p:cTn>
                        </p:par>
                      </p:childTnLst>
                    </p:cTn>
                  </p:par>
                  <p:par>
                    <p:cTn id="68" fill="hold">
                      <p:stCondLst>
                        <p:cond delay="indefinite"/>
                      </p:stCondLst>
                      <p:childTnLst>
                        <p:par>
                          <p:cTn id="69" fill="hold">
                            <p:stCondLst>
                              <p:cond delay="0"/>
                            </p:stCondLst>
                            <p:childTnLst>
                              <p:par>
                                <p:cTn id="70" presetID="16" presetClass="entr" presetSubtype="21" fill="hold" grpId="0" nodeType="clickEffect">
                                  <p:stCondLst>
                                    <p:cond delay="0"/>
                                  </p:stCondLst>
                                  <p:childTnLst>
                                    <p:set>
                                      <p:cBhvr>
                                        <p:cTn id="71" dur="1" fill="hold">
                                          <p:stCondLst>
                                            <p:cond delay="0"/>
                                          </p:stCondLst>
                                        </p:cTn>
                                        <p:tgtEl>
                                          <p:spTgt spid="21"/>
                                        </p:tgtEl>
                                        <p:attrNameLst>
                                          <p:attrName>style.visibility</p:attrName>
                                        </p:attrNameLst>
                                      </p:cBhvr>
                                      <p:to>
                                        <p:strVal val="visible"/>
                                      </p:to>
                                    </p:set>
                                    <p:animEffect transition="in" filter="barn(inVertical)">
                                      <p:cBhvr>
                                        <p:cTn id="72" dur="500"/>
                                        <p:tgtEl>
                                          <p:spTgt spid="21"/>
                                        </p:tgtEl>
                                      </p:cBhvr>
                                    </p:animEffect>
                                  </p:childTnLst>
                                </p:cTn>
                              </p:par>
                            </p:childTnLst>
                          </p:cTn>
                        </p:par>
                      </p:childTnLst>
                    </p:cTn>
                  </p:par>
                  <p:par>
                    <p:cTn id="73" fill="hold">
                      <p:stCondLst>
                        <p:cond delay="indefinite"/>
                      </p:stCondLst>
                      <p:childTnLst>
                        <p:par>
                          <p:cTn id="74" fill="hold">
                            <p:stCondLst>
                              <p:cond delay="0"/>
                            </p:stCondLst>
                            <p:childTnLst>
                              <p:par>
                                <p:cTn id="75" presetID="16" presetClass="entr" presetSubtype="21" fill="hold" grpId="0" nodeType="clickEffect">
                                  <p:stCondLst>
                                    <p:cond delay="0"/>
                                  </p:stCondLst>
                                  <p:childTnLst>
                                    <p:set>
                                      <p:cBhvr>
                                        <p:cTn id="76" dur="1" fill="hold">
                                          <p:stCondLst>
                                            <p:cond delay="0"/>
                                          </p:stCondLst>
                                        </p:cTn>
                                        <p:tgtEl>
                                          <p:spTgt spid="22"/>
                                        </p:tgtEl>
                                        <p:attrNameLst>
                                          <p:attrName>style.visibility</p:attrName>
                                        </p:attrNameLst>
                                      </p:cBhvr>
                                      <p:to>
                                        <p:strVal val="visible"/>
                                      </p:to>
                                    </p:set>
                                    <p:animEffect transition="in" filter="barn(inVertical)">
                                      <p:cBhvr>
                                        <p:cTn id="77" dur="500"/>
                                        <p:tgtEl>
                                          <p:spTgt spid="22"/>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27"/>
                                        </p:tgtEl>
                                        <p:attrNameLst>
                                          <p:attrName>style.visibility</p:attrName>
                                        </p:attrNameLst>
                                      </p:cBhvr>
                                      <p:to>
                                        <p:strVal val="visible"/>
                                      </p:to>
                                    </p:set>
                                    <p:animEffect transition="in" filter="fade">
                                      <p:cBhvr>
                                        <p:cTn id="82" dur="500"/>
                                        <p:tgtEl>
                                          <p:spTgt spid="27"/>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500"/>
                                        <p:tgtEl>
                                          <p:spTgt spid="30"/>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32"/>
                                        </p:tgtEl>
                                        <p:attrNameLst>
                                          <p:attrName>style.visibility</p:attrName>
                                        </p:attrNameLst>
                                      </p:cBhvr>
                                      <p:to>
                                        <p:strVal val="visible"/>
                                      </p:to>
                                    </p:set>
                                    <p:animEffect transition="in" filter="fade">
                                      <p:cBhvr>
                                        <p:cTn id="92" dur="500"/>
                                        <p:tgtEl>
                                          <p:spTgt spid="32"/>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20" grpId="0"/>
      <p:bldP spid="21" grpId="0"/>
      <p:bldP spid="22" grpId="0"/>
      <p:bldP spid="2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Directive</a:t>
            </a:r>
          </a:p>
        </p:txBody>
      </p:sp>
      <p:sp>
        <p:nvSpPr>
          <p:cNvPr id="3" name="Rectangle 2"/>
          <p:cNvSpPr/>
          <p:nvPr/>
        </p:nvSpPr>
        <p:spPr>
          <a:xfrm>
            <a:off x="365760" y="1758143"/>
            <a:ext cx="11430000" cy="118456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D</a:t>
            </a:r>
            <a:r>
              <a:rPr lang="en-US" dirty="0" smtClean="0"/>
              <a:t>irectives </a:t>
            </a:r>
            <a:r>
              <a:rPr lang="en-US" dirty="0"/>
              <a:t>are DOM elements to interact with your application. Generally, directive is a </a:t>
            </a:r>
            <a:r>
              <a:rPr lang="en-US" b="1" dirty="0" err="1"/>
              <a:t>TypeScript</a:t>
            </a:r>
            <a:r>
              <a:rPr lang="en-US" dirty="0"/>
              <a:t> function. When this function executes </a:t>
            </a:r>
            <a:r>
              <a:rPr lang="en-US" b="1" dirty="0"/>
              <a:t>Angular</a:t>
            </a:r>
            <a:r>
              <a:rPr lang="en-US" dirty="0"/>
              <a:t> compiler checked it inside DOM element. Angular directives begin with </a:t>
            </a:r>
            <a:r>
              <a:rPr lang="en-US" b="1" dirty="0"/>
              <a:t>ng-</a:t>
            </a:r>
            <a:r>
              <a:rPr lang="en-US" dirty="0"/>
              <a:t> where </a:t>
            </a:r>
            <a:r>
              <a:rPr lang="en-US" b="1" dirty="0"/>
              <a:t>ng</a:t>
            </a:r>
            <a:r>
              <a:rPr lang="en-US" dirty="0"/>
              <a:t> stands for Angular and extends HTML tags with </a:t>
            </a:r>
            <a:r>
              <a:rPr lang="en-US" b="1" dirty="0"/>
              <a:t>@directive</a:t>
            </a:r>
            <a:r>
              <a:rPr lang="en-US" dirty="0"/>
              <a:t> decorator.</a:t>
            </a:r>
          </a:p>
        </p:txBody>
      </p:sp>
      <p:sp>
        <p:nvSpPr>
          <p:cNvPr id="4" name="Rounded Rectangle 3"/>
          <p:cNvSpPr/>
          <p:nvPr/>
        </p:nvSpPr>
        <p:spPr>
          <a:xfrm>
            <a:off x="4879571" y="3017520"/>
            <a:ext cx="2177934" cy="6317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Directive</a:t>
            </a:r>
            <a:endParaRPr lang="en-US" dirty="0"/>
          </a:p>
        </p:txBody>
      </p:sp>
      <p:sp>
        <p:nvSpPr>
          <p:cNvPr id="5" name="Rounded Rectangle 4"/>
          <p:cNvSpPr/>
          <p:nvPr/>
        </p:nvSpPr>
        <p:spPr>
          <a:xfrm>
            <a:off x="827116" y="3595091"/>
            <a:ext cx="2626822" cy="5432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Component </a:t>
            </a:r>
            <a:r>
              <a:rPr lang="en-US" dirty="0"/>
              <a:t>Directives</a:t>
            </a:r>
          </a:p>
        </p:txBody>
      </p:sp>
      <p:sp>
        <p:nvSpPr>
          <p:cNvPr id="6" name="Rounded Rectangle 5"/>
          <p:cNvSpPr/>
          <p:nvPr/>
        </p:nvSpPr>
        <p:spPr>
          <a:xfrm>
            <a:off x="4655127" y="3866712"/>
            <a:ext cx="2626822" cy="4443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Structural </a:t>
            </a:r>
            <a:r>
              <a:rPr lang="en-US" dirty="0" smtClean="0"/>
              <a:t>Directives</a:t>
            </a:r>
            <a:endParaRPr lang="en-US" dirty="0"/>
          </a:p>
        </p:txBody>
      </p:sp>
      <p:sp>
        <p:nvSpPr>
          <p:cNvPr id="7" name="Rounded Rectangle 6"/>
          <p:cNvSpPr/>
          <p:nvPr/>
        </p:nvSpPr>
        <p:spPr>
          <a:xfrm>
            <a:off x="8567651" y="3866712"/>
            <a:ext cx="2626822" cy="4443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Attribute Directives</a:t>
            </a:r>
          </a:p>
        </p:txBody>
      </p:sp>
      <p:cxnSp>
        <p:nvCxnSpPr>
          <p:cNvPr id="9" name="Straight Arrow Connector 8"/>
          <p:cNvCxnSpPr>
            <a:stCxn id="4" idx="1"/>
            <a:endCxn id="5" idx="3"/>
          </p:cNvCxnSpPr>
          <p:nvPr/>
        </p:nvCxnSpPr>
        <p:spPr>
          <a:xfrm flipH="1">
            <a:off x="3453938" y="3333404"/>
            <a:ext cx="1425633" cy="5333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4" idx="2"/>
            <a:endCxn id="6" idx="0"/>
          </p:cNvCxnSpPr>
          <p:nvPr/>
        </p:nvCxnSpPr>
        <p:spPr>
          <a:xfrm>
            <a:off x="5968538" y="3649287"/>
            <a:ext cx="0" cy="2174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4" idx="3"/>
            <a:endCxn id="7" idx="1"/>
          </p:cNvCxnSpPr>
          <p:nvPr/>
        </p:nvCxnSpPr>
        <p:spPr>
          <a:xfrm>
            <a:off x="7057505" y="3333404"/>
            <a:ext cx="1510146" cy="7554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4655127" y="4718160"/>
            <a:ext cx="1088967" cy="3478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if</a:t>
            </a:r>
            <a:endParaRPr lang="en-US" dirty="0"/>
          </a:p>
        </p:txBody>
      </p:sp>
      <p:sp>
        <p:nvSpPr>
          <p:cNvPr id="13" name="Rectangle 12"/>
          <p:cNvSpPr/>
          <p:nvPr/>
        </p:nvSpPr>
        <p:spPr>
          <a:xfrm>
            <a:off x="6192982" y="4718159"/>
            <a:ext cx="1088967" cy="3478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for</a:t>
            </a:r>
            <a:endParaRPr lang="en-US" dirty="0"/>
          </a:p>
        </p:txBody>
      </p:sp>
      <p:sp>
        <p:nvSpPr>
          <p:cNvPr id="15" name="Rectangle 14"/>
          <p:cNvSpPr/>
          <p:nvPr/>
        </p:nvSpPr>
        <p:spPr>
          <a:xfrm>
            <a:off x="6111933" y="5793234"/>
            <a:ext cx="1088967" cy="3478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ifelse</a:t>
            </a:r>
            <a:endParaRPr lang="en-US" dirty="0"/>
          </a:p>
        </p:txBody>
      </p:sp>
      <p:sp>
        <p:nvSpPr>
          <p:cNvPr id="16" name="Rectangle 15"/>
          <p:cNvSpPr/>
          <p:nvPr/>
        </p:nvSpPr>
        <p:spPr>
          <a:xfrm>
            <a:off x="4655127" y="5793233"/>
            <a:ext cx="1088967" cy="3478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switch</a:t>
            </a:r>
            <a:endParaRPr lang="en-US" dirty="0"/>
          </a:p>
        </p:txBody>
      </p:sp>
      <p:sp>
        <p:nvSpPr>
          <p:cNvPr id="19" name="Rectangle 18"/>
          <p:cNvSpPr/>
          <p:nvPr/>
        </p:nvSpPr>
        <p:spPr>
          <a:xfrm>
            <a:off x="9254897" y="4551361"/>
            <a:ext cx="1252330" cy="4174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Ng style</a:t>
            </a:r>
            <a:endParaRPr lang="en-US" dirty="0"/>
          </a:p>
        </p:txBody>
      </p:sp>
      <p:sp>
        <p:nvSpPr>
          <p:cNvPr id="20" name="Rectangle 19"/>
          <p:cNvSpPr/>
          <p:nvPr/>
        </p:nvSpPr>
        <p:spPr>
          <a:xfrm>
            <a:off x="8147974" y="5209123"/>
            <a:ext cx="3466175" cy="12221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&lt;p [</a:t>
            </a:r>
            <a:r>
              <a:rPr lang="en-US" dirty="0" err="1" smtClean="0"/>
              <a:t>ngstyle</a:t>
            </a:r>
            <a:r>
              <a:rPr lang="en-US" dirty="0" smtClean="0"/>
              <a:t>]=“{‘color’:’blue’,’font-size:’14px’}”&gt;</a:t>
            </a:r>
            <a:endParaRPr lang="en-US" dirty="0"/>
          </a:p>
        </p:txBody>
      </p:sp>
      <p:cxnSp>
        <p:nvCxnSpPr>
          <p:cNvPr id="30" name="Straight Arrow Connector 29"/>
          <p:cNvCxnSpPr>
            <a:stCxn id="6" idx="2"/>
            <a:endCxn id="10" idx="3"/>
          </p:cNvCxnSpPr>
          <p:nvPr/>
        </p:nvCxnSpPr>
        <p:spPr>
          <a:xfrm flipH="1">
            <a:off x="5744094" y="4311042"/>
            <a:ext cx="224444" cy="5810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6" idx="2"/>
            <a:endCxn id="13" idx="1"/>
          </p:cNvCxnSpPr>
          <p:nvPr/>
        </p:nvCxnSpPr>
        <p:spPr>
          <a:xfrm>
            <a:off x="5968538" y="4311042"/>
            <a:ext cx="224444" cy="5810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6" idx="2"/>
            <a:endCxn id="16" idx="3"/>
          </p:cNvCxnSpPr>
          <p:nvPr/>
        </p:nvCxnSpPr>
        <p:spPr>
          <a:xfrm flipH="1">
            <a:off x="5744094" y="4311042"/>
            <a:ext cx="224444" cy="16561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6" idx="2"/>
            <a:endCxn id="15" idx="1"/>
          </p:cNvCxnSpPr>
          <p:nvPr/>
        </p:nvCxnSpPr>
        <p:spPr>
          <a:xfrm>
            <a:off x="5968538" y="4311042"/>
            <a:ext cx="143395" cy="16561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7" idx="2"/>
            <a:endCxn id="19" idx="0"/>
          </p:cNvCxnSpPr>
          <p:nvPr/>
        </p:nvCxnSpPr>
        <p:spPr>
          <a:xfrm>
            <a:off x="9881062" y="4311042"/>
            <a:ext cx="0" cy="2403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9" idx="2"/>
            <a:endCxn id="20" idx="0"/>
          </p:cNvCxnSpPr>
          <p:nvPr/>
        </p:nvCxnSpPr>
        <p:spPr>
          <a:xfrm>
            <a:off x="9881062" y="4968804"/>
            <a:ext cx="0" cy="2403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Rectangle 43"/>
          <p:cNvSpPr/>
          <p:nvPr/>
        </p:nvSpPr>
        <p:spPr>
          <a:xfrm>
            <a:off x="530167" y="4551361"/>
            <a:ext cx="3220720" cy="18799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Components are directives that include a template that is rendered in the place of the component.</a:t>
            </a:r>
          </a:p>
        </p:txBody>
      </p:sp>
      <p:cxnSp>
        <p:nvCxnSpPr>
          <p:cNvPr id="46" name="Straight Arrow Connector 45"/>
          <p:cNvCxnSpPr>
            <a:stCxn id="5" idx="2"/>
            <a:endCxn id="44" idx="0"/>
          </p:cNvCxnSpPr>
          <p:nvPr/>
        </p:nvCxnSpPr>
        <p:spPr>
          <a:xfrm>
            <a:off x="2140527" y="4138333"/>
            <a:ext cx="0" cy="4130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264200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2-Angular-Directives-2-638.jpg"/>
          <p:cNvPicPr>
            <a:picLocks noChangeAspect="1"/>
          </p:cNvPicPr>
          <p:nvPr/>
        </p:nvPicPr>
        <p:blipFill>
          <a:blip r:embed="rId2"/>
          <a:stretch>
            <a:fillRect/>
          </a:stretch>
        </p:blipFill>
        <p:spPr>
          <a:xfrm>
            <a:off x="1598814" y="0"/>
            <a:ext cx="9144000" cy="6858000"/>
          </a:xfrm>
          <a:prstGeom prst="rect">
            <a:avLst/>
          </a:prstGeom>
        </p:spPr>
      </p:pic>
    </p:spTree>
    <p:extLst>
      <p:ext uri="{BB962C8B-B14F-4D97-AF65-F5344CB8AC3E}">
        <p14:creationId xmlns:p14="http://schemas.microsoft.com/office/powerpoint/2010/main" val="34082339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3-Angular-Directives-3-638.jpg"/>
          <p:cNvPicPr>
            <a:picLocks noChangeAspect="1"/>
          </p:cNvPicPr>
          <p:nvPr/>
        </p:nvPicPr>
        <p:blipFill>
          <a:blip r:embed="rId2"/>
          <a:stretch>
            <a:fillRect/>
          </a:stretch>
        </p:blipFill>
        <p:spPr>
          <a:xfrm>
            <a:off x="1607128" y="0"/>
            <a:ext cx="9144000" cy="6858000"/>
          </a:xfrm>
          <a:prstGeom prst="rect">
            <a:avLst/>
          </a:prstGeom>
        </p:spPr>
      </p:pic>
    </p:spTree>
    <p:extLst>
      <p:ext uri="{BB962C8B-B14F-4D97-AF65-F5344CB8AC3E}">
        <p14:creationId xmlns:p14="http://schemas.microsoft.com/office/powerpoint/2010/main" val="400881669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4-Angular-Directives-4-638.jpg"/>
          <p:cNvPicPr>
            <a:picLocks noChangeAspect="1"/>
          </p:cNvPicPr>
          <p:nvPr/>
        </p:nvPicPr>
        <p:blipFill>
          <a:blip r:embed="rId2"/>
          <a:stretch>
            <a:fillRect/>
          </a:stretch>
        </p:blipFill>
        <p:spPr>
          <a:xfrm>
            <a:off x="210590" y="1446415"/>
            <a:ext cx="9144000" cy="3715789"/>
          </a:xfrm>
          <a:prstGeom prst="rect">
            <a:avLst/>
          </a:prstGeom>
        </p:spPr>
      </p:pic>
    </p:spTree>
    <p:extLst>
      <p:ext uri="{BB962C8B-B14F-4D97-AF65-F5344CB8AC3E}">
        <p14:creationId xmlns:p14="http://schemas.microsoft.com/office/powerpoint/2010/main" val="391581050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5-Angular-Directives-5-638.jpg"/>
          <p:cNvPicPr>
            <a:picLocks noChangeAspect="1"/>
          </p:cNvPicPr>
          <p:nvPr/>
        </p:nvPicPr>
        <p:blipFill>
          <a:blip r:embed="rId2"/>
          <a:stretch>
            <a:fillRect/>
          </a:stretch>
        </p:blipFill>
        <p:spPr>
          <a:xfrm>
            <a:off x="1698567" y="0"/>
            <a:ext cx="9144000" cy="6858000"/>
          </a:xfrm>
          <a:prstGeom prst="rect">
            <a:avLst/>
          </a:prstGeom>
        </p:spPr>
      </p:pic>
    </p:spTree>
    <p:extLst>
      <p:ext uri="{BB962C8B-B14F-4D97-AF65-F5344CB8AC3E}">
        <p14:creationId xmlns:p14="http://schemas.microsoft.com/office/powerpoint/2010/main" val="175720473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6-Angular-Directives-6-638.jpg"/>
          <p:cNvPicPr>
            <a:picLocks noChangeAspect="1"/>
          </p:cNvPicPr>
          <p:nvPr/>
        </p:nvPicPr>
        <p:blipFill>
          <a:blip r:embed="rId2"/>
          <a:stretch>
            <a:fillRect/>
          </a:stretch>
        </p:blipFill>
        <p:spPr>
          <a:xfrm>
            <a:off x="1590502" y="0"/>
            <a:ext cx="9144000" cy="6858000"/>
          </a:xfrm>
          <a:prstGeom prst="rect">
            <a:avLst/>
          </a:prstGeom>
        </p:spPr>
      </p:pic>
    </p:spTree>
    <p:extLst>
      <p:ext uri="{BB962C8B-B14F-4D97-AF65-F5344CB8AC3E}">
        <p14:creationId xmlns:p14="http://schemas.microsoft.com/office/powerpoint/2010/main" val="318062916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7-Angular-Directives-7-638.jpg"/>
          <p:cNvPicPr>
            <a:picLocks noChangeAspect="1"/>
          </p:cNvPicPr>
          <p:nvPr/>
        </p:nvPicPr>
        <p:blipFill>
          <a:blip r:embed="rId2"/>
          <a:stretch>
            <a:fillRect/>
          </a:stretch>
        </p:blipFill>
        <p:spPr>
          <a:xfrm>
            <a:off x="1632066" y="0"/>
            <a:ext cx="9144000" cy="6858000"/>
          </a:xfrm>
          <a:prstGeom prst="rect">
            <a:avLst/>
          </a:prstGeom>
        </p:spPr>
      </p:pic>
    </p:spTree>
    <p:extLst>
      <p:ext uri="{BB962C8B-B14F-4D97-AF65-F5344CB8AC3E}">
        <p14:creationId xmlns:p14="http://schemas.microsoft.com/office/powerpoint/2010/main" val="277322721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8-Angular-Directives-8-638.jpg"/>
          <p:cNvPicPr>
            <a:picLocks noChangeAspect="1"/>
          </p:cNvPicPr>
          <p:nvPr/>
        </p:nvPicPr>
        <p:blipFill>
          <a:blip r:embed="rId2"/>
          <a:stretch>
            <a:fillRect/>
          </a:stretch>
        </p:blipFill>
        <p:spPr>
          <a:xfrm>
            <a:off x="1225420" y="0"/>
            <a:ext cx="9144000" cy="6671388"/>
          </a:xfrm>
          <a:prstGeom prst="rect">
            <a:avLst/>
          </a:prstGeom>
        </p:spPr>
      </p:pic>
    </p:spTree>
    <p:extLst>
      <p:ext uri="{BB962C8B-B14F-4D97-AF65-F5344CB8AC3E}">
        <p14:creationId xmlns:p14="http://schemas.microsoft.com/office/powerpoint/2010/main" val="43165028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0-Angular-Directives-10-638.jpg"/>
          <p:cNvPicPr>
            <a:picLocks noChangeAspect="1"/>
          </p:cNvPicPr>
          <p:nvPr/>
        </p:nvPicPr>
        <p:blipFill>
          <a:blip r:embed="rId2"/>
          <a:stretch>
            <a:fillRect/>
          </a:stretch>
        </p:blipFill>
        <p:spPr>
          <a:xfrm>
            <a:off x="1723505" y="0"/>
            <a:ext cx="9144000" cy="6858000"/>
          </a:xfrm>
          <a:prstGeom prst="rect">
            <a:avLst/>
          </a:prstGeom>
        </p:spPr>
      </p:pic>
    </p:spTree>
    <p:extLst>
      <p:ext uri="{BB962C8B-B14F-4D97-AF65-F5344CB8AC3E}">
        <p14:creationId xmlns:p14="http://schemas.microsoft.com/office/powerpoint/2010/main" val="72095949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9-Angular-Directives-9-638.jpg"/>
          <p:cNvPicPr>
            <a:picLocks noChangeAspect="1"/>
          </p:cNvPicPr>
          <p:nvPr/>
        </p:nvPicPr>
        <p:blipFill>
          <a:blip r:embed="rId2"/>
          <a:stretch>
            <a:fillRect/>
          </a:stretch>
        </p:blipFill>
        <p:spPr>
          <a:xfrm>
            <a:off x="1756756" y="0"/>
            <a:ext cx="9144000" cy="6858000"/>
          </a:xfrm>
          <a:prstGeom prst="rect">
            <a:avLst/>
          </a:prstGeom>
        </p:spPr>
      </p:pic>
    </p:spTree>
    <p:extLst>
      <p:ext uri="{BB962C8B-B14F-4D97-AF65-F5344CB8AC3E}">
        <p14:creationId xmlns:p14="http://schemas.microsoft.com/office/powerpoint/2010/main" val="354200826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1-Angular-Directives-11-638.jpg"/>
          <p:cNvPicPr>
            <a:picLocks noChangeAspect="1"/>
          </p:cNvPicPr>
          <p:nvPr/>
        </p:nvPicPr>
        <p:blipFill>
          <a:blip r:embed="rId2"/>
          <a:stretch>
            <a:fillRect/>
          </a:stretch>
        </p:blipFill>
        <p:spPr>
          <a:xfrm>
            <a:off x="1748444" y="0"/>
            <a:ext cx="9144000" cy="6858000"/>
          </a:xfrm>
          <a:prstGeom prst="rect">
            <a:avLst/>
          </a:prstGeom>
        </p:spPr>
      </p:pic>
    </p:spTree>
    <p:extLst>
      <p:ext uri="{BB962C8B-B14F-4D97-AF65-F5344CB8AC3E}">
        <p14:creationId xmlns:p14="http://schemas.microsoft.com/office/powerpoint/2010/main" val="152413031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2-Angular-Directives-12-638.jpg"/>
          <p:cNvPicPr>
            <a:picLocks noChangeAspect="1"/>
          </p:cNvPicPr>
          <p:nvPr/>
        </p:nvPicPr>
        <p:blipFill>
          <a:blip r:embed="rId2"/>
          <a:stretch>
            <a:fillRect/>
          </a:stretch>
        </p:blipFill>
        <p:spPr>
          <a:xfrm>
            <a:off x="2006138" y="0"/>
            <a:ext cx="9144000" cy="6858000"/>
          </a:xfrm>
          <a:prstGeom prst="rect">
            <a:avLst/>
          </a:prstGeom>
        </p:spPr>
      </p:pic>
    </p:spTree>
    <p:extLst>
      <p:ext uri="{BB962C8B-B14F-4D97-AF65-F5344CB8AC3E}">
        <p14:creationId xmlns:p14="http://schemas.microsoft.com/office/powerpoint/2010/main" val="337909800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3-Angular-Directives-13-638.jpg"/>
          <p:cNvPicPr>
            <a:picLocks noChangeAspect="1"/>
          </p:cNvPicPr>
          <p:nvPr/>
        </p:nvPicPr>
        <p:blipFill>
          <a:blip r:embed="rId2"/>
          <a:stretch>
            <a:fillRect/>
          </a:stretch>
        </p:blipFill>
        <p:spPr>
          <a:xfrm>
            <a:off x="1657004" y="0"/>
            <a:ext cx="9144000" cy="6858000"/>
          </a:xfrm>
          <a:prstGeom prst="rect">
            <a:avLst/>
          </a:prstGeom>
        </p:spPr>
      </p:pic>
    </p:spTree>
    <p:extLst>
      <p:ext uri="{BB962C8B-B14F-4D97-AF65-F5344CB8AC3E}">
        <p14:creationId xmlns:p14="http://schemas.microsoft.com/office/powerpoint/2010/main" val="103556966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4-Angular-Directives-14-638.jpg"/>
          <p:cNvPicPr>
            <a:picLocks noChangeAspect="1"/>
          </p:cNvPicPr>
          <p:nvPr/>
        </p:nvPicPr>
        <p:blipFill>
          <a:blip r:embed="rId2"/>
          <a:stretch>
            <a:fillRect/>
          </a:stretch>
        </p:blipFill>
        <p:spPr>
          <a:xfrm>
            <a:off x="1582189" y="0"/>
            <a:ext cx="9144000" cy="6858000"/>
          </a:xfrm>
          <a:prstGeom prst="rect">
            <a:avLst/>
          </a:prstGeom>
        </p:spPr>
      </p:pic>
    </p:spTree>
    <p:extLst>
      <p:ext uri="{BB962C8B-B14F-4D97-AF65-F5344CB8AC3E}">
        <p14:creationId xmlns:p14="http://schemas.microsoft.com/office/powerpoint/2010/main" val="49865882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5-Angular-Directives-15-638.jpg"/>
          <p:cNvPicPr>
            <a:picLocks noChangeAspect="1"/>
          </p:cNvPicPr>
          <p:nvPr/>
        </p:nvPicPr>
        <p:blipFill>
          <a:blip r:embed="rId2"/>
          <a:stretch>
            <a:fillRect/>
          </a:stretch>
        </p:blipFill>
        <p:spPr>
          <a:xfrm>
            <a:off x="1598814" y="0"/>
            <a:ext cx="9144000" cy="6858000"/>
          </a:xfrm>
          <a:prstGeom prst="rect">
            <a:avLst/>
          </a:prstGeom>
        </p:spPr>
      </p:pic>
    </p:spTree>
    <p:extLst>
      <p:ext uri="{BB962C8B-B14F-4D97-AF65-F5344CB8AC3E}">
        <p14:creationId xmlns:p14="http://schemas.microsoft.com/office/powerpoint/2010/main" val="168193412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6-Angular-Directives-16-638.jpg"/>
          <p:cNvPicPr>
            <a:picLocks noChangeAspect="1"/>
          </p:cNvPicPr>
          <p:nvPr/>
        </p:nvPicPr>
        <p:blipFill>
          <a:blip r:embed="rId2"/>
          <a:stretch>
            <a:fillRect/>
          </a:stretch>
        </p:blipFill>
        <p:spPr>
          <a:xfrm>
            <a:off x="1657004" y="0"/>
            <a:ext cx="9144000" cy="6858000"/>
          </a:xfrm>
          <a:prstGeom prst="rect">
            <a:avLst/>
          </a:prstGeom>
        </p:spPr>
      </p:pic>
    </p:spTree>
    <p:extLst>
      <p:ext uri="{BB962C8B-B14F-4D97-AF65-F5344CB8AC3E}">
        <p14:creationId xmlns:p14="http://schemas.microsoft.com/office/powerpoint/2010/main" val="115874110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7-Angular-Directives-17-638.jpg"/>
          <p:cNvPicPr>
            <a:picLocks noChangeAspect="1"/>
          </p:cNvPicPr>
          <p:nvPr/>
        </p:nvPicPr>
        <p:blipFill>
          <a:blip r:embed="rId2"/>
          <a:stretch>
            <a:fillRect/>
          </a:stretch>
        </p:blipFill>
        <p:spPr>
          <a:xfrm>
            <a:off x="1499062" y="0"/>
            <a:ext cx="9144000" cy="6858000"/>
          </a:xfrm>
          <a:prstGeom prst="rect">
            <a:avLst/>
          </a:prstGeom>
        </p:spPr>
      </p:pic>
    </p:spTree>
    <p:extLst>
      <p:ext uri="{BB962C8B-B14F-4D97-AF65-F5344CB8AC3E}">
        <p14:creationId xmlns:p14="http://schemas.microsoft.com/office/powerpoint/2010/main" val="131704077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8-Angular-Directives-18-638.jpg"/>
          <p:cNvPicPr>
            <a:picLocks noChangeAspect="1"/>
          </p:cNvPicPr>
          <p:nvPr/>
        </p:nvPicPr>
        <p:blipFill>
          <a:blip r:embed="rId2"/>
          <a:stretch>
            <a:fillRect/>
          </a:stretch>
        </p:blipFill>
        <p:spPr>
          <a:xfrm>
            <a:off x="1600915" y="0"/>
            <a:ext cx="9144000" cy="6858000"/>
          </a:xfrm>
          <a:prstGeom prst="rect">
            <a:avLst/>
          </a:prstGeom>
        </p:spPr>
      </p:pic>
    </p:spTree>
    <p:extLst>
      <p:ext uri="{BB962C8B-B14F-4D97-AF65-F5344CB8AC3E}">
        <p14:creationId xmlns:p14="http://schemas.microsoft.com/office/powerpoint/2010/main" val="148019089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70313"/>
          </a:xfrm>
        </p:spPr>
        <p:txBody>
          <a:bodyPr>
            <a:normAutofit/>
          </a:bodyPr>
          <a:lstStyle/>
          <a:p>
            <a:r>
              <a:rPr lang="en-US" sz="3200" b="1" dirty="0"/>
              <a:t>Angular Services and Dependency Injection</a:t>
            </a:r>
            <a:endParaRPr lang="en-US" sz="3200" dirty="0"/>
          </a:p>
        </p:txBody>
      </p:sp>
      <p:sp>
        <p:nvSpPr>
          <p:cNvPr id="3" name="Rectangle 2"/>
          <p:cNvSpPr/>
          <p:nvPr/>
        </p:nvSpPr>
        <p:spPr>
          <a:xfrm>
            <a:off x="677333" y="1379913"/>
            <a:ext cx="2232121" cy="4156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Angular Services:</a:t>
            </a:r>
          </a:p>
        </p:txBody>
      </p:sp>
      <p:sp>
        <p:nvSpPr>
          <p:cNvPr id="4" name="Rectangle 3"/>
          <p:cNvSpPr/>
          <p:nvPr/>
        </p:nvSpPr>
        <p:spPr>
          <a:xfrm>
            <a:off x="1246909" y="1936865"/>
            <a:ext cx="8636924" cy="1787237"/>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r>
              <a:rPr lang="en-US" dirty="0"/>
              <a:t>In Angular, a service is a class that provides a specific functionality or business logic to different parts of an application. Services are typically used for tasks such as:</a:t>
            </a:r>
          </a:p>
          <a:p>
            <a:r>
              <a:rPr lang="en-US" b="1" dirty="0">
                <a:solidFill>
                  <a:srgbClr val="FFFF00"/>
                </a:solidFill>
              </a:rPr>
              <a:t>Data Access</a:t>
            </a:r>
            <a:r>
              <a:rPr lang="en-US" b="1" dirty="0"/>
              <a:t>:</a:t>
            </a:r>
            <a:r>
              <a:rPr lang="en-US" dirty="0"/>
              <a:t> Fetching data from a server or interacting with APIs.</a:t>
            </a:r>
          </a:p>
          <a:p>
            <a:r>
              <a:rPr lang="en-US" b="1" dirty="0">
                <a:solidFill>
                  <a:srgbClr val="FFFF00"/>
                </a:solidFill>
              </a:rPr>
              <a:t>Business Logic</a:t>
            </a:r>
            <a:r>
              <a:rPr lang="en-US" b="1" dirty="0"/>
              <a:t>:</a:t>
            </a:r>
            <a:r>
              <a:rPr lang="en-US" dirty="0"/>
              <a:t> Performing complex computations or handling business rules.</a:t>
            </a:r>
          </a:p>
          <a:p>
            <a:r>
              <a:rPr lang="en-US" b="1" dirty="0">
                <a:solidFill>
                  <a:srgbClr val="FFFF00"/>
                </a:solidFill>
              </a:rPr>
              <a:t>State Management</a:t>
            </a:r>
            <a:r>
              <a:rPr lang="en-US" b="1" dirty="0"/>
              <a:t>:</a:t>
            </a:r>
            <a:r>
              <a:rPr lang="en-US" dirty="0"/>
              <a:t> Sharing data and state across different components.</a:t>
            </a:r>
          </a:p>
        </p:txBody>
      </p:sp>
      <p:sp>
        <p:nvSpPr>
          <p:cNvPr id="9" name="Rectangle 8"/>
          <p:cNvSpPr/>
          <p:nvPr/>
        </p:nvSpPr>
        <p:spPr>
          <a:xfrm>
            <a:off x="677333" y="4096388"/>
            <a:ext cx="2964273"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a:spAutoFit/>
          </a:bodyPr>
          <a:lstStyle/>
          <a:p>
            <a:r>
              <a:rPr lang="en-US" dirty="0"/>
              <a:t>Dependency Injection (DI):</a:t>
            </a:r>
          </a:p>
        </p:txBody>
      </p:sp>
      <p:sp>
        <p:nvSpPr>
          <p:cNvPr id="10" name="Rectangle 9"/>
          <p:cNvSpPr/>
          <p:nvPr/>
        </p:nvSpPr>
        <p:spPr>
          <a:xfrm>
            <a:off x="1246909" y="4688207"/>
            <a:ext cx="8321039" cy="147732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r>
              <a:rPr lang="en-US" b="1" dirty="0"/>
              <a:t>Definition:</a:t>
            </a:r>
            <a:r>
              <a:rPr lang="en-US" dirty="0"/>
              <a:t> Dependency Injection is a design pattern used to manage the dependencies of a class. In Angular, DI allows you to inject services or other dependencies into components or services rather than creating them directly. This helps in achieving loose coupling and improves the testability of your code.</a:t>
            </a:r>
          </a:p>
        </p:txBody>
      </p:sp>
    </p:spTree>
    <p:extLst>
      <p:ext uri="{BB962C8B-B14F-4D97-AF65-F5344CB8AC3E}">
        <p14:creationId xmlns:p14="http://schemas.microsoft.com/office/powerpoint/2010/main" val="3195672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3287837" cy="437804"/>
          </a:xfrm>
        </p:spPr>
        <p:txBody>
          <a:bodyPr>
            <a:normAutofit/>
          </a:bodyPr>
          <a:lstStyle/>
          <a:p>
            <a:r>
              <a:rPr lang="en-US" sz="1800" dirty="0"/>
              <a:t>Example of a Service:</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9092" y="1164069"/>
            <a:ext cx="9052560" cy="4968786"/>
          </a:xfrm>
          <a:prstGeom prst="rect">
            <a:avLst/>
          </a:prstGeom>
        </p:spPr>
      </p:pic>
      <p:sp>
        <p:nvSpPr>
          <p:cNvPr id="6" name="Rectangle 5"/>
          <p:cNvSpPr/>
          <p:nvPr/>
        </p:nvSpPr>
        <p:spPr>
          <a:xfrm>
            <a:off x="1313411" y="3773978"/>
            <a:ext cx="6109855" cy="548640"/>
          </a:xfrm>
          <a:prstGeom prst="rect">
            <a:avLst/>
          </a:prstGeom>
          <a:noFill/>
          <a:ln w="22225" cap="rnd"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sz="3600" dirty="0">
              <a:ln w="34925">
                <a:solidFill>
                  <a:srgbClr val="DE0030"/>
                </a:solidFill>
              </a:ln>
              <a:solidFill>
                <a:schemeClr val="tx1"/>
              </a:solidFill>
              <a:effectLst>
                <a:outerShdw blurRad="38100" dist="19050" dir="2700000" algn="tl" rotWithShape="0">
                  <a:schemeClr val="dk1">
                    <a:alpha val="40000"/>
                  </a:schemeClr>
                </a:outerShdw>
              </a:effectLst>
            </a:endParaRPr>
          </a:p>
        </p:txBody>
      </p:sp>
      <p:cxnSp>
        <p:nvCxnSpPr>
          <p:cNvPr id="8" name="Straight Arrow Connector 7"/>
          <p:cNvCxnSpPr/>
          <p:nvPr/>
        </p:nvCxnSpPr>
        <p:spPr>
          <a:xfrm>
            <a:off x="3393440" y="1838960"/>
            <a:ext cx="1928092" cy="2682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1313411" y="5039360"/>
            <a:ext cx="4528589" cy="670560"/>
          </a:xfrm>
          <a:prstGeom prst="rect">
            <a:avLst/>
          </a:prstGeom>
          <a:noFill/>
          <a:ln w="50800"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Tree>
    <p:extLst>
      <p:ext uri="{BB962C8B-B14F-4D97-AF65-F5344CB8AC3E}">
        <p14:creationId xmlns:p14="http://schemas.microsoft.com/office/powerpoint/2010/main" val="36420389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518160"/>
          </a:xfrm>
        </p:spPr>
        <p:txBody>
          <a:bodyPr>
            <a:normAutofit/>
          </a:bodyPr>
          <a:lstStyle/>
          <a:p>
            <a:r>
              <a:rPr lang="en-US" sz="2800" dirty="0"/>
              <a:t>Example of Dependency Injection:</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3628" y="1286758"/>
            <a:ext cx="7244080" cy="4900682"/>
          </a:xfrm>
          <a:prstGeom prst="rect">
            <a:avLst/>
          </a:prstGeom>
        </p:spPr>
      </p:pic>
      <p:sp>
        <p:nvSpPr>
          <p:cNvPr id="4" name="Rectangle 3"/>
          <p:cNvSpPr/>
          <p:nvPr/>
        </p:nvSpPr>
        <p:spPr>
          <a:xfrm>
            <a:off x="1595120" y="4643120"/>
            <a:ext cx="6156960" cy="1046480"/>
          </a:xfrm>
          <a:prstGeom prst="rect">
            <a:avLst/>
          </a:prstGeom>
          <a:noFill/>
          <a:ln w="38100"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
        <p:nvSpPr>
          <p:cNvPr id="5" name="Oval 4"/>
          <p:cNvSpPr/>
          <p:nvPr/>
        </p:nvSpPr>
        <p:spPr>
          <a:xfrm>
            <a:off x="2865120" y="4128522"/>
            <a:ext cx="3616960" cy="355600"/>
          </a:xfrm>
          <a:prstGeom prst="ellipse">
            <a:avLst/>
          </a:prstGeom>
          <a:noFill/>
          <a:ln w="19050"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Tree>
    <p:extLst>
      <p:ext uri="{BB962C8B-B14F-4D97-AF65-F5344CB8AC3E}">
        <p14:creationId xmlns:p14="http://schemas.microsoft.com/office/powerpoint/2010/main" val="1492278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heel(1)">
                                      <p:cBhvr>
                                        <p:cTn id="12"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21360"/>
          </a:xfrm>
        </p:spPr>
        <p:txBody>
          <a:bodyPr/>
          <a:lstStyle/>
          <a:p>
            <a:pPr algn="ctr"/>
            <a:r>
              <a:rPr lang="en-US" dirty="0" smtClean="0"/>
              <a:t>Forms</a:t>
            </a:r>
            <a:endParaRPr lang="en-US" dirty="0"/>
          </a:p>
        </p:txBody>
      </p:sp>
      <p:sp>
        <p:nvSpPr>
          <p:cNvPr id="3" name="Rectangle 2"/>
          <p:cNvSpPr/>
          <p:nvPr/>
        </p:nvSpPr>
        <p:spPr>
          <a:xfrm>
            <a:off x="496716" y="1669534"/>
            <a:ext cx="2591924" cy="369332"/>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dirty="0"/>
              <a:t>Template-Driven Forms</a:t>
            </a:r>
          </a:p>
        </p:txBody>
      </p:sp>
      <p:sp>
        <p:nvSpPr>
          <p:cNvPr id="4" name="Rectangle 1"/>
          <p:cNvSpPr>
            <a:spLocks noChangeArrowheads="1"/>
          </p:cNvSpPr>
          <p:nvPr/>
        </p:nvSpPr>
        <p:spPr bwMode="auto">
          <a:xfrm>
            <a:off x="914400" y="2169775"/>
            <a:ext cx="9418320" cy="923330"/>
          </a:xfrm>
          <a:prstGeom prst="rect">
            <a:avLst/>
          </a:prstGeom>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Template-Driven Forms are built using Angular directives in the HTML template. They rely heavily on </a:t>
            </a:r>
            <a:r>
              <a:rPr kumimoji="0" lang="en-US" altLang="en-US" sz="1800" b="0" i="0" u="none" strike="noStrike" cap="none" normalizeH="0" baseline="0" dirty="0" err="1" smtClean="0">
                <a:ln>
                  <a:noFill/>
                </a:ln>
                <a:solidFill>
                  <a:schemeClr val="tx1"/>
                </a:solidFill>
                <a:effectLst/>
                <a:latin typeface="Arial" panose="020B0604020202020204" pitchFamily="34" charset="0"/>
              </a:rPr>
              <a:t>Angular's</a:t>
            </a:r>
            <a:r>
              <a:rPr kumimoji="0" lang="en-US" altLang="en-US" sz="1800" b="0" i="0" u="none" strike="noStrike" cap="none" normalizeH="0" baseline="0" dirty="0" smtClean="0">
                <a:ln>
                  <a:noFill/>
                </a:ln>
                <a:solidFill>
                  <a:schemeClr val="tx1"/>
                </a:solidFill>
                <a:effectLst/>
                <a:latin typeface="Arial" panose="020B0604020202020204" pitchFamily="34" charset="0"/>
              </a:rPr>
              <a:t> two-way data binding and are suitable for simpler forms.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This approach is more declarative, with most of the logic embedded within the template. </a:t>
            </a:r>
          </a:p>
        </p:txBody>
      </p:sp>
      <p:sp>
        <p:nvSpPr>
          <p:cNvPr id="5" name="Rectangle 4"/>
          <p:cNvSpPr/>
          <p:nvPr/>
        </p:nvSpPr>
        <p:spPr>
          <a:xfrm>
            <a:off x="914400" y="3227308"/>
            <a:ext cx="1602490" cy="369332"/>
          </a:xfrm>
          <a:prstGeom prst="rect">
            <a:avLst/>
          </a:prstGeom>
        </p:spPr>
        <p:style>
          <a:lnRef idx="2">
            <a:schemeClr val="accent4"/>
          </a:lnRef>
          <a:fillRef idx="1">
            <a:schemeClr val="lt1"/>
          </a:fillRef>
          <a:effectRef idx="0">
            <a:schemeClr val="accent4"/>
          </a:effectRef>
          <a:fontRef idx="minor">
            <a:schemeClr val="dk1"/>
          </a:fontRef>
        </p:style>
        <p:txBody>
          <a:bodyPr wrap="none">
            <a:spAutoFit/>
          </a:bodyPr>
          <a:lstStyle/>
          <a:p>
            <a:r>
              <a:rPr lang="en-US" dirty="0"/>
              <a:t>Key Features:</a:t>
            </a:r>
          </a:p>
        </p:txBody>
      </p:sp>
      <p:sp>
        <p:nvSpPr>
          <p:cNvPr id="6" name="Rectangle 2"/>
          <p:cNvSpPr>
            <a:spLocks noChangeArrowheads="1"/>
          </p:cNvSpPr>
          <p:nvPr/>
        </p:nvSpPr>
        <p:spPr bwMode="auto">
          <a:xfrm>
            <a:off x="1300480" y="3730843"/>
            <a:ext cx="9032240" cy="1754326"/>
          </a:xfrm>
          <a:prstGeom prst="rect">
            <a:avLst/>
          </a:prstGeom>
          <a:noFill/>
          <a:ln w="2857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chemeClr val="tx1"/>
                </a:solidFill>
                <a:effectLst/>
                <a:latin typeface="Arial" panose="020B0604020202020204" pitchFamily="34" charset="0"/>
              </a:rPr>
              <a:t>Two-Way Data Binding:</a:t>
            </a:r>
            <a:r>
              <a:rPr kumimoji="0" lang="en-US" altLang="en-US" b="0" i="0" u="none" strike="noStrike" cap="none" normalizeH="0" baseline="0" dirty="0" smtClean="0">
                <a:ln>
                  <a:noFill/>
                </a:ln>
                <a:solidFill>
                  <a:schemeClr val="tx1"/>
                </a:solidFill>
                <a:effectLst/>
                <a:latin typeface="Arial" panose="020B0604020202020204" pitchFamily="34" charset="0"/>
              </a:rPr>
              <a:t> Uses </a:t>
            </a:r>
            <a:r>
              <a:rPr kumimoji="0" lang="en-US" altLang="en-US" b="0" i="0" u="none" strike="noStrike" cap="none" normalizeH="0" baseline="0" dirty="0" smtClean="0">
                <a:ln>
                  <a:noFill/>
                </a:ln>
                <a:solidFill>
                  <a:schemeClr val="tx1"/>
                </a:solidFill>
                <a:effectLst/>
                <a:latin typeface="Arial Unicode MS"/>
              </a:rPr>
              <a:t>[(</a:t>
            </a:r>
            <a:r>
              <a:rPr kumimoji="0" lang="en-US" altLang="en-US" b="0" i="0" u="none" strike="noStrike" cap="none" normalizeH="0" baseline="0" dirty="0" err="1" smtClean="0">
                <a:ln>
                  <a:noFill/>
                </a:ln>
                <a:solidFill>
                  <a:schemeClr val="tx1"/>
                </a:solidFill>
                <a:effectLst/>
                <a:latin typeface="Arial Unicode MS"/>
              </a:rPr>
              <a:t>ngModel</a:t>
            </a:r>
            <a:r>
              <a:rPr kumimoji="0" lang="en-US" altLang="en-US" b="0" i="0" u="none" strike="noStrike" cap="none" normalizeH="0" baseline="0" dirty="0" smtClean="0">
                <a:ln>
                  <a:noFill/>
                </a:ln>
                <a:solidFill>
                  <a:schemeClr val="tx1"/>
                </a:solidFill>
                <a:effectLst/>
                <a:latin typeface="Arial Unicode MS"/>
              </a:rPr>
              <a:t>)]</a:t>
            </a:r>
            <a:r>
              <a:rPr kumimoji="0" lang="en-US" altLang="en-US" b="0" i="0" u="none" strike="noStrike" cap="none" normalizeH="0" baseline="0" dirty="0" smtClean="0">
                <a:ln>
                  <a:noFill/>
                </a:ln>
                <a:solidFill>
                  <a:schemeClr val="tx1"/>
                </a:solidFill>
                <a:effectLst/>
              </a:rPr>
              <a:t> to bind form inputs to properties in the component class.</a:t>
            </a:r>
            <a:endParaRPr kumimoji="0" lang="en-US" altLang="en-US"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chemeClr val="tx1"/>
                </a:solidFill>
                <a:effectLst/>
                <a:latin typeface="Arial" panose="020B0604020202020204" pitchFamily="34" charset="0"/>
              </a:rPr>
              <a:t>Directives:</a:t>
            </a:r>
            <a:r>
              <a:rPr kumimoji="0" lang="en-US" altLang="en-US" b="0" i="0" u="none" strike="noStrike" cap="none" normalizeH="0" baseline="0" dirty="0" smtClean="0">
                <a:ln>
                  <a:noFill/>
                </a:ln>
                <a:solidFill>
                  <a:schemeClr val="tx1"/>
                </a:solidFill>
                <a:effectLst/>
                <a:latin typeface="Arial" panose="020B0604020202020204" pitchFamily="34" charset="0"/>
              </a:rPr>
              <a:t> Uses Angular directives like </a:t>
            </a:r>
            <a:r>
              <a:rPr kumimoji="0" lang="en-US" altLang="en-US" b="0" i="0" u="none" strike="noStrike" cap="none" normalizeH="0" baseline="0" dirty="0" err="1" smtClean="0">
                <a:ln>
                  <a:noFill/>
                </a:ln>
                <a:solidFill>
                  <a:schemeClr val="tx1"/>
                </a:solidFill>
                <a:effectLst/>
                <a:latin typeface="Arial Unicode MS"/>
              </a:rPr>
              <a:t>ngModel</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err="1" smtClean="0">
                <a:ln>
                  <a:noFill/>
                </a:ln>
                <a:solidFill>
                  <a:schemeClr val="tx1"/>
                </a:solidFill>
                <a:effectLst/>
                <a:latin typeface="Arial Unicode MS"/>
              </a:rPr>
              <a:t>ngForm</a:t>
            </a:r>
            <a:r>
              <a:rPr kumimoji="0" lang="en-US" altLang="en-US" b="0" i="0" u="none" strike="noStrike" cap="none" normalizeH="0" baseline="0" dirty="0" smtClean="0">
                <a:ln>
                  <a:noFill/>
                </a:ln>
                <a:solidFill>
                  <a:schemeClr val="tx1"/>
                </a:solidFill>
                <a:effectLst/>
              </a:rPr>
              <a:t>, and </a:t>
            </a:r>
            <a:r>
              <a:rPr kumimoji="0" lang="en-US" altLang="en-US" b="0" i="0" u="none" strike="noStrike" cap="none" normalizeH="0" baseline="0" dirty="0" err="1" smtClean="0">
                <a:ln>
                  <a:noFill/>
                </a:ln>
                <a:solidFill>
                  <a:schemeClr val="tx1"/>
                </a:solidFill>
                <a:effectLst/>
                <a:latin typeface="Arial Unicode MS"/>
              </a:rPr>
              <a:t>ngModelGroup</a:t>
            </a:r>
            <a:r>
              <a:rPr kumimoji="0" lang="en-US" altLang="en-US" b="0" i="0" u="none" strike="noStrike" cap="none" normalizeH="0" baseline="0" dirty="0" smtClean="0">
                <a:ln>
                  <a:noFill/>
                </a:ln>
                <a:solidFill>
                  <a:schemeClr val="tx1"/>
                </a:solidFill>
                <a:effectLst/>
              </a:rPr>
              <a:t> to create and manage forms.</a:t>
            </a:r>
            <a:endParaRPr kumimoji="0" lang="en-US" altLang="en-US"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chemeClr val="tx1"/>
                </a:solidFill>
                <a:effectLst/>
                <a:latin typeface="Arial" panose="020B0604020202020204" pitchFamily="34" charset="0"/>
              </a:rPr>
              <a:t>Simplicity:</a:t>
            </a:r>
            <a:r>
              <a:rPr kumimoji="0" lang="en-US" altLang="en-US" b="0" i="0" u="none" strike="noStrike" cap="none" normalizeH="0" baseline="0" dirty="0" smtClean="0">
                <a:ln>
                  <a:noFill/>
                </a:ln>
                <a:solidFill>
                  <a:schemeClr val="tx1"/>
                </a:solidFill>
                <a:effectLst/>
                <a:latin typeface="Arial" panose="020B0604020202020204" pitchFamily="34" charset="0"/>
              </a:rPr>
              <a:t> Easier to use for simple forms but can become less maintainable for complex forms. </a:t>
            </a:r>
          </a:p>
        </p:txBody>
      </p:sp>
    </p:spTree>
    <p:extLst>
      <p:ext uri="{BB962C8B-B14F-4D97-AF65-F5344CB8AC3E}">
        <p14:creationId xmlns:p14="http://schemas.microsoft.com/office/powerpoint/2010/main" val="344996616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46480" y="1521381"/>
            <a:ext cx="8270240" cy="2585323"/>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dirty="0"/>
              <a:t>&lt;form #</a:t>
            </a:r>
            <a:r>
              <a:rPr lang="en-US" dirty="0" err="1"/>
              <a:t>myForm</a:t>
            </a:r>
            <a:r>
              <a:rPr lang="en-US" dirty="0"/>
              <a:t>="</a:t>
            </a:r>
            <a:r>
              <a:rPr lang="en-US" dirty="0" err="1"/>
              <a:t>ngForm</a:t>
            </a:r>
            <a:r>
              <a:rPr lang="en-US" dirty="0"/>
              <a:t>" (</a:t>
            </a:r>
            <a:r>
              <a:rPr lang="en-US" dirty="0" err="1"/>
              <a:t>ngSubmit</a:t>
            </a:r>
            <a:r>
              <a:rPr lang="en-US" dirty="0"/>
              <a:t>)="</a:t>
            </a:r>
            <a:r>
              <a:rPr lang="en-US" dirty="0" err="1"/>
              <a:t>onSubmit</a:t>
            </a:r>
            <a:r>
              <a:rPr lang="en-US" dirty="0"/>
              <a:t>(</a:t>
            </a:r>
            <a:r>
              <a:rPr lang="en-US" dirty="0" err="1"/>
              <a:t>myForm</a:t>
            </a:r>
            <a:r>
              <a:rPr lang="en-US" dirty="0"/>
              <a:t>)"&gt;</a:t>
            </a:r>
          </a:p>
          <a:p>
            <a:r>
              <a:rPr lang="en-US" dirty="0"/>
              <a:t>  &lt;label for="name"&gt;Name:&lt;/label&gt;</a:t>
            </a:r>
          </a:p>
          <a:p>
            <a:r>
              <a:rPr lang="en-US" dirty="0"/>
              <a:t>  &lt;input id="name" name="name" [(</a:t>
            </a:r>
            <a:r>
              <a:rPr lang="en-US" dirty="0" err="1"/>
              <a:t>ngModel</a:t>
            </a:r>
            <a:r>
              <a:rPr lang="en-US" dirty="0"/>
              <a:t>)]="user.name" required /&gt;</a:t>
            </a:r>
          </a:p>
          <a:p>
            <a:endParaRPr lang="en-US" dirty="0"/>
          </a:p>
          <a:p>
            <a:r>
              <a:rPr lang="en-US" dirty="0"/>
              <a:t>  &lt;label for="email"&gt;Email:&lt;/label&gt;</a:t>
            </a:r>
          </a:p>
          <a:p>
            <a:r>
              <a:rPr lang="en-US" dirty="0"/>
              <a:t>  &lt;input id="email" name="email" [(</a:t>
            </a:r>
            <a:r>
              <a:rPr lang="en-US" dirty="0" err="1"/>
              <a:t>ngModel</a:t>
            </a:r>
            <a:r>
              <a:rPr lang="en-US" dirty="0"/>
              <a:t>)]="</a:t>
            </a:r>
            <a:r>
              <a:rPr lang="en-US" dirty="0" err="1"/>
              <a:t>user.email</a:t>
            </a:r>
            <a:r>
              <a:rPr lang="en-US" dirty="0"/>
              <a:t>" required email /&gt;</a:t>
            </a:r>
          </a:p>
          <a:p>
            <a:endParaRPr lang="en-US" dirty="0"/>
          </a:p>
          <a:p>
            <a:r>
              <a:rPr lang="en-US" dirty="0"/>
              <a:t>  &lt;button type="submit" [disabled]="</a:t>
            </a:r>
            <a:r>
              <a:rPr lang="en-US" dirty="0" err="1"/>
              <a:t>myForm.invalid</a:t>
            </a:r>
            <a:r>
              <a:rPr lang="en-US" dirty="0"/>
              <a:t>"&gt;Submit&lt;/button&gt;</a:t>
            </a:r>
          </a:p>
          <a:p>
            <a:r>
              <a:rPr lang="en-US" dirty="0"/>
              <a:t>&lt;/form&gt;</a:t>
            </a:r>
          </a:p>
        </p:txBody>
      </p:sp>
      <p:sp>
        <p:nvSpPr>
          <p:cNvPr id="4" name="Rectangle 3"/>
          <p:cNvSpPr/>
          <p:nvPr/>
        </p:nvSpPr>
        <p:spPr>
          <a:xfrm>
            <a:off x="792480" y="355600"/>
            <a:ext cx="4572000" cy="6299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Example for tem form</a:t>
            </a:r>
            <a:endParaRPr lang="en-US" dirty="0"/>
          </a:p>
        </p:txBody>
      </p:sp>
      <p:sp>
        <p:nvSpPr>
          <p:cNvPr id="5" name="Rectangle 4"/>
          <p:cNvSpPr/>
          <p:nvPr/>
        </p:nvSpPr>
        <p:spPr>
          <a:xfrm>
            <a:off x="4521200" y="2123440"/>
            <a:ext cx="1198880" cy="325120"/>
          </a:xfrm>
          <a:prstGeom prst="rect">
            <a:avLst/>
          </a:prstGeom>
          <a:noFill/>
          <a:ln w="31750"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
        <p:nvSpPr>
          <p:cNvPr id="6" name="Rectangle 5"/>
          <p:cNvSpPr/>
          <p:nvPr/>
        </p:nvSpPr>
        <p:spPr>
          <a:xfrm>
            <a:off x="7091680" y="2123440"/>
            <a:ext cx="944880" cy="325120"/>
          </a:xfrm>
          <a:prstGeom prst="rect">
            <a:avLst/>
          </a:prstGeom>
          <a:noFill/>
          <a:ln w="3810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7" name="Rectangle 6"/>
          <p:cNvSpPr/>
          <p:nvPr/>
        </p:nvSpPr>
        <p:spPr>
          <a:xfrm>
            <a:off x="1046480" y="4542135"/>
            <a:ext cx="6096000" cy="1477328"/>
          </a:xfrm>
          <a:prstGeom prst="rect">
            <a:avLst/>
          </a:prstGeom>
          <a:ln/>
        </p:spPr>
        <p:style>
          <a:lnRef idx="2">
            <a:schemeClr val="dk1"/>
          </a:lnRef>
          <a:fillRef idx="1">
            <a:schemeClr val="lt1"/>
          </a:fillRef>
          <a:effectRef idx="0">
            <a:schemeClr val="dk1"/>
          </a:effectRef>
          <a:fontRef idx="minor">
            <a:schemeClr val="dk1"/>
          </a:fontRef>
        </p:style>
        <p:txBody>
          <a:bodyPr>
            <a:spAutoFit/>
          </a:bodyPr>
          <a:lstStyle/>
          <a:p>
            <a:r>
              <a:rPr lang="en-US" dirty="0"/>
              <a:t>export class </a:t>
            </a:r>
            <a:r>
              <a:rPr lang="en-US" dirty="0" err="1"/>
              <a:t>UserFormComponent</a:t>
            </a:r>
            <a:r>
              <a:rPr lang="en-US" dirty="0"/>
              <a:t> </a:t>
            </a:r>
            <a:r>
              <a:rPr lang="en-US" dirty="0" smtClean="0"/>
              <a:t>{</a:t>
            </a:r>
          </a:p>
          <a:p>
            <a:r>
              <a:rPr lang="en-US" dirty="0" smtClean="0"/>
              <a:t> </a:t>
            </a:r>
            <a:r>
              <a:rPr lang="en-US" dirty="0"/>
              <a:t>user = { name: '', email: '' }; </a:t>
            </a:r>
            <a:endParaRPr lang="en-US" dirty="0" smtClean="0"/>
          </a:p>
          <a:p>
            <a:r>
              <a:rPr lang="en-US" dirty="0" err="1" smtClean="0"/>
              <a:t>onSubmit</a:t>
            </a:r>
            <a:r>
              <a:rPr lang="en-US" dirty="0" smtClean="0"/>
              <a:t>(form</a:t>
            </a:r>
            <a:r>
              <a:rPr lang="en-US" dirty="0"/>
              <a:t>: any) </a:t>
            </a:r>
            <a:r>
              <a:rPr lang="en-US" dirty="0" smtClean="0"/>
              <a:t>{</a:t>
            </a:r>
          </a:p>
          <a:p>
            <a:r>
              <a:rPr lang="en-US" dirty="0" smtClean="0"/>
              <a:t> </a:t>
            </a:r>
            <a:r>
              <a:rPr lang="en-US" dirty="0"/>
              <a:t>console.log('Form Submitted!', </a:t>
            </a:r>
            <a:r>
              <a:rPr lang="en-US" dirty="0" err="1"/>
              <a:t>form.value</a:t>
            </a:r>
            <a:r>
              <a:rPr lang="en-US" dirty="0"/>
              <a:t>); </a:t>
            </a:r>
            <a:endParaRPr lang="en-US" dirty="0" smtClean="0"/>
          </a:p>
          <a:p>
            <a:r>
              <a:rPr lang="en-US" dirty="0" smtClean="0"/>
              <a:t>}</a:t>
            </a:r>
            <a:endParaRPr lang="en-US" dirty="0"/>
          </a:p>
        </p:txBody>
      </p:sp>
    </p:spTree>
    <p:extLst>
      <p:ext uri="{BB962C8B-B14F-4D97-AF65-F5344CB8AC3E}">
        <p14:creationId xmlns:p14="http://schemas.microsoft.com/office/powerpoint/2010/main" val="98549542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2756746" cy="558800"/>
          </a:xfrm>
        </p:spPr>
        <p:style>
          <a:lnRef idx="2">
            <a:schemeClr val="accent4"/>
          </a:lnRef>
          <a:fillRef idx="1">
            <a:schemeClr val="lt1"/>
          </a:fillRef>
          <a:effectRef idx="0">
            <a:schemeClr val="accent4"/>
          </a:effectRef>
          <a:fontRef idx="minor">
            <a:schemeClr val="dk1"/>
          </a:fontRef>
        </p:style>
        <p:txBody>
          <a:bodyPr>
            <a:normAutofit/>
          </a:bodyPr>
          <a:lstStyle/>
          <a:p>
            <a:r>
              <a:rPr lang="en-US" sz="2800" dirty="0"/>
              <a:t>Reactive Forms</a:t>
            </a:r>
          </a:p>
        </p:txBody>
      </p:sp>
      <p:sp>
        <p:nvSpPr>
          <p:cNvPr id="3" name="Rectangle 1"/>
          <p:cNvSpPr>
            <a:spLocks noChangeArrowheads="1"/>
          </p:cNvSpPr>
          <p:nvPr/>
        </p:nvSpPr>
        <p:spPr bwMode="auto">
          <a:xfrm>
            <a:off x="1056640" y="1723033"/>
            <a:ext cx="9601200" cy="1200329"/>
          </a:xfrm>
          <a:prstGeom prst="rect">
            <a:avLst/>
          </a:prstGeom>
          <a:ln w="31750"/>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Reactive Forms (also known as Model-Driven Forms) are built around a more programmatic approach, offering greater control and flexibility. They are best suited for complex forms and advanced validation scenarios.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This approach emphasizes an explicit and imperative programming model. </a:t>
            </a:r>
          </a:p>
        </p:txBody>
      </p:sp>
      <p:sp>
        <p:nvSpPr>
          <p:cNvPr id="4" name="Rectangle 3"/>
          <p:cNvSpPr/>
          <p:nvPr/>
        </p:nvSpPr>
        <p:spPr>
          <a:xfrm>
            <a:off x="677334" y="3293329"/>
            <a:ext cx="1602490" cy="369332"/>
          </a:xfrm>
          <a:prstGeom prst="rect">
            <a:avLst/>
          </a:prstGeom>
          <a:ln w="41275"/>
        </p:spPr>
        <p:style>
          <a:lnRef idx="2">
            <a:schemeClr val="accent3"/>
          </a:lnRef>
          <a:fillRef idx="1">
            <a:schemeClr val="lt1"/>
          </a:fillRef>
          <a:effectRef idx="0">
            <a:schemeClr val="accent3"/>
          </a:effectRef>
          <a:fontRef idx="minor">
            <a:schemeClr val="dk1"/>
          </a:fontRef>
        </p:style>
        <p:txBody>
          <a:bodyPr wrap="none">
            <a:spAutoFit/>
          </a:bodyPr>
          <a:lstStyle/>
          <a:p>
            <a:r>
              <a:rPr lang="en-US" dirty="0"/>
              <a:t>Key Features:</a:t>
            </a:r>
          </a:p>
        </p:txBody>
      </p:sp>
      <p:sp>
        <p:nvSpPr>
          <p:cNvPr id="5" name="Rectangle 2"/>
          <p:cNvSpPr>
            <a:spLocks noChangeArrowheads="1"/>
          </p:cNvSpPr>
          <p:nvPr/>
        </p:nvSpPr>
        <p:spPr bwMode="auto">
          <a:xfrm>
            <a:off x="975360" y="4276041"/>
            <a:ext cx="9509760" cy="1323439"/>
          </a:xfrm>
          <a:prstGeom prst="rect">
            <a:avLst/>
          </a:prstGeom>
          <a:ln w="31750"/>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smtClean="0">
                <a:ln>
                  <a:noFill/>
                </a:ln>
                <a:solidFill>
                  <a:schemeClr val="tx1"/>
                </a:solidFill>
                <a:effectLst/>
                <a:latin typeface="Arial" panose="020B0604020202020204" pitchFamily="34" charset="0"/>
              </a:rPr>
              <a:t>Form Control and Form Group:</a:t>
            </a:r>
            <a:r>
              <a:rPr kumimoji="0" lang="en-US" altLang="en-US" sz="1600" b="0" i="0" u="none" strike="noStrike" cap="none" normalizeH="0" baseline="0" dirty="0" smtClean="0">
                <a:ln>
                  <a:noFill/>
                </a:ln>
                <a:solidFill>
                  <a:schemeClr val="tx1"/>
                </a:solidFill>
                <a:effectLst/>
                <a:latin typeface="Arial" panose="020B0604020202020204" pitchFamily="34" charset="0"/>
              </a:rPr>
              <a:t> Uses </a:t>
            </a:r>
            <a:r>
              <a:rPr kumimoji="0" lang="en-US" altLang="en-US" sz="1600" b="0" i="0" u="none" strike="noStrike" cap="none" normalizeH="0" baseline="0" dirty="0" err="1" smtClean="0">
                <a:ln>
                  <a:noFill/>
                </a:ln>
                <a:solidFill>
                  <a:schemeClr val="tx1"/>
                </a:solidFill>
                <a:effectLst/>
                <a:latin typeface="Arial Unicode MS"/>
              </a:rPr>
              <a:t>FormControl</a:t>
            </a:r>
            <a:r>
              <a:rPr kumimoji="0" lang="en-US" altLang="en-US" sz="1600" b="0" i="0" u="none" strike="noStrike" cap="none" normalizeH="0" baseline="0" dirty="0" smtClean="0">
                <a:ln>
                  <a:noFill/>
                </a:ln>
                <a:solidFill>
                  <a:schemeClr val="tx1"/>
                </a:solidFill>
                <a:effectLst/>
              </a:rPr>
              <a:t>, </a:t>
            </a:r>
            <a:r>
              <a:rPr kumimoji="0" lang="en-US" altLang="en-US" sz="1600" b="0" i="0" u="none" strike="noStrike" cap="none" normalizeH="0" baseline="0" dirty="0" err="1" smtClean="0">
                <a:ln>
                  <a:noFill/>
                </a:ln>
                <a:solidFill>
                  <a:schemeClr val="tx1"/>
                </a:solidFill>
                <a:effectLst/>
                <a:latin typeface="Arial Unicode MS"/>
              </a:rPr>
              <a:t>FormGroup</a:t>
            </a:r>
            <a:r>
              <a:rPr kumimoji="0" lang="en-US" altLang="en-US" sz="1600" b="0" i="0" u="none" strike="noStrike" cap="none" normalizeH="0" baseline="0" dirty="0" smtClean="0">
                <a:ln>
                  <a:noFill/>
                </a:ln>
                <a:solidFill>
                  <a:schemeClr val="tx1"/>
                </a:solidFill>
                <a:effectLst/>
              </a:rPr>
              <a:t>, and </a:t>
            </a:r>
            <a:r>
              <a:rPr kumimoji="0" lang="en-US" altLang="en-US" sz="1600" b="0" i="0" u="none" strike="noStrike" cap="none" normalizeH="0" baseline="0" dirty="0" err="1" smtClean="0">
                <a:ln>
                  <a:noFill/>
                </a:ln>
                <a:solidFill>
                  <a:schemeClr val="tx1"/>
                </a:solidFill>
                <a:effectLst/>
                <a:latin typeface="Arial Unicode MS"/>
              </a:rPr>
              <a:t>FormArray</a:t>
            </a:r>
            <a:r>
              <a:rPr kumimoji="0" lang="en-US" altLang="en-US" sz="1600" b="0" i="0" u="none" strike="noStrike" cap="none" normalizeH="0" baseline="0" dirty="0" smtClean="0">
                <a:ln>
                  <a:noFill/>
                </a:ln>
                <a:solidFill>
                  <a:schemeClr val="tx1"/>
                </a:solidFill>
                <a:effectLst/>
              </a:rPr>
              <a:t> classes to manage the form state.</a:t>
            </a:r>
            <a:endParaRPr kumimoji="0" lang="en-US" altLang="en-US" sz="16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smtClean="0">
                <a:ln>
                  <a:noFill/>
                </a:ln>
                <a:solidFill>
                  <a:schemeClr val="tx1"/>
                </a:solidFill>
                <a:effectLst/>
                <a:latin typeface="Arial" panose="020B0604020202020204" pitchFamily="34" charset="0"/>
              </a:rPr>
              <a:t>Observable-based:</a:t>
            </a:r>
            <a:r>
              <a:rPr kumimoji="0" lang="en-US" altLang="en-US" sz="1600" b="0" i="0" u="none" strike="noStrike" cap="none" normalizeH="0" baseline="0" dirty="0" smtClean="0">
                <a:ln>
                  <a:noFill/>
                </a:ln>
                <a:solidFill>
                  <a:schemeClr val="tx1"/>
                </a:solidFill>
                <a:effectLst/>
                <a:latin typeface="Arial" panose="020B0604020202020204" pitchFamily="34" charset="0"/>
              </a:rPr>
              <a:t> Forms are managed through observables, allowing for more dynamic form handling.</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smtClean="0">
                <a:ln>
                  <a:noFill/>
                </a:ln>
                <a:solidFill>
                  <a:schemeClr val="tx1"/>
                </a:solidFill>
                <a:effectLst/>
                <a:latin typeface="Arial" panose="020B0604020202020204" pitchFamily="34" charset="0"/>
              </a:rPr>
              <a:t>Advanced Validation:</a:t>
            </a:r>
            <a:r>
              <a:rPr kumimoji="0" lang="en-US" altLang="en-US" sz="1600" b="0" i="0" u="none" strike="noStrike" cap="none" normalizeH="0" baseline="0" dirty="0" smtClean="0">
                <a:ln>
                  <a:noFill/>
                </a:ln>
                <a:solidFill>
                  <a:schemeClr val="tx1"/>
                </a:solidFill>
                <a:effectLst/>
                <a:latin typeface="Arial" panose="020B0604020202020204" pitchFamily="34" charset="0"/>
              </a:rPr>
              <a:t> Easier to implement complex validation logic. </a:t>
            </a:r>
          </a:p>
        </p:txBody>
      </p:sp>
    </p:spTree>
    <p:extLst>
      <p:ext uri="{BB962C8B-B14F-4D97-AF65-F5344CB8AC3E}">
        <p14:creationId xmlns:p14="http://schemas.microsoft.com/office/powerpoint/2010/main" val="173698403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29920" y="568960"/>
            <a:ext cx="2519680" cy="375920"/>
          </a:xfrm>
          <a:prstGeom prst="rect">
            <a:avLst/>
          </a:prstGeom>
          <a:noFill/>
          <a:ln w="2857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dirty="0"/>
              <a:t>E</a:t>
            </a:r>
            <a:r>
              <a:rPr lang="en-US" dirty="0" smtClean="0"/>
              <a:t>xample</a:t>
            </a: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1920" y="1056331"/>
            <a:ext cx="9702799" cy="5578149"/>
          </a:xfrm>
          <a:prstGeom prst="rect">
            <a:avLst/>
          </a:prstGeom>
        </p:spPr>
      </p:pic>
      <p:sp>
        <p:nvSpPr>
          <p:cNvPr id="6" name="Rectangle 5"/>
          <p:cNvSpPr/>
          <p:nvPr/>
        </p:nvSpPr>
        <p:spPr>
          <a:xfrm>
            <a:off x="2164080" y="1168400"/>
            <a:ext cx="5770880" cy="416560"/>
          </a:xfrm>
          <a:prstGeom prst="rect">
            <a:avLst/>
          </a:prstGeom>
          <a:noFill/>
          <a:ln w="2857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
        <p:nvSpPr>
          <p:cNvPr id="7" name="Rectangle 6"/>
          <p:cNvSpPr/>
          <p:nvPr/>
        </p:nvSpPr>
        <p:spPr>
          <a:xfrm>
            <a:off x="2468880" y="1889760"/>
            <a:ext cx="4084320" cy="345440"/>
          </a:xfrm>
          <a:prstGeom prst="rect">
            <a:avLst/>
          </a:prstGeom>
          <a:noFill/>
          <a:ln w="2857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
        <p:nvSpPr>
          <p:cNvPr id="8" name="Rectangle 7"/>
          <p:cNvSpPr/>
          <p:nvPr/>
        </p:nvSpPr>
        <p:spPr>
          <a:xfrm>
            <a:off x="2296160" y="2235200"/>
            <a:ext cx="8453120" cy="416560"/>
          </a:xfrm>
          <a:prstGeom prst="rect">
            <a:avLst/>
          </a:prstGeom>
          <a:noFill/>
          <a:ln w="2857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
        <p:nvSpPr>
          <p:cNvPr id="9" name="Rectangle 8"/>
          <p:cNvSpPr/>
          <p:nvPr/>
        </p:nvSpPr>
        <p:spPr>
          <a:xfrm>
            <a:off x="2682240" y="5811520"/>
            <a:ext cx="5110480" cy="416560"/>
          </a:xfrm>
          <a:prstGeom prst="rect">
            <a:avLst/>
          </a:prstGeom>
          <a:noFill/>
          <a:ln w="2857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
        <p:nvSpPr>
          <p:cNvPr id="10" name="Rectangle 9"/>
          <p:cNvSpPr/>
          <p:nvPr/>
        </p:nvSpPr>
        <p:spPr>
          <a:xfrm>
            <a:off x="2352040" y="4434840"/>
            <a:ext cx="8478520" cy="416560"/>
          </a:xfrm>
          <a:prstGeom prst="rect">
            <a:avLst/>
          </a:prstGeom>
          <a:noFill/>
          <a:ln w="2857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Tree>
    <p:extLst>
      <p:ext uri="{BB962C8B-B14F-4D97-AF65-F5344CB8AC3E}">
        <p14:creationId xmlns:p14="http://schemas.microsoft.com/office/powerpoint/2010/main" val="135107785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0454" y="243840"/>
            <a:ext cx="2736426" cy="538480"/>
          </a:xfrm>
        </p:spPr>
        <p:txBody>
          <a:bodyPr>
            <a:normAutofit/>
          </a:bodyPr>
          <a:lstStyle/>
          <a:p>
            <a:r>
              <a:rPr lang="en-US" sz="2400" dirty="0" err="1" smtClean="0"/>
              <a:t>T.s.File</a:t>
            </a:r>
            <a:endParaRPr lang="en-US" sz="240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254" y="812800"/>
            <a:ext cx="10772986" cy="5699868"/>
          </a:xfrm>
          <a:prstGeom prst="rect">
            <a:avLst/>
          </a:prstGeom>
        </p:spPr>
      </p:pic>
      <p:sp>
        <p:nvSpPr>
          <p:cNvPr id="4" name="Rounded Rectangle 3"/>
          <p:cNvSpPr/>
          <p:nvPr/>
        </p:nvSpPr>
        <p:spPr>
          <a:xfrm>
            <a:off x="1473200" y="1107440"/>
            <a:ext cx="4937760" cy="355600"/>
          </a:xfrm>
          <a:prstGeom prst="roundRect">
            <a:avLst/>
          </a:prstGeom>
          <a:noFill/>
          <a:ln w="2857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a:p>
        </p:txBody>
      </p:sp>
      <p:sp>
        <p:nvSpPr>
          <p:cNvPr id="5" name="Rounded Rectangle 4"/>
          <p:cNvSpPr/>
          <p:nvPr/>
        </p:nvSpPr>
        <p:spPr>
          <a:xfrm>
            <a:off x="355600" y="2987040"/>
            <a:ext cx="3474720" cy="304854"/>
          </a:xfrm>
          <a:prstGeom prst="roundRect">
            <a:avLst/>
          </a:prstGeom>
          <a:noFill/>
          <a:ln w="2857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a:p>
        </p:txBody>
      </p:sp>
      <p:sp>
        <p:nvSpPr>
          <p:cNvPr id="6" name="Rounded Rectangle 5"/>
          <p:cNvSpPr/>
          <p:nvPr/>
        </p:nvSpPr>
        <p:spPr>
          <a:xfrm>
            <a:off x="355600" y="3439214"/>
            <a:ext cx="10190480" cy="1803346"/>
          </a:xfrm>
          <a:prstGeom prst="roundRect">
            <a:avLst/>
          </a:prstGeom>
          <a:noFill/>
          <a:ln w="2857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a:p>
        </p:txBody>
      </p:sp>
      <p:sp>
        <p:nvSpPr>
          <p:cNvPr id="7" name="Rounded Rectangle 6"/>
          <p:cNvSpPr/>
          <p:nvPr/>
        </p:nvSpPr>
        <p:spPr>
          <a:xfrm>
            <a:off x="822960" y="5689600"/>
            <a:ext cx="7843520" cy="589280"/>
          </a:xfrm>
          <a:prstGeom prst="roundRect">
            <a:avLst/>
          </a:prstGeom>
          <a:noFill/>
          <a:ln w="2857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a:p>
        </p:txBody>
      </p:sp>
    </p:spTree>
    <p:extLst>
      <p:ext uri="{BB962C8B-B14F-4D97-AF65-F5344CB8AC3E}">
        <p14:creationId xmlns:p14="http://schemas.microsoft.com/office/powerpoint/2010/main" val="108487272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3782906" cy="365760"/>
          </a:xfrm>
          <a:ln w="41275"/>
        </p:spPr>
        <p:style>
          <a:lnRef idx="2">
            <a:schemeClr val="accent1"/>
          </a:lnRef>
          <a:fillRef idx="1">
            <a:schemeClr val="lt1"/>
          </a:fillRef>
          <a:effectRef idx="0">
            <a:schemeClr val="accent1"/>
          </a:effectRef>
          <a:fontRef idx="minor">
            <a:schemeClr val="dk1"/>
          </a:fontRef>
        </p:style>
        <p:txBody>
          <a:bodyPr>
            <a:normAutofit fontScale="90000"/>
          </a:bodyPr>
          <a:lstStyle/>
          <a:p>
            <a:r>
              <a:rPr lang="en-US" sz="2000" dirty="0"/>
              <a:t>Form Validation and Error Handling</a:t>
            </a:r>
          </a:p>
        </p:txBody>
      </p:sp>
      <p:sp>
        <p:nvSpPr>
          <p:cNvPr id="3" name="Rectangle 1"/>
          <p:cNvSpPr>
            <a:spLocks noChangeArrowheads="1"/>
          </p:cNvSpPr>
          <p:nvPr/>
        </p:nvSpPr>
        <p:spPr bwMode="auto">
          <a:xfrm>
            <a:off x="1148080" y="1558747"/>
            <a:ext cx="10322560" cy="4370427"/>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chemeClr val="tx1"/>
                </a:solidFill>
                <a:effectLst/>
                <a:latin typeface="Arial" panose="020B0604020202020204" pitchFamily="34" charset="0"/>
              </a:rPr>
              <a:t>Validation is a key part of building forms in Angular. Both Template-Driven and Reactive Forms support various validation techniques, from basic HTML5 validation attributes to custom validators.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chemeClr val="tx1"/>
                </a:solidFill>
                <a:effectLst/>
                <a:latin typeface="Arial" panose="020B0604020202020204" pitchFamily="34" charset="0"/>
              </a:rPr>
              <a:t>Validation in Template-Driven Forms:</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Arial" panose="020B0604020202020204" pitchFamily="34" charset="0"/>
              </a:rPr>
              <a:t>Built-in Validators:</a:t>
            </a:r>
            <a:r>
              <a:rPr kumimoji="0" lang="en-US" altLang="en-US" sz="2000" b="0" i="0" u="none" strike="noStrike" cap="none" normalizeH="0" baseline="0" dirty="0" smtClean="0">
                <a:ln>
                  <a:noFill/>
                </a:ln>
                <a:solidFill>
                  <a:schemeClr val="tx1"/>
                </a:solidFill>
                <a:effectLst/>
                <a:latin typeface="Arial" panose="020B0604020202020204" pitchFamily="34" charset="0"/>
              </a:rPr>
              <a:t> Angular provides built-in validators like </a:t>
            </a:r>
            <a:r>
              <a:rPr kumimoji="0" lang="en-US" altLang="en-US" sz="2000" b="0" i="0" u="none" strike="noStrike" cap="none" normalizeH="0" baseline="0" dirty="0" smtClean="0">
                <a:ln>
                  <a:noFill/>
                </a:ln>
                <a:solidFill>
                  <a:schemeClr val="tx1"/>
                </a:solidFill>
                <a:effectLst/>
                <a:latin typeface="Arial Unicode MS"/>
              </a:rPr>
              <a:t>required</a:t>
            </a:r>
            <a:r>
              <a:rPr kumimoji="0" lang="en-US" altLang="en-US" sz="2000" b="0" i="0" u="none" strike="noStrike" cap="none" normalizeH="0" baseline="0" dirty="0" smtClean="0">
                <a:ln>
                  <a:noFill/>
                </a:ln>
                <a:solidFill>
                  <a:schemeClr val="tx1"/>
                </a:solidFill>
                <a:effectLst/>
              </a:rPr>
              <a:t>, </a:t>
            </a:r>
            <a:r>
              <a:rPr kumimoji="0" lang="en-US" altLang="en-US" sz="2000" b="0" i="0" u="none" strike="noStrike" cap="none" normalizeH="0" baseline="0" dirty="0" err="1" smtClean="0">
                <a:ln>
                  <a:noFill/>
                </a:ln>
                <a:solidFill>
                  <a:schemeClr val="tx1"/>
                </a:solidFill>
                <a:effectLst/>
                <a:latin typeface="Arial Unicode MS"/>
              </a:rPr>
              <a:t>minlength</a:t>
            </a:r>
            <a:r>
              <a:rPr kumimoji="0" lang="en-US" altLang="en-US" sz="2000" b="0" i="0" u="none" strike="noStrike" cap="none" normalizeH="0" baseline="0" dirty="0" smtClean="0">
                <a:ln>
                  <a:noFill/>
                </a:ln>
                <a:solidFill>
                  <a:schemeClr val="tx1"/>
                </a:solidFill>
                <a:effectLst/>
              </a:rPr>
              <a:t>, </a:t>
            </a:r>
            <a:r>
              <a:rPr kumimoji="0" lang="en-US" altLang="en-US" sz="2000" b="0" i="0" u="none" strike="noStrike" cap="none" normalizeH="0" baseline="0" dirty="0" err="1" smtClean="0">
                <a:ln>
                  <a:noFill/>
                </a:ln>
                <a:solidFill>
                  <a:schemeClr val="tx1"/>
                </a:solidFill>
                <a:effectLst/>
                <a:latin typeface="Arial Unicode MS"/>
              </a:rPr>
              <a:t>maxlength</a:t>
            </a:r>
            <a:r>
              <a:rPr kumimoji="0" lang="en-US" altLang="en-US" sz="2000" b="0" i="0" u="none" strike="noStrike" cap="none" normalizeH="0" baseline="0" dirty="0" smtClean="0">
                <a:ln>
                  <a:noFill/>
                </a:ln>
                <a:solidFill>
                  <a:schemeClr val="tx1"/>
                </a:solidFill>
                <a:effectLst/>
              </a:rPr>
              <a:t>, </a:t>
            </a:r>
            <a:r>
              <a:rPr kumimoji="0" lang="en-US" altLang="en-US" sz="2000" b="0" i="0" u="none" strike="noStrike" cap="none" normalizeH="0" baseline="0" dirty="0" smtClean="0">
                <a:ln>
                  <a:noFill/>
                </a:ln>
                <a:solidFill>
                  <a:schemeClr val="tx1"/>
                </a:solidFill>
                <a:effectLst/>
                <a:latin typeface="Arial Unicode MS"/>
              </a:rPr>
              <a:t>email</a:t>
            </a:r>
            <a:r>
              <a:rPr kumimoji="0" lang="en-US" altLang="en-US" sz="2000" b="0" i="0" u="none" strike="noStrike" cap="none" normalizeH="0" baseline="0" dirty="0" smtClean="0">
                <a:ln>
                  <a:noFill/>
                </a:ln>
                <a:solidFill>
                  <a:schemeClr val="tx1"/>
                </a:solidFill>
                <a:effectLst/>
              </a:rPr>
              <a:t>, etc.</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Arial" panose="020B0604020202020204" pitchFamily="34" charset="0"/>
              </a:rPr>
              <a:t>Custom Validators:</a:t>
            </a:r>
            <a:r>
              <a:rPr kumimoji="0" lang="en-US" altLang="en-US" sz="2000" b="0" i="0" u="none" strike="noStrike" cap="none" normalizeH="0" baseline="0" dirty="0" smtClean="0">
                <a:ln>
                  <a:noFill/>
                </a:ln>
                <a:solidFill>
                  <a:schemeClr val="tx1"/>
                </a:solidFill>
                <a:effectLst/>
                <a:latin typeface="Arial" panose="020B0604020202020204" pitchFamily="34" charset="0"/>
              </a:rPr>
              <a:t> You can create custom validators by writing functions that return a validation result.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Arial" panose="020B0604020202020204" pitchFamily="34" charset="0"/>
              </a:rPr>
              <a:t>Validation Feedback:</a:t>
            </a:r>
            <a:r>
              <a:rPr kumimoji="0" lang="en-US" altLang="en-US" sz="2000" b="0" i="0" u="none" strike="noStrike" cap="none" normalizeH="0" baseline="0" dirty="0" smtClean="0">
                <a:ln>
                  <a:noFill/>
                </a:ln>
                <a:solidFill>
                  <a:schemeClr val="tx1"/>
                </a:solidFill>
                <a:effectLst/>
                <a:latin typeface="Arial" panose="020B0604020202020204" pitchFamily="34" charset="0"/>
              </a:rPr>
              <a:t> Use Angular directives like </a:t>
            </a:r>
            <a:r>
              <a:rPr kumimoji="0" lang="en-US" altLang="en-US" sz="2000" b="0" i="0" u="none" strike="noStrike" cap="none" normalizeH="0" baseline="0" dirty="0" err="1" smtClean="0">
                <a:ln>
                  <a:noFill/>
                </a:ln>
                <a:solidFill>
                  <a:schemeClr val="tx1"/>
                </a:solidFill>
                <a:effectLst/>
                <a:latin typeface="Arial Unicode MS"/>
              </a:rPr>
              <a:t>ngClass</a:t>
            </a:r>
            <a:r>
              <a:rPr kumimoji="0" lang="en-US" altLang="en-US" sz="2000" b="0" i="0" u="none" strike="noStrike" cap="none" normalizeH="0" baseline="0" dirty="0" smtClean="0">
                <a:ln>
                  <a:noFill/>
                </a:ln>
                <a:solidFill>
                  <a:schemeClr val="tx1"/>
                </a:solidFill>
                <a:effectLst/>
              </a:rPr>
              <a:t> or </a:t>
            </a:r>
            <a:r>
              <a:rPr kumimoji="0" lang="en-US" altLang="en-US" sz="2000" b="0" i="0" u="none" strike="noStrike" cap="none" normalizeH="0" baseline="0" dirty="0" smtClean="0">
                <a:ln>
                  <a:noFill/>
                </a:ln>
                <a:solidFill>
                  <a:schemeClr val="tx1"/>
                </a:solidFill>
                <a:effectLst/>
                <a:latin typeface="Arial Unicode MS"/>
              </a:rPr>
              <a:t>*</a:t>
            </a:r>
            <a:r>
              <a:rPr kumimoji="0" lang="en-US" altLang="en-US" sz="2000" b="0" i="0" u="none" strike="noStrike" cap="none" normalizeH="0" baseline="0" dirty="0" err="1" smtClean="0">
                <a:ln>
                  <a:noFill/>
                </a:ln>
                <a:solidFill>
                  <a:schemeClr val="tx1"/>
                </a:solidFill>
                <a:effectLst/>
                <a:latin typeface="Arial Unicode MS"/>
              </a:rPr>
              <a:t>ngIf</a:t>
            </a:r>
            <a:r>
              <a:rPr kumimoji="0" lang="en-US" altLang="en-US" sz="2000" b="0" i="0" u="none" strike="noStrike" cap="none" normalizeH="0" baseline="0" dirty="0" smtClean="0">
                <a:ln>
                  <a:noFill/>
                </a:ln>
                <a:solidFill>
                  <a:schemeClr val="tx1"/>
                </a:solidFill>
                <a:effectLst/>
              </a:rPr>
              <a:t> to provide feedback to users.</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4319381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391920" y="528320"/>
            <a:ext cx="8752400" cy="1779363"/>
          </a:xfrm>
          <a:prstGeom prst="rect">
            <a:avLst/>
          </a:prstGeom>
        </p:spPr>
      </p:pic>
      <p:pic>
        <p:nvPicPr>
          <p:cNvPr id="4" name="Picture 3"/>
          <p:cNvPicPr>
            <a:picLocks noChangeAspect="1"/>
          </p:cNvPicPr>
          <p:nvPr/>
        </p:nvPicPr>
        <p:blipFill>
          <a:blip r:embed="rId3"/>
          <a:stretch>
            <a:fillRect/>
          </a:stretch>
        </p:blipFill>
        <p:spPr>
          <a:xfrm>
            <a:off x="596650" y="2859278"/>
            <a:ext cx="3944870" cy="2891282"/>
          </a:xfrm>
          <a:prstGeom prst="rect">
            <a:avLst/>
          </a:prstGeom>
        </p:spPr>
      </p:pic>
      <p:sp>
        <p:nvSpPr>
          <p:cNvPr id="5" name="Rectangle 1"/>
          <p:cNvSpPr>
            <a:spLocks noChangeArrowheads="1"/>
          </p:cNvSpPr>
          <p:nvPr/>
        </p:nvSpPr>
        <p:spPr bwMode="auto">
          <a:xfrm>
            <a:off x="4744720" y="2872364"/>
            <a:ext cx="7294880" cy="3754874"/>
          </a:xfrm>
          <a:prstGeom prst="rect">
            <a:avLst/>
          </a:prstGeom>
          <a:ln w="38100"/>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chemeClr val="tx1"/>
                </a:solidFill>
                <a:effectLst/>
                <a:latin typeface="Arial" panose="020B0604020202020204" pitchFamily="34" charset="0"/>
              </a:rPr>
              <a:t>Validation in Reactive Forms: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Arial" panose="020B0604020202020204" pitchFamily="34" charset="0"/>
              </a:rPr>
              <a:t>Built-in Validators:</a:t>
            </a:r>
            <a:r>
              <a:rPr kumimoji="0" lang="en-US" altLang="en-US" sz="2000" b="0" i="0" u="none" strike="noStrike" cap="none" normalizeH="0" baseline="0" dirty="0" smtClean="0">
                <a:ln>
                  <a:noFill/>
                </a:ln>
                <a:solidFill>
                  <a:schemeClr val="tx1"/>
                </a:solidFill>
                <a:effectLst/>
                <a:latin typeface="Arial" panose="020B0604020202020204" pitchFamily="34" charset="0"/>
              </a:rPr>
              <a:t> You can apply validators directly in the </a:t>
            </a:r>
            <a:r>
              <a:rPr kumimoji="0" lang="en-US" altLang="en-US" sz="2000" b="0" i="0" u="none" strike="noStrike" cap="none" normalizeH="0" baseline="0" dirty="0" err="1" smtClean="0">
                <a:ln>
                  <a:noFill/>
                </a:ln>
                <a:solidFill>
                  <a:schemeClr val="tx1"/>
                </a:solidFill>
                <a:effectLst/>
                <a:latin typeface="Arial Unicode MS"/>
              </a:rPr>
              <a:t>FormControl</a:t>
            </a:r>
            <a:r>
              <a:rPr kumimoji="0" lang="en-US" altLang="en-US" sz="2000" b="0" i="0" u="none" strike="noStrike" cap="none" normalizeH="0" baseline="0" dirty="0" smtClean="0">
                <a:ln>
                  <a:noFill/>
                </a:ln>
                <a:solidFill>
                  <a:schemeClr val="tx1"/>
                </a:solidFill>
                <a:effectLst/>
              </a:rPr>
              <a:t> definition.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Arial" panose="020B0604020202020204" pitchFamily="34" charset="0"/>
              </a:rPr>
              <a:t>Custom Validators:</a:t>
            </a:r>
            <a:r>
              <a:rPr kumimoji="0" lang="en-US" altLang="en-US" sz="2000" b="0" i="0" u="none" strike="noStrike" cap="none" normalizeH="0" baseline="0" dirty="0" smtClean="0">
                <a:ln>
                  <a:noFill/>
                </a:ln>
                <a:solidFill>
                  <a:schemeClr val="tx1"/>
                </a:solidFill>
                <a:effectLst/>
                <a:latin typeface="Arial" panose="020B0604020202020204" pitchFamily="34" charset="0"/>
              </a:rPr>
              <a:t> Create custom validator functions that can be applied in the same way as built-in validators.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smtClean="0">
                <a:ln>
                  <a:noFill/>
                </a:ln>
                <a:solidFill>
                  <a:schemeClr val="tx1"/>
                </a:solidFill>
                <a:effectLst/>
                <a:latin typeface="Arial" panose="020B0604020202020204" pitchFamily="34" charset="0"/>
              </a:rPr>
              <a:t>Async</a:t>
            </a:r>
            <a:r>
              <a:rPr kumimoji="0" lang="en-US" altLang="en-US" sz="2000" b="1" i="0" u="none" strike="noStrike" cap="none" normalizeH="0" baseline="0" dirty="0" smtClean="0">
                <a:ln>
                  <a:noFill/>
                </a:ln>
                <a:solidFill>
                  <a:schemeClr val="tx1"/>
                </a:solidFill>
                <a:effectLst/>
                <a:latin typeface="Arial" panose="020B0604020202020204" pitchFamily="34" charset="0"/>
              </a:rPr>
              <a:t> Validators:</a:t>
            </a:r>
            <a:r>
              <a:rPr kumimoji="0" lang="en-US" altLang="en-US" sz="2000" b="0" i="0" u="none" strike="noStrike" cap="none" normalizeH="0" baseline="0" dirty="0" smtClean="0">
                <a:ln>
                  <a:noFill/>
                </a:ln>
                <a:solidFill>
                  <a:schemeClr val="tx1"/>
                </a:solidFill>
                <a:effectLst/>
                <a:latin typeface="Arial" panose="020B0604020202020204" pitchFamily="34" charset="0"/>
              </a:rPr>
              <a:t> Support for asynchronous validation, useful for scenarios like checking if a username is already taken.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 name="Rounded Rectangle 1"/>
          <p:cNvSpPr/>
          <p:nvPr/>
        </p:nvSpPr>
        <p:spPr>
          <a:xfrm>
            <a:off x="1391920" y="1116623"/>
            <a:ext cx="8613726" cy="334108"/>
          </a:xfrm>
          <a:prstGeom prst="roundRect">
            <a:avLst/>
          </a:prstGeom>
          <a:noFill/>
          <a:ln w="38100"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
        <p:nvSpPr>
          <p:cNvPr id="6" name="Rounded Rectangle 5"/>
          <p:cNvSpPr/>
          <p:nvPr/>
        </p:nvSpPr>
        <p:spPr>
          <a:xfrm>
            <a:off x="694593" y="2872364"/>
            <a:ext cx="3130061" cy="1257300"/>
          </a:xfrm>
          <a:prstGeom prst="roundRect">
            <a:avLst/>
          </a:prstGeom>
          <a:noFill/>
          <a:ln w="2857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Tree>
    <p:extLst>
      <p:ext uri="{BB962C8B-B14F-4D97-AF65-F5344CB8AC3E}">
        <p14:creationId xmlns:p14="http://schemas.microsoft.com/office/powerpoint/2010/main" val="141915602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2665306" cy="457200"/>
          </a:xfrm>
          <a:ln w="25400"/>
        </p:spPr>
        <p:style>
          <a:lnRef idx="2">
            <a:schemeClr val="accent4"/>
          </a:lnRef>
          <a:fillRef idx="1">
            <a:schemeClr val="lt1"/>
          </a:fillRef>
          <a:effectRef idx="0">
            <a:schemeClr val="accent4"/>
          </a:effectRef>
          <a:fontRef idx="minor">
            <a:schemeClr val="dk1"/>
          </a:fontRef>
        </p:style>
        <p:txBody>
          <a:bodyPr>
            <a:normAutofit/>
          </a:bodyPr>
          <a:lstStyle/>
          <a:p>
            <a:r>
              <a:rPr lang="en-US" sz="2400" dirty="0"/>
              <a:t>Error Handling:</a:t>
            </a:r>
          </a:p>
        </p:txBody>
      </p:sp>
      <p:sp>
        <p:nvSpPr>
          <p:cNvPr id="3" name="Rectangle 1"/>
          <p:cNvSpPr>
            <a:spLocks noChangeArrowheads="1"/>
          </p:cNvSpPr>
          <p:nvPr/>
        </p:nvSpPr>
        <p:spPr bwMode="auto">
          <a:xfrm>
            <a:off x="1645920" y="1582399"/>
            <a:ext cx="9601200" cy="1631216"/>
          </a:xfrm>
          <a:prstGeom prst="rect">
            <a:avLst/>
          </a:prstGeom>
          <a:noFill/>
          <a:ln w="44450"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Arial" panose="020B0604020202020204" pitchFamily="34" charset="0"/>
              </a:rPr>
              <a:t>Form Control States:</a:t>
            </a:r>
            <a:r>
              <a:rPr kumimoji="0" lang="en-US" altLang="en-US" sz="2000" b="0" i="0" u="none" strike="noStrike" cap="none" normalizeH="0" baseline="0" dirty="0" smtClean="0">
                <a:ln>
                  <a:noFill/>
                </a:ln>
                <a:solidFill>
                  <a:schemeClr val="tx1"/>
                </a:solidFill>
                <a:effectLst/>
                <a:latin typeface="Arial" panose="020B0604020202020204" pitchFamily="34" charset="0"/>
              </a:rPr>
              <a:t> Use states like </a:t>
            </a:r>
            <a:r>
              <a:rPr kumimoji="0" lang="en-US" altLang="en-US" sz="2000" b="0" i="0" u="none" strike="noStrike" cap="none" normalizeH="0" baseline="0" dirty="0" smtClean="0">
                <a:ln>
                  <a:noFill/>
                </a:ln>
                <a:solidFill>
                  <a:schemeClr val="tx1"/>
                </a:solidFill>
                <a:effectLst/>
                <a:latin typeface="Arial Unicode MS"/>
              </a:rPr>
              <a:t>valid</a:t>
            </a:r>
            <a:r>
              <a:rPr kumimoji="0" lang="en-US" altLang="en-US" sz="2000" b="0" i="0" u="none" strike="noStrike" cap="none" normalizeH="0" baseline="0" dirty="0" smtClean="0">
                <a:ln>
                  <a:noFill/>
                </a:ln>
                <a:solidFill>
                  <a:schemeClr val="tx1"/>
                </a:solidFill>
                <a:effectLst/>
              </a:rPr>
              <a:t>, </a:t>
            </a:r>
            <a:r>
              <a:rPr kumimoji="0" lang="en-US" altLang="en-US" sz="2000" b="0" i="0" u="none" strike="noStrike" cap="none" normalizeH="0" baseline="0" dirty="0" smtClean="0">
                <a:ln>
                  <a:noFill/>
                </a:ln>
                <a:solidFill>
                  <a:schemeClr val="tx1"/>
                </a:solidFill>
                <a:effectLst/>
                <a:latin typeface="Arial Unicode MS"/>
              </a:rPr>
              <a:t>invalid</a:t>
            </a:r>
            <a:r>
              <a:rPr kumimoji="0" lang="en-US" altLang="en-US" sz="2000" b="0" i="0" u="none" strike="noStrike" cap="none" normalizeH="0" baseline="0" dirty="0" smtClean="0">
                <a:ln>
                  <a:noFill/>
                </a:ln>
                <a:solidFill>
                  <a:schemeClr val="tx1"/>
                </a:solidFill>
                <a:effectLst/>
              </a:rPr>
              <a:t>, </a:t>
            </a:r>
            <a:r>
              <a:rPr kumimoji="0" lang="en-US" altLang="en-US" sz="2000" b="0" i="0" u="none" strike="noStrike" cap="none" normalizeH="0" baseline="0" dirty="0" smtClean="0">
                <a:ln>
                  <a:noFill/>
                </a:ln>
                <a:solidFill>
                  <a:schemeClr val="tx1"/>
                </a:solidFill>
                <a:effectLst/>
                <a:latin typeface="Arial Unicode MS"/>
              </a:rPr>
              <a:t>touched</a:t>
            </a:r>
            <a:r>
              <a:rPr kumimoji="0" lang="en-US" altLang="en-US" sz="2000" b="0" i="0" u="none" strike="noStrike" cap="none" normalizeH="0" baseline="0" dirty="0" smtClean="0">
                <a:ln>
                  <a:noFill/>
                </a:ln>
                <a:solidFill>
                  <a:schemeClr val="tx1"/>
                </a:solidFill>
                <a:effectLst/>
              </a:rPr>
              <a:t>, </a:t>
            </a:r>
            <a:r>
              <a:rPr kumimoji="0" lang="en-US" altLang="en-US" sz="2000" b="0" i="0" u="none" strike="noStrike" cap="none" normalizeH="0" baseline="0" dirty="0" smtClean="0">
                <a:ln>
                  <a:noFill/>
                </a:ln>
                <a:solidFill>
                  <a:schemeClr val="tx1"/>
                </a:solidFill>
                <a:effectLst/>
                <a:latin typeface="Arial Unicode MS"/>
              </a:rPr>
              <a:t>untouched</a:t>
            </a:r>
            <a:r>
              <a:rPr kumimoji="0" lang="en-US" altLang="en-US" sz="2000" b="0" i="0" u="none" strike="noStrike" cap="none" normalizeH="0" baseline="0" dirty="0" smtClean="0">
                <a:ln>
                  <a:noFill/>
                </a:ln>
                <a:solidFill>
                  <a:schemeClr val="tx1"/>
                </a:solidFill>
                <a:effectLst/>
              </a:rPr>
              <a:t>, </a:t>
            </a:r>
            <a:r>
              <a:rPr kumimoji="0" lang="en-US" altLang="en-US" sz="2000" b="0" i="0" u="none" strike="noStrike" cap="none" normalizeH="0" baseline="0" dirty="0" smtClean="0">
                <a:ln>
                  <a:noFill/>
                </a:ln>
                <a:solidFill>
                  <a:schemeClr val="tx1"/>
                </a:solidFill>
                <a:effectLst/>
                <a:latin typeface="Arial Unicode MS"/>
              </a:rPr>
              <a:t>dirty</a:t>
            </a:r>
            <a:r>
              <a:rPr kumimoji="0" lang="en-US" altLang="en-US" sz="2000" b="0" i="0" u="none" strike="noStrike" cap="none" normalizeH="0" baseline="0" dirty="0" smtClean="0">
                <a:ln>
                  <a:noFill/>
                </a:ln>
                <a:solidFill>
                  <a:schemeClr val="tx1"/>
                </a:solidFill>
                <a:effectLst/>
              </a:rPr>
              <a:t>, and </a:t>
            </a:r>
            <a:r>
              <a:rPr kumimoji="0" lang="en-US" altLang="en-US" sz="2000" b="0" i="0" u="none" strike="noStrike" cap="none" normalizeH="0" baseline="0" dirty="0" smtClean="0">
                <a:ln>
                  <a:noFill/>
                </a:ln>
                <a:solidFill>
                  <a:schemeClr val="tx1"/>
                </a:solidFill>
                <a:effectLst/>
                <a:latin typeface="Arial Unicode MS"/>
              </a:rPr>
              <a:t>pristine</a:t>
            </a:r>
            <a:r>
              <a:rPr kumimoji="0" lang="en-US" altLang="en-US" sz="2000" b="0" i="0" u="none" strike="noStrike" cap="none" normalizeH="0" baseline="0" dirty="0" smtClean="0">
                <a:ln>
                  <a:noFill/>
                </a:ln>
                <a:solidFill>
                  <a:schemeClr val="tx1"/>
                </a:solidFill>
                <a:effectLst/>
              </a:rPr>
              <a:t> to manage and display validation errors.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Arial" panose="020B0604020202020204" pitchFamily="34" charset="0"/>
              </a:rPr>
              <a:t>Global Error Handling:</a:t>
            </a:r>
            <a:r>
              <a:rPr kumimoji="0" lang="en-US" altLang="en-US" sz="2000" b="0" i="0" u="none" strike="noStrike" cap="none" normalizeH="0" baseline="0" dirty="0" smtClean="0">
                <a:ln>
                  <a:noFill/>
                </a:ln>
                <a:solidFill>
                  <a:schemeClr val="tx1"/>
                </a:solidFill>
                <a:effectLst/>
                <a:latin typeface="Arial" panose="020B0604020202020204" pitchFamily="34" charset="0"/>
              </a:rPr>
              <a:t> Create a global error handling service or component to manage form errors consistently across the application</a:t>
            </a:r>
            <a:r>
              <a:rPr kumimoji="0" lang="en-US" altLang="en-US" sz="1800" b="0" i="0" u="none" strike="noStrike" cap="none" normalizeH="0" baseline="0" dirty="0" smtClean="0">
                <a:ln>
                  <a:noFill/>
                </a:ln>
                <a:solidFill>
                  <a:schemeClr val="tx1"/>
                </a:solidFill>
                <a:effectLst/>
                <a:latin typeface="Arial" panose="020B0604020202020204" pitchFamily="34" charset="0"/>
              </a:rPr>
              <a:t>. </a:t>
            </a:r>
          </a:p>
        </p:txBody>
      </p:sp>
      <p:pic>
        <p:nvPicPr>
          <p:cNvPr id="4" name="Picture 3"/>
          <p:cNvPicPr>
            <a:picLocks noChangeAspect="1"/>
          </p:cNvPicPr>
          <p:nvPr/>
        </p:nvPicPr>
        <p:blipFill>
          <a:blip r:embed="rId2"/>
          <a:stretch>
            <a:fillRect/>
          </a:stretch>
        </p:blipFill>
        <p:spPr>
          <a:xfrm>
            <a:off x="543302" y="3891775"/>
            <a:ext cx="9911338" cy="2000529"/>
          </a:xfrm>
          <a:prstGeom prst="rect">
            <a:avLst/>
          </a:prstGeom>
        </p:spPr>
      </p:pic>
      <p:sp>
        <p:nvSpPr>
          <p:cNvPr id="5" name="Rectangle 4"/>
          <p:cNvSpPr/>
          <p:nvPr/>
        </p:nvSpPr>
        <p:spPr>
          <a:xfrm>
            <a:off x="1209040" y="4064000"/>
            <a:ext cx="9123680" cy="314960"/>
          </a:xfrm>
          <a:prstGeom prst="rect">
            <a:avLst/>
          </a:prstGeom>
          <a:noFill/>
          <a:ln w="2857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
        <p:nvSpPr>
          <p:cNvPr id="6" name="Rectangle 5"/>
          <p:cNvSpPr/>
          <p:nvPr/>
        </p:nvSpPr>
        <p:spPr>
          <a:xfrm>
            <a:off x="1209040" y="4899640"/>
            <a:ext cx="9123680" cy="314960"/>
          </a:xfrm>
          <a:prstGeom prst="rect">
            <a:avLst/>
          </a:prstGeom>
          <a:noFill/>
          <a:ln w="2857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Tree>
    <p:extLst>
      <p:ext uri="{BB962C8B-B14F-4D97-AF65-F5344CB8AC3E}">
        <p14:creationId xmlns:p14="http://schemas.microsoft.com/office/powerpoint/2010/main" val="340270509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5449146" cy="609600"/>
          </a:xfrm>
        </p:spPr>
        <p:style>
          <a:lnRef idx="2">
            <a:schemeClr val="accent5"/>
          </a:lnRef>
          <a:fillRef idx="1">
            <a:schemeClr val="lt1"/>
          </a:fillRef>
          <a:effectRef idx="0">
            <a:schemeClr val="accent5"/>
          </a:effectRef>
          <a:fontRef idx="minor">
            <a:schemeClr val="dk1"/>
          </a:fontRef>
        </p:style>
        <p:txBody>
          <a:bodyPr>
            <a:normAutofit/>
          </a:bodyPr>
          <a:lstStyle/>
          <a:p>
            <a:r>
              <a:rPr lang="en-US" sz="2800" dirty="0"/>
              <a:t>Angular Routing and Navigation</a:t>
            </a:r>
          </a:p>
        </p:txBody>
      </p:sp>
      <p:sp>
        <p:nvSpPr>
          <p:cNvPr id="3" name="Rectangle 2"/>
          <p:cNvSpPr/>
          <p:nvPr/>
        </p:nvSpPr>
        <p:spPr>
          <a:xfrm>
            <a:off x="1905000" y="1704816"/>
            <a:ext cx="8148320" cy="1200329"/>
          </a:xfrm>
          <a:prstGeom prst="rect">
            <a:avLst/>
          </a:prstGeom>
          <a:ln w="41275"/>
        </p:spPr>
        <p:style>
          <a:lnRef idx="2">
            <a:schemeClr val="accent6"/>
          </a:lnRef>
          <a:fillRef idx="1">
            <a:schemeClr val="lt1"/>
          </a:fillRef>
          <a:effectRef idx="0">
            <a:schemeClr val="accent6"/>
          </a:effectRef>
          <a:fontRef idx="minor">
            <a:schemeClr val="dk1"/>
          </a:fontRef>
        </p:style>
        <p:txBody>
          <a:bodyPr wrap="square">
            <a:spAutoFit/>
          </a:bodyPr>
          <a:lstStyle/>
          <a:p>
            <a:r>
              <a:rPr lang="en-US" dirty="0" err="1"/>
              <a:t>Angular's</a:t>
            </a:r>
            <a:r>
              <a:rPr lang="en-US" dirty="0"/>
              <a:t> routing module allows you to create Single Page Applications (SPAs) by navigating between different views or components without reloading the entire page. Below is a detailed explanation of setting up routing, navigating between routes, passing data, route guards, and lazy loading routes.</a:t>
            </a:r>
          </a:p>
        </p:txBody>
      </p:sp>
      <p:sp>
        <p:nvSpPr>
          <p:cNvPr id="4" name="Rectangle 3"/>
          <p:cNvSpPr/>
          <p:nvPr/>
        </p:nvSpPr>
        <p:spPr>
          <a:xfrm>
            <a:off x="202064" y="3498334"/>
            <a:ext cx="4745594" cy="369332"/>
          </a:xfrm>
          <a:prstGeom prst="rect">
            <a:avLst/>
          </a:prstGeom>
        </p:spPr>
        <p:txBody>
          <a:bodyPr wrap="none">
            <a:spAutoFit/>
          </a:bodyPr>
          <a:lstStyle/>
          <a:p>
            <a:r>
              <a:rPr lang="en-US" dirty="0" smtClean="0"/>
              <a:t>Setting </a:t>
            </a:r>
            <a:r>
              <a:rPr lang="en-US" dirty="0"/>
              <a:t>Up Routing in an Angular Application</a:t>
            </a:r>
          </a:p>
        </p:txBody>
      </p:sp>
      <p:sp>
        <p:nvSpPr>
          <p:cNvPr id="5" name="Rectangle 1"/>
          <p:cNvSpPr>
            <a:spLocks noChangeArrowheads="1"/>
          </p:cNvSpPr>
          <p:nvPr/>
        </p:nvSpPr>
        <p:spPr bwMode="auto">
          <a:xfrm>
            <a:off x="1905000" y="4361765"/>
            <a:ext cx="8442960" cy="1200329"/>
          </a:xfrm>
          <a:prstGeom prst="rect">
            <a:avLst/>
          </a:prstGeom>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smtClean="0">
                <a:ln>
                  <a:noFill/>
                </a:ln>
                <a:solidFill>
                  <a:schemeClr val="tx1"/>
                </a:solidFill>
                <a:effectLst/>
                <a:latin typeface="Arial" panose="020B0604020202020204" pitchFamily="34" charset="0"/>
              </a:rPr>
              <a:t>Routing in Angular is managed by the Angular Router, which enables navigation between different views or components.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smtClean="0">
                <a:ln>
                  <a:noFill/>
                </a:ln>
                <a:solidFill>
                  <a:schemeClr val="tx1"/>
                </a:solidFill>
                <a:effectLst/>
                <a:latin typeface="Arial" panose="020B0604020202020204" pitchFamily="34" charset="0"/>
              </a:rPr>
              <a:t>To use routing, you need to set up a </a:t>
            </a:r>
            <a:r>
              <a:rPr kumimoji="0" lang="en-US" altLang="en-US" b="0" i="0" u="none" strike="noStrike" cap="none" normalizeH="0" baseline="0" dirty="0" err="1" smtClean="0">
                <a:ln>
                  <a:noFill/>
                </a:ln>
                <a:solidFill>
                  <a:schemeClr val="tx1"/>
                </a:solidFill>
                <a:effectLst/>
                <a:latin typeface="Arial Unicode MS"/>
              </a:rPr>
              <a:t>RouterModule</a:t>
            </a:r>
            <a:r>
              <a:rPr kumimoji="0" lang="en-US" altLang="en-US" b="0" i="0" u="none" strike="noStrike" cap="none" normalizeH="0" baseline="0" dirty="0" smtClean="0">
                <a:ln>
                  <a:noFill/>
                </a:ln>
                <a:solidFill>
                  <a:schemeClr val="tx1"/>
                </a:solidFill>
                <a:effectLst/>
              </a:rPr>
              <a:t> in your Angular application and define routes.</a:t>
            </a:r>
            <a:r>
              <a:rPr kumimoji="0" lang="en-US" altLang="en-US" b="0" i="0" u="none" strike="noStrike" cap="none" normalizeH="0" baseline="0" dirty="0" smtClean="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353253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grpId="0" nodeType="clickEffect">
                                  <p:stCondLst>
                                    <p:cond delay="0"/>
                                  </p:stCondLst>
                                  <p:iterate type="lt">
                                    <p:tmAbs val="25"/>
                                  </p:iterate>
                                  <p:childTnLst>
                                    <p:set>
                                      <p:cBhvr override="childStyle">
                                        <p:cTn id="6" dur="indefinite"/>
                                        <p:tgtEl>
                                          <p:spTgt spid="2"/>
                                        </p:tgtEl>
                                        <p:attrNameLst>
                                          <p:attrName>style.fontWeight</p:attrName>
                                        </p:attrNameLst>
                                      </p:cBhvr>
                                      <p:to>
                                        <p:strVal val="bold"/>
                                      </p:to>
                                    </p:set>
                                  </p:childTnLst>
                                </p:cTn>
                              </p:par>
                            </p:childTnLst>
                          </p:cTn>
                        </p:par>
                      </p:childTnLst>
                    </p:cTn>
                  </p:par>
                  <p:par>
                    <p:cTn id="7" fill="hold">
                      <p:stCondLst>
                        <p:cond delay="indefinite"/>
                      </p:stCondLst>
                      <p:childTnLst>
                        <p:par>
                          <p:cTn id="8" fill="hold">
                            <p:stCondLst>
                              <p:cond delay="0"/>
                            </p:stCondLst>
                            <p:childTnLst>
                              <p:par>
                                <p:cTn id="9" presetID="1" presetClass="emph" presetSubtype="2" fill="hold" nodeType="clickEffect">
                                  <p:stCondLst>
                                    <p:cond delay="0"/>
                                  </p:stCondLst>
                                  <p:childTnLst>
                                    <p:animClr clrSpc="rgb" dir="cw">
                                      <p:cBhvr>
                                        <p:cTn id="10" dur="2000" fill="hold"/>
                                        <p:tgtEl>
                                          <p:spTgt spid="3"/>
                                        </p:tgtEl>
                                        <p:attrNameLst>
                                          <p:attrName>fillcolor</p:attrName>
                                        </p:attrNameLst>
                                      </p:cBhvr>
                                      <p:to>
                                        <a:schemeClr val="accent2"/>
                                      </p:to>
                                    </p:animClr>
                                    <p:set>
                                      <p:cBhvr>
                                        <p:cTn id="11" dur="2000" fill="hold"/>
                                        <p:tgtEl>
                                          <p:spTgt spid="3"/>
                                        </p:tgtEl>
                                        <p:attrNameLst>
                                          <p:attrName>fill.type</p:attrName>
                                        </p:attrNameLst>
                                      </p:cBhvr>
                                      <p:to>
                                        <p:strVal val="solid"/>
                                      </p:to>
                                    </p:set>
                                    <p:set>
                                      <p:cBhvr>
                                        <p:cTn id="12" dur="2000" fill="hold"/>
                                        <p:tgtEl>
                                          <p:spTgt spid="3"/>
                                        </p:tgtEl>
                                        <p:attrNameLst>
                                          <p:attrName>fill.on</p:attrName>
                                        </p:attrNameLst>
                                      </p:cBhvr>
                                      <p:to>
                                        <p:strVal val="true"/>
                                      </p:to>
                                    </p:se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454587" y="960325"/>
            <a:ext cx="7735380" cy="2345584"/>
          </a:xfrm>
          <a:prstGeom prst="rect">
            <a:avLst/>
          </a:prstGeom>
        </p:spPr>
      </p:pic>
      <p:sp>
        <p:nvSpPr>
          <p:cNvPr id="4" name="Rectangle 3"/>
          <p:cNvSpPr/>
          <p:nvPr/>
        </p:nvSpPr>
        <p:spPr>
          <a:xfrm>
            <a:off x="633046" y="219808"/>
            <a:ext cx="4835769" cy="562707"/>
          </a:xfrm>
          <a:prstGeom prst="rect">
            <a:avLst/>
          </a:prstGeom>
          <a:noFill/>
          <a:ln w="3810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r>
              <a:rPr lang="en-US" dirty="0" smtClean="0"/>
              <a:t>Promise And Observables</a:t>
            </a:r>
            <a:endParaRPr lang="en-US" dirty="0"/>
          </a:p>
        </p:txBody>
      </p:sp>
      <p:pic>
        <p:nvPicPr>
          <p:cNvPr id="5" name="Picture 4"/>
          <p:cNvPicPr>
            <a:picLocks noChangeAspect="1"/>
          </p:cNvPicPr>
          <p:nvPr/>
        </p:nvPicPr>
        <p:blipFill>
          <a:blip r:embed="rId3"/>
          <a:stretch>
            <a:fillRect/>
          </a:stretch>
        </p:blipFill>
        <p:spPr>
          <a:xfrm>
            <a:off x="1559377" y="3483719"/>
            <a:ext cx="7630590" cy="3266878"/>
          </a:xfrm>
          <a:prstGeom prst="rect">
            <a:avLst/>
          </a:prstGeom>
        </p:spPr>
      </p:pic>
    </p:spTree>
    <p:extLst>
      <p:ext uri="{BB962C8B-B14F-4D97-AF65-F5344CB8AC3E}">
        <p14:creationId xmlns:p14="http://schemas.microsoft.com/office/powerpoint/2010/main" val="324208300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60566" y="297627"/>
            <a:ext cx="9259354" cy="2686425"/>
          </a:xfrm>
          <a:prstGeom prst="rect">
            <a:avLst/>
          </a:prstGeom>
        </p:spPr>
      </p:pic>
      <p:sp>
        <p:nvSpPr>
          <p:cNvPr id="4" name="Rounded Rectangle 3"/>
          <p:cNvSpPr/>
          <p:nvPr/>
        </p:nvSpPr>
        <p:spPr>
          <a:xfrm>
            <a:off x="497840" y="2062480"/>
            <a:ext cx="8422640" cy="640080"/>
          </a:xfrm>
          <a:prstGeom prst="roundRect">
            <a:avLst/>
          </a:prstGeom>
          <a:noFill/>
          <a:ln w="5397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cxnSp>
        <p:nvCxnSpPr>
          <p:cNvPr id="6" name="Straight Arrow Connector 5"/>
          <p:cNvCxnSpPr/>
          <p:nvPr/>
        </p:nvCxnSpPr>
        <p:spPr>
          <a:xfrm flipH="1" flipV="1">
            <a:off x="3027680" y="1158240"/>
            <a:ext cx="1320800" cy="10464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H="1" flipV="1">
            <a:off x="3576320" y="1422400"/>
            <a:ext cx="2133600" cy="1005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497840" y="3254800"/>
            <a:ext cx="2142190" cy="369332"/>
          </a:xfrm>
          <a:prstGeom prst="rect">
            <a:avLst/>
          </a:prstGeom>
        </p:spPr>
        <p:style>
          <a:lnRef idx="2">
            <a:schemeClr val="accent4"/>
          </a:lnRef>
          <a:fillRef idx="1">
            <a:schemeClr val="lt1"/>
          </a:fillRef>
          <a:effectRef idx="0">
            <a:schemeClr val="accent4"/>
          </a:effectRef>
          <a:fontRef idx="minor">
            <a:schemeClr val="dk1"/>
          </a:fontRef>
        </p:style>
        <p:txBody>
          <a:bodyPr wrap="none">
            <a:spAutoFit/>
          </a:bodyPr>
          <a:lstStyle/>
          <a:p>
            <a:r>
              <a:rPr lang="en-US" dirty="0"/>
              <a:t>Add Router Outlet:</a:t>
            </a:r>
          </a:p>
        </p:txBody>
      </p:sp>
      <p:pic>
        <p:nvPicPr>
          <p:cNvPr id="11" name="Picture 10"/>
          <p:cNvPicPr>
            <a:picLocks noChangeAspect="1"/>
          </p:cNvPicPr>
          <p:nvPr/>
        </p:nvPicPr>
        <p:blipFill>
          <a:blip r:embed="rId3"/>
          <a:stretch>
            <a:fillRect/>
          </a:stretch>
        </p:blipFill>
        <p:spPr>
          <a:xfrm>
            <a:off x="849974" y="3928933"/>
            <a:ext cx="4941226" cy="1657581"/>
          </a:xfrm>
          <a:prstGeom prst="rect">
            <a:avLst/>
          </a:prstGeom>
        </p:spPr>
      </p:pic>
      <p:sp>
        <p:nvSpPr>
          <p:cNvPr id="12" name="Rounded Rectangle 11"/>
          <p:cNvSpPr/>
          <p:nvPr/>
        </p:nvSpPr>
        <p:spPr>
          <a:xfrm>
            <a:off x="1137920" y="4338320"/>
            <a:ext cx="3769360" cy="589280"/>
          </a:xfrm>
          <a:prstGeom prst="round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3" name="Rounded Rectangle 12"/>
          <p:cNvSpPr/>
          <p:nvPr/>
        </p:nvSpPr>
        <p:spPr>
          <a:xfrm>
            <a:off x="880454" y="5174427"/>
            <a:ext cx="3620426" cy="301813"/>
          </a:xfrm>
          <a:prstGeom prst="roundRect">
            <a:avLst/>
          </a:prstGeom>
          <a:no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a:p>
        </p:txBody>
      </p:sp>
    </p:spTree>
    <p:extLst>
      <p:ext uri="{BB962C8B-B14F-4D97-AF65-F5344CB8AC3E}">
        <p14:creationId xmlns:p14="http://schemas.microsoft.com/office/powerpoint/2010/main" val="153820029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79117" y="318254"/>
            <a:ext cx="4785926" cy="369332"/>
          </a:xfrm>
          <a:prstGeom prst="rect">
            <a:avLst/>
          </a:prstGeom>
          <a:ln w="41275"/>
        </p:spPr>
        <p:style>
          <a:lnRef idx="2">
            <a:schemeClr val="accent5"/>
          </a:lnRef>
          <a:fillRef idx="1">
            <a:schemeClr val="lt1"/>
          </a:fillRef>
          <a:effectRef idx="0">
            <a:schemeClr val="accent5"/>
          </a:effectRef>
          <a:fontRef idx="minor">
            <a:schemeClr val="dk1"/>
          </a:fontRef>
        </p:style>
        <p:txBody>
          <a:bodyPr wrap="none">
            <a:spAutoFit/>
          </a:bodyPr>
          <a:lstStyle/>
          <a:p>
            <a:r>
              <a:rPr lang="en-US" dirty="0"/>
              <a:t>Navigating Between Routes and Passing Data</a:t>
            </a:r>
          </a:p>
        </p:txBody>
      </p:sp>
      <p:sp>
        <p:nvSpPr>
          <p:cNvPr id="4" name="Rectangle 1"/>
          <p:cNvSpPr>
            <a:spLocks noChangeArrowheads="1"/>
          </p:cNvSpPr>
          <p:nvPr/>
        </p:nvSpPr>
        <p:spPr bwMode="auto">
          <a:xfrm>
            <a:off x="1280160" y="994509"/>
            <a:ext cx="9846735" cy="1292662"/>
          </a:xfrm>
          <a:prstGeom prst="rect">
            <a:avLst/>
          </a:prstGeom>
          <a:ln w="47625"/>
        </p:spPr>
        <p:style>
          <a:lnRef idx="2">
            <a:schemeClr val="accent4"/>
          </a:lnRef>
          <a:fillRef idx="1">
            <a:schemeClr val="lt1"/>
          </a:fillRef>
          <a:effectRef idx="0">
            <a:schemeClr val="accent4"/>
          </a:effectRef>
          <a:fontRef idx="minor">
            <a:schemeClr val="dk1"/>
          </a:fontRef>
        </p:style>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chemeClr val="tx1"/>
                </a:solidFill>
                <a:effectLst/>
                <a:latin typeface="Arial" panose="020B0604020202020204" pitchFamily="34" charset="0"/>
              </a:rPr>
              <a:t>Navigating Between Routes:</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smtClean="0">
                <a:ln>
                  <a:noFill/>
                </a:ln>
                <a:solidFill>
                  <a:schemeClr val="tx1"/>
                </a:solidFill>
                <a:effectLst/>
                <a:latin typeface="Arial" panose="020B0604020202020204" pitchFamily="34" charset="0"/>
              </a:rPr>
              <a:t>RouterLink</a:t>
            </a:r>
            <a:r>
              <a:rPr kumimoji="0" lang="en-US" altLang="en-US" sz="2000" b="1" i="0" u="none" strike="noStrike" cap="none" normalizeH="0" baseline="0" dirty="0" smtClean="0">
                <a:ln>
                  <a:noFill/>
                </a:ln>
                <a:solidFill>
                  <a:schemeClr val="tx1"/>
                </a:solidFill>
                <a:effectLst/>
                <a:latin typeface="Arial" panose="020B0604020202020204" pitchFamily="34" charset="0"/>
              </a:rPr>
              <a:t>:</a:t>
            </a:r>
            <a:r>
              <a:rPr kumimoji="0" lang="en-US" altLang="en-US" sz="2000" b="0" i="0" u="none" strike="noStrike" cap="none" normalizeH="0" baseline="0" dirty="0" smtClean="0">
                <a:ln>
                  <a:noFill/>
                </a:ln>
                <a:solidFill>
                  <a:schemeClr val="tx1"/>
                </a:solidFill>
                <a:effectLst/>
                <a:latin typeface="Arial" panose="020B0604020202020204" pitchFamily="34" charset="0"/>
              </a:rPr>
              <a:t> Use the </a:t>
            </a:r>
            <a:r>
              <a:rPr kumimoji="0" lang="en-US" altLang="en-US" sz="2000" b="0" i="0" u="none" strike="noStrike" cap="none" normalizeH="0" baseline="0" dirty="0" err="1" smtClean="0">
                <a:ln>
                  <a:noFill/>
                </a:ln>
                <a:solidFill>
                  <a:schemeClr val="tx1"/>
                </a:solidFill>
                <a:effectLst/>
                <a:latin typeface="Arial Unicode MS"/>
              </a:rPr>
              <a:t>routerLink</a:t>
            </a:r>
            <a:r>
              <a:rPr kumimoji="0" lang="en-US" altLang="en-US" sz="2000" b="0" i="0" u="none" strike="noStrike" cap="none" normalizeH="0" baseline="0" dirty="0" smtClean="0">
                <a:ln>
                  <a:noFill/>
                </a:ln>
                <a:solidFill>
                  <a:schemeClr val="tx1"/>
                </a:solidFill>
                <a:effectLst/>
              </a:rPr>
              <a:t> directive to navigate between routes declaratively.</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Arial" panose="020B0604020202020204" pitchFamily="34" charset="0"/>
              </a:rPr>
              <a:t>Router Service:</a:t>
            </a:r>
            <a:r>
              <a:rPr kumimoji="0" lang="en-US" altLang="en-US" sz="2000" b="0" i="0" u="none" strike="noStrike" cap="none" normalizeH="0" baseline="0" dirty="0" smtClean="0">
                <a:ln>
                  <a:noFill/>
                </a:ln>
                <a:solidFill>
                  <a:schemeClr val="tx1"/>
                </a:solidFill>
                <a:effectLst/>
                <a:latin typeface="Arial" panose="020B0604020202020204" pitchFamily="34" charset="0"/>
              </a:rPr>
              <a:t> Use the </a:t>
            </a:r>
            <a:r>
              <a:rPr kumimoji="0" lang="en-US" altLang="en-US" sz="2000" b="0" i="0" u="none" strike="noStrike" cap="none" normalizeH="0" baseline="0" dirty="0" smtClean="0">
                <a:ln>
                  <a:noFill/>
                </a:ln>
                <a:solidFill>
                  <a:schemeClr val="tx1"/>
                </a:solidFill>
                <a:effectLst/>
                <a:latin typeface="Arial Unicode MS"/>
              </a:rPr>
              <a:t>Router</a:t>
            </a:r>
            <a:r>
              <a:rPr kumimoji="0" lang="en-US" altLang="en-US" sz="2000" b="0" i="0" u="none" strike="noStrike" cap="none" normalizeH="0" baseline="0" dirty="0" smtClean="0">
                <a:ln>
                  <a:noFill/>
                </a:ln>
                <a:solidFill>
                  <a:schemeClr val="tx1"/>
                </a:solidFill>
                <a:effectLst/>
              </a:rPr>
              <a:t> service to navigate programmatically.</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Rectangle 4"/>
          <p:cNvSpPr/>
          <p:nvPr/>
        </p:nvSpPr>
        <p:spPr>
          <a:xfrm>
            <a:off x="476575" y="2577068"/>
            <a:ext cx="4391010" cy="369332"/>
          </a:xfrm>
          <a:prstGeom prst="rect">
            <a:avLst/>
          </a:prstGeom>
          <a:ln w="53975"/>
        </p:spPr>
        <p:style>
          <a:lnRef idx="2">
            <a:schemeClr val="accent5"/>
          </a:lnRef>
          <a:fillRef idx="1">
            <a:schemeClr val="lt1"/>
          </a:fillRef>
          <a:effectRef idx="0">
            <a:schemeClr val="accent5"/>
          </a:effectRef>
          <a:fontRef idx="minor">
            <a:schemeClr val="dk1"/>
          </a:fontRef>
        </p:style>
        <p:txBody>
          <a:bodyPr wrap="none">
            <a:spAutoFit/>
          </a:bodyPr>
          <a:lstStyle/>
          <a:p>
            <a:r>
              <a:rPr lang="en-US" dirty="0"/>
              <a:t>&lt;a </a:t>
            </a:r>
            <a:r>
              <a:rPr lang="en-US" dirty="0" err="1"/>
              <a:t>routerLink</a:t>
            </a:r>
            <a:r>
              <a:rPr lang="en-US" dirty="0"/>
              <a:t>="/about"&gt;Go to About&lt;/a&gt;</a:t>
            </a:r>
          </a:p>
        </p:txBody>
      </p:sp>
      <p:pic>
        <p:nvPicPr>
          <p:cNvPr id="6" name="Picture 5"/>
          <p:cNvPicPr>
            <a:picLocks noChangeAspect="1"/>
          </p:cNvPicPr>
          <p:nvPr/>
        </p:nvPicPr>
        <p:blipFill>
          <a:blip r:embed="rId2"/>
          <a:stretch>
            <a:fillRect/>
          </a:stretch>
        </p:blipFill>
        <p:spPr>
          <a:xfrm>
            <a:off x="5065043" y="2434036"/>
            <a:ext cx="6803622" cy="1824175"/>
          </a:xfrm>
          <a:prstGeom prst="rect">
            <a:avLst/>
          </a:prstGeom>
        </p:spPr>
      </p:pic>
      <p:sp>
        <p:nvSpPr>
          <p:cNvPr id="7" name="Rectangle 6"/>
          <p:cNvSpPr/>
          <p:nvPr/>
        </p:nvSpPr>
        <p:spPr>
          <a:xfrm>
            <a:off x="189798" y="4390303"/>
            <a:ext cx="5818003" cy="369332"/>
          </a:xfrm>
          <a:prstGeom prst="rect">
            <a:avLst/>
          </a:prstGeom>
          <a:ln w="41275"/>
        </p:spPr>
        <p:style>
          <a:lnRef idx="2">
            <a:schemeClr val="accent5"/>
          </a:lnRef>
          <a:fillRef idx="1">
            <a:schemeClr val="lt1"/>
          </a:fillRef>
          <a:effectRef idx="0">
            <a:schemeClr val="accent5"/>
          </a:effectRef>
          <a:fontRef idx="minor">
            <a:schemeClr val="dk1"/>
          </a:fontRef>
        </p:style>
        <p:txBody>
          <a:bodyPr wrap="none">
            <a:spAutoFit/>
          </a:bodyPr>
          <a:lstStyle/>
          <a:p>
            <a:r>
              <a:rPr lang="en-US" dirty="0"/>
              <a:t>{ path: 'product/:id', component: </a:t>
            </a:r>
            <a:r>
              <a:rPr lang="en-US" dirty="0" err="1"/>
              <a:t>ProductComponent</a:t>
            </a:r>
            <a:r>
              <a:rPr lang="en-US" dirty="0"/>
              <a:t> }</a:t>
            </a:r>
          </a:p>
        </p:txBody>
      </p:sp>
      <p:pic>
        <p:nvPicPr>
          <p:cNvPr id="8" name="Picture 7"/>
          <p:cNvPicPr>
            <a:picLocks noChangeAspect="1"/>
          </p:cNvPicPr>
          <p:nvPr/>
        </p:nvPicPr>
        <p:blipFill>
          <a:blip r:embed="rId3"/>
          <a:stretch>
            <a:fillRect/>
          </a:stretch>
        </p:blipFill>
        <p:spPr>
          <a:xfrm>
            <a:off x="5361270" y="4891727"/>
            <a:ext cx="6211167" cy="1971040"/>
          </a:xfrm>
          <a:prstGeom prst="rect">
            <a:avLst/>
          </a:prstGeom>
        </p:spPr>
      </p:pic>
    </p:spTree>
    <p:extLst>
      <p:ext uri="{BB962C8B-B14F-4D97-AF65-F5344CB8AC3E}">
        <p14:creationId xmlns:p14="http://schemas.microsoft.com/office/powerpoint/2010/main" val="3722789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2927512" cy="638908"/>
          </a:xfrm>
        </p:spPr>
        <p:txBody>
          <a:bodyPr>
            <a:normAutofit fontScale="90000"/>
          </a:bodyPr>
          <a:lstStyle/>
          <a:p>
            <a:r>
              <a:rPr lang="en-US" dirty="0"/>
              <a:t>Lazy Loading </a:t>
            </a:r>
          </a:p>
        </p:txBody>
      </p:sp>
      <p:sp>
        <p:nvSpPr>
          <p:cNvPr id="3" name="Rectangle 2"/>
          <p:cNvSpPr/>
          <p:nvPr/>
        </p:nvSpPr>
        <p:spPr>
          <a:xfrm>
            <a:off x="1386254" y="1248508"/>
            <a:ext cx="8891954" cy="1477328"/>
          </a:xfrm>
          <a:prstGeom prst="rect">
            <a:avLst/>
          </a:prstGeom>
          <a:ln w="57150"/>
        </p:spPr>
        <p:style>
          <a:lnRef idx="2">
            <a:schemeClr val="accent5"/>
          </a:lnRef>
          <a:fillRef idx="1">
            <a:schemeClr val="lt1"/>
          </a:fillRef>
          <a:effectRef idx="0">
            <a:schemeClr val="accent5"/>
          </a:effectRef>
          <a:fontRef idx="minor">
            <a:schemeClr val="dk1"/>
          </a:fontRef>
        </p:style>
        <p:txBody>
          <a:bodyPr wrap="square">
            <a:spAutoFit/>
          </a:bodyPr>
          <a:lstStyle/>
          <a:p>
            <a:pPr algn="just"/>
            <a:r>
              <a:rPr lang="en-US" dirty="0"/>
              <a:t>In Angular 17, lazy loading continues to be an essential feature for optimizing the performance of Angular applications. Angular 17 enhances the lazy loading capabilities with better tooling, more intuitive APIs, and improved performance, making it even easier for developers to manage and implement lazy loading effectively</a:t>
            </a:r>
          </a:p>
        </p:txBody>
      </p:sp>
      <p:sp>
        <p:nvSpPr>
          <p:cNvPr id="4" name="Rectangle 3"/>
          <p:cNvSpPr/>
          <p:nvPr/>
        </p:nvSpPr>
        <p:spPr>
          <a:xfrm>
            <a:off x="1670537" y="2899092"/>
            <a:ext cx="9328639" cy="1754326"/>
          </a:xfrm>
          <a:prstGeom prst="rect">
            <a:avLst/>
          </a:prstGeom>
          <a:ln w="57150"/>
        </p:spPr>
        <p:style>
          <a:lnRef idx="2">
            <a:schemeClr val="accent6"/>
          </a:lnRef>
          <a:fillRef idx="1">
            <a:schemeClr val="lt1"/>
          </a:fillRef>
          <a:effectRef idx="0">
            <a:schemeClr val="accent6"/>
          </a:effectRef>
          <a:fontRef idx="minor">
            <a:schemeClr val="dk1"/>
          </a:fontRef>
        </p:style>
        <p:txBody>
          <a:bodyPr wrap="square">
            <a:spAutoFit/>
          </a:bodyPr>
          <a:lstStyle/>
          <a:p>
            <a:r>
              <a:rPr lang="en-US" dirty="0" err="1"/>
              <a:t>const</a:t>
            </a:r>
            <a:r>
              <a:rPr lang="en-US" dirty="0"/>
              <a:t> routes: Routes = [</a:t>
            </a:r>
          </a:p>
          <a:p>
            <a:r>
              <a:rPr lang="en-US" dirty="0"/>
              <a:t>  {</a:t>
            </a:r>
          </a:p>
          <a:p>
            <a:r>
              <a:rPr lang="en-US" dirty="0"/>
              <a:t>    path: 'feature',</a:t>
            </a:r>
          </a:p>
          <a:p>
            <a:r>
              <a:rPr lang="en-US" dirty="0"/>
              <a:t>    </a:t>
            </a:r>
            <a:r>
              <a:rPr lang="en-US" dirty="0" err="1"/>
              <a:t>loadChildren</a:t>
            </a:r>
            <a:r>
              <a:rPr lang="en-US" dirty="0"/>
              <a:t>: () =&gt; import('./feature/</a:t>
            </a:r>
            <a:r>
              <a:rPr lang="en-US" dirty="0" err="1"/>
              <a:t>feature.module</a:t>
            </a:r>
            <a:r>
              <a:rPr lang="en-US" dirty="0"/>
              <a:t>').then(m =&gt; </a:t>
            </a:r>
            <a:r>
              <a:rPr lang="en-US" dirty="0" err="1"/>
              <a:t>m.FeatureModule</a:t>
            </a:r>
            <a:r>
              <a:rPr lang="en-US" dirty="0"/>
              <a:t>)</a:t>
            </a:r>
          </a:p>
          <a:p>
            <a:r>
              <a:rPr lang="en-US" dirty="0"/>
              <a:t>  }</a:t>
            </a:r>
          </a:p>
          <a:p>
            <a:r>
              <a:rPr lang="en-US" dirty="0"/>
              <a:t>];</a:t>
            </a:r>
          </a:p>
        </p:txBody>
      </p:sp>
      <p:sp>
        <p:nvSpPr>
          <p:cNvPr id="5" name="Rectangle 1"/>
          <p:cNvSpPr>
            <a:spLocks noChangeArrowheads="1"/>
          </p:cNvSpPr>
          <p:nvPr/>
        </p:nvSpPr>
        <p:spPr bwMode="auto">
          <a:xfrm>
            <a:off x="2303584" y="4826674"/>
            <a:ext cx="8209083" cy="707886"/>
          </a:xfrm>
          <a:prstGeom prst="rect">
            <a:avLst/>
          </a:prstGeom>
          <a:ln w="57150"/>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chemeClr val="tx1"/>
                </a:solidFill>
                <a:effectLst/>
                <a:latin typeface="Arial" panose="020B0604020202020204" pitchFamily="34" charset="0"/>
              </a:rPr>
              <a:t>In this example, the </a:t>
            </a:r>
            <a:r>
              <a:rPr kumimoji="0" lang="en-US" altLang="en-US" sz="2000" b="0" i="0" u="none" strike="noStrike" cap="none" normalizeH="0" baseline="0" dirty="0" err="1" smtClean="0">
                <a:ln>
                  <a:noFill/>
                </a:ln>
                <a:solidFill>
                  <a:schemeClr val="tx1"/>
                </a:solidFill>
                <a:effectLst/>
                <a:latin typeface="Arial Unicode MS"/>
              </a:rPr>
              <a:t>FeatureModule</a:t>
            </a:r>
            <a:r>
              <a:rPr kumimoji="0" lang="en-US" altLang="en-US" sz="2000" b="0" i="0" u="none" strike="noStrike" cap="none" normalizeH="0" baseline="0" dirty="0" smtClean="0">
                <a:ln>
                  <a:noFill/>
                </a:ln>
                <a:solidFill>
                  <a:schemeClr val="tx1"/>
                </a:solidFill>
                <a:effectLst/>
              </a:rPr>
              <a:t> will only be loaded when the user navigates to the </a:t>
            </a:r>
            <a:r>
              <a:rPr kumimoji="0" lang="en-US" altLang="en-US" sz="2000" b="0" i="0" u="none" strike="noStrike" cap="none" normalizeH="0" baseline="0" dirty="0" smtClean="0">
                <a:ln>
                  <a:noFill/>
                </a:ln>
                <a:solidFill>
                  <a:schemeClr val="tx1"/>
                </a:solidFill>
                <a:effectLst/>
                <a:latin typeface="Arial Unicode MS"/>
              </a:rPr>
              <a:t>/feature</a:t>
            </a:r>
            <a:r>
              <a:rPr kumimoji="0" lang="en-US" altLang="en-US" sz="2000" b="0" i="0" u="none" strike="noStrike" cap="none" normalizeH="0" baseline="0" dirty="0" smtClean="0">
                <a:ln>
                  <a:noFill/>
                </a:ln>
                <a:solidFill>
                  <a:schemeClr val="tx1"/>
                </a:solidFill>
                <a:effectLst/>
              </a:rPr>
              <a:t> route. </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p:txBody>
      </p:sp>
      <p:sp>
        <p:nvSpPr>
          <p:cNvPr id="6" name="Rectangle 5"/>
          <p:cNvSpPr/>
          <p:nvPr/>
        </p:nvSpPr>
        <p:spPr>
          <a:xfrm>
            <a:off x="2509588" y="5969950"/>
            <a:ext cx="2618409" cy="369332"/>
          </a:xfrm>
          <a:prstGeom prst="rect">
            <a:avLst/>
          </a:prstGeom>
          <a:ln w="57150"/>
        </p:spPr>
        <p:style>
          <a:lnRef idx="2">
            <a:schemeClr val="accent6"/>
          </a:lnRef>
          <a:fillRef idx="1">
            <a:schemeClr val="lt1"/>
          </a:fillRef>
          <a:effectRef idx="0">
            <a:schemeClr val="accent6"/>
          </a:effectRef>
          <a:fontRef idx="minor">
            <a:schemeClr val="dk1"/>
          </a:fontRef>
        </p:style>
        <p:txBody>
          <a:bodyPr wrap="none">
            <a:spAutoFit/>
          </a:bodyPr>
          <a:lstStyle/>
          <a:p>
            <a:r>
              <a:rPr lang="en-US" dirty="0"/>
              <a:t>Improved </a:t>
            </a:r>
            <a:r>
              <a:rPr lang="en-US" dirty="0" smtClean="0"/>
              <a:t>Performance</a:t>
            </a:r>
            <a:endParaRPr lang="en-US" dirty="0"/>
          </a:p>
        </p:txBody>
      </p:sp>
      <p:sp>
        <p:nvSpPr>
          <p:cNvPr id="7" name="Rectangle 6"/>
          <p:cNvSpPr/>
          <p:nvPr/>
        </p:nvSpPr>
        <p:spPr>
          <a:xfrm>
            <a:off x="4999753" y="6233719"/>
            <a:ext cx="2368341" cy="369332"/>
          </a:xfrm>
          <a:prstGeom prst="rect">
            <a:avLst/>
          </a:prstGeom>
          <a:ln w="57150"/>
        </p:spPr>
        <p:style>
          <a:lnRef idx="2">
            <a:schemeClr val="accent3"/>
          </a:lnRef>
          <a:fillRef idx="1">
            <a:schemeClr val="lt1"/>
          </a:fillRef>
          <a:effectRef idx="0">
            <a:schemeClr val="accent3"/>
          </a:effectRef>
          <a:fontRef idx="minor">
            <a:schemeClr val="dk1"/>
          </a:fontRef>
        </p:style>
        <p:txBody>
          <a:bodyPr wrap="none">
            <a:spAutoFit/>
          </a:bodyPr>
          <a:lstStyle/>
          <a:p>
            <a:r>
              <a:rPr lang="en-US" dirty="0"/>
              <a:t>Preloading Strategies</a:t>
            </a:r>
          </a:p>
        </p:txBody>
      </p:sp>
    </p:spTree>
    <p:extLst>
      <p:ext uri="{BB962C8B-B14F-4D97-AF65-F5344CB8AC3E}">
        <p14:creationId xmlns:p14="http://schemas.microsoft.com/office/powerpoint/2010/main" val="75083383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1222586" cy="629920"/>
          </a:xfrm>
        </p:spPr>
        <p:txBody>
          <a:bodyPr>
            <a:normAutofit fontScale="90000"/>
          </a:bodyPr>
          <a:lstStyle/>
          <a:p>
            <a:r>
              <a:rPr lang="en-US" dirty="0"/>
              <a:t>Pipes</a:t>
            </a:r>
          </a:p>
        </p:txBody>
      </p:sp>
      <p:sp>
        <p:nvSpPr>
          <p:cNvPr id="3" name="Rectangle 2"/>
          <p:cNvSpPr/>
          <p:nvPr/>
        </p:nvSpPr>
        <p:spPr>
          <a:xfrm>
            <a:off x="1148080" y="1342797"/>
            <a:ext cx="8930640" cy="1200329"/>
          </a:xfrm>
          <a:prstGeom prst="rect">
            <a:avLst/>
          </a:prstGeom>
        </p:spPr>
        <p:txBody>
          <a:bodyPr wrap="square">
            <a:spAutoFit/>
          </a:bodyPr>
          <a:lstStyle/>
          <a:p>
            <a:r>
              <a:rPr lang="en-US" dirty="0"/>
              <a:t>Angular Pipes are a powerful feature that allows you to transform data in your templates. They are commonly used to format strings, numbers, dates, and other data types. There are built-in pipes provided by Angular, and you can also create custom pipes to handle specific data transformation needs.</a:t>
            </a:r>
          </a:p>
        </p:txBody>
      </p:sp>
      <p:sp>
        <p:nvSpPr>
          <p:cNvPr id="4" name="Rectangle 3"/>
          <p:cNvSpPr/>
          <p:nvPr/>
        </p:nvSpPr>
        <p:spPr>
          <a:xfrm>
            <a:off x="570646" y="2878574"/>
            <a:ext cx="1542795" cy="369332"/>
          </a:xfrm>
          <a:prstGeom prst="rect">
            <a:avLst/>
          </a:prstGeom>
        </p:spPr>
        <p:txBody>
          <a:bodyPr wrap="none">
            <a:spAutoFit/>
          </a:bodyPr>
          <a:lstStyle/>
          <a:p>
            <a:r>
              <a:rPr lang="en-US" dirty="0" smtClean="0"/>
              <a:t>Built-in </a:t>
            </a:r>
            <a:r>
              <a:rPr lang="en-US" dirty="0"/>
              <a:t>Pipes</a:t>
            </a:r>
          </a:p>
        </p:txBody>
      </p:sp>
      <p:sp>
        <p:nvSpPr>
          <p:cNvPr id="5" name="Rectangle 4"/>
          <p:cNvSpPr/>
          <p:nvPr/>
        </p:nvSpPr>
        <p:spPr>
          <a:xfrm>
            <a:off x="1066800" y="3404215"/>
            <a:ext cx="9479280" cy="646331"/>
          </a:xfrm>
          <a:prstGeom prst="rect">
            <a:avLst/>
          </a:prstGeom>
        </p:spPr>
        <p:txBody>
          <a:bodyPr wrap="square">
            <a:spAutoFit/>
          </a:bodyPr>
          <a:lstStyle/>
          <a:p>
            <a:r>
              <a:rPr lang="en-US" dirty="0"/>
              <a:t>Angular comes with several built-in pipes that can be used to transform data directly in your templates. Some of the most commonly used built-in pipes include:</a:t>
            </a:r>
          </a:p>
        </p:txBody>
      </p:sp>
      <p:sp>
        <p:nvSpPr>
          <p:cNvPr id="6" name="Rectangle 5"/>
          <p:cNvSpPr/>
          <p:nvPr/>
        </p:nvSpPr>
        <p:spPr>
          <a:xfrm>
            <a:off x="570646" y="4206855"/>
            <a:ext cx="1549207" cy="369332"/>
          </a:xfrm>
          <a:prstGeom prst="rect">
            <a:avLst/>
          </a:prstGeom>
        </p:spPr>
        <p:txBody>
          <a:bodyPr wrap="none">
            <a:spAutoFit/>
          </a:bodyPr>
          <a:lstStyle/>
          <a:p>
            <a:r>
              <a:rPr lang="en-US" dirty="0"/>
              <a:t>Custom Pipes</a:t>
            </a:r>
          </a:p>
        </p:txBody>
      </p:sp>
      <p:sp>
        <p:nvSpPr>
          <p:cNvPr id="7" name="Rectangle 1"/>
          <p:cNvSpPr>
            <a:spLocks noChangeArrowheads="1"/>
          </p:cNvSpPr>
          <p:nvPr/>
        </p:nvSpPr>
        <p:spPr bwMode="auto">
          <a:xfrm>
            <a:off x="985520" y="4870996"/>
            <a:ext cx="956056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Arial" panose="020B0604020202020204" pitchFamily="34" charset="0"/>
              </a:rPr>
              <a:t>Custom pipes are useful when you need to implement specific data transformations that are not covered by the built-in pipes. You can create custom pipes by implementing the </a:t>
            </a:r>
            <a:r>
              <a:rPr kumimoji="0" lang="en-US" altLang="en-US" b="0" i="0" u="none" strike="noStrike" cap="none" normalizeH="0" baseline="0" dirty="0" err="1" smtClean="0">
                <a:ln>
                  <a:noFill/>
                </a:ln>
                <a:solidFill>
                  <a:schemeClr val="tx1"/>
                </a:solidFill>
                <a:effectLst/>
                <a:latin typeface="Arial Unicode MS"/>
              </a:rPr>
              <a:t>PipeTransform</a:t>
            </a:r>
            <a:r>
              <a:rPr kumimoji="0" lang="en-US" altLang="en-US" b="0" i="0" u="none" strike="noStrike" cap="none" normalizeH="0" baseline="0" dirty="0" smtClean="0">
                <a:ln>
                  <a:noFill/>
                </a:ln>
                <a:solidFill>
                  <a:schemeClr val="tx1"/>
                </a:solidFill>
                <a:effectLst/>
              </a:rPr>
              <a:t> interface and using the </a:t>
            </a:r>
            <a:r>
              <a:rPr kumimoji="0" lang="en-US" altLang="en-US" b="0" i="0" u="none" strike="noStrike" cap="none" normalizeH="0" baseline="0" dirty="0" smtClean="0">
                <a:ln>
                  <a:noFill/>
                </a:ln>
                <a:solidFill>
                  <a:schemeClr val="tx1"/>
                </a:solidFill>
                <a:effectLst/>
                <a:latin typeface="Arial Unicode MS"/>
              </a:rPr>
              <a:t>@Pipe</a:t>
            </a:r>
            <a:r>
              <a:rPr kumimoji="0" lang="en-US" altLang="en-US" b="0" i="0" u="none" strike="noStrike" cap="none" normalizeH="0" baseline="0" dirty="0" smtClean="0">
                <a:ln>
                  <a:noFill/>
                </a:ln>
                <a:solidFill>
                  <a:schemeClr val="tx1"/>
                </a:solidFill>
                <a:effectLst/>
              </a:rPr>
              <a:t> decorator.</a:t>
            </a:r>
            <a:endParaRPr kumimoji="0" lang="en-US" altLang="en-US"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6043059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3610186" cy="416560"/>
          </a:xfrm>
        </p:spPr>
        <p:style>
          <a:lnRef idx="1">
            <a:schemeClr val="accent3"/>
          </a:lnRef>
          <a:fillRef idx="2">
            <a:schemeClr val="accent3"/>
          </a:fillRef>
          <a:effectRef idx="1">
            <a:schemeClr val="accent3"/>
          </a:effectRef>
          <a:fontRef idx="minor">
            <a:schemeClr val="dk1"/>
          </a:fontRef>
        </p:style>
        <p:txBody>
          <a:bodyPr>
            <a:normAutofit fontScale="90000"/>
          </a:bodyPr>
          <a:lstStyle/>
          <a:p>
            <a:r>
              <a:rPr lang="en-US" sz="2400" dirty="0"/>
              <a:t>Examples of </a:t>
            </a:r>
            <a:r>
              <a:rPr lang="en-US" sz="2400" dirty="0" smtClean="0"/>
              <a:t>Built-in pipes</a:t>
            </a:r>
            <a:endParaRPr lang="en-US" sz="2400" dirty="0"/>
          </a:p>
        </p:txBody>
      </p:sp>
      <p:sp>
        <p:nvSpPr>
          <p:cNvPr id="3" name="Rectangle 2"/>
          <p:cNvSpPr/>
          <p:nvPr/>
        </p:nvSpPr>
        <p:spPr>
          <a:xfrm>
            <a:off x="478756" y="1252974"/>
            <a:ext cx="1103572" cy="369332"/>
          </a:xfrm>
          <a:prstGeom prst="rect">
            <a:avLst/>
          </a:prstGeom>
          <a:ln w="57150"/>
        </p:spPr>
        <p:style>
          <a:lnRef idx="2">
            <a:schemeClr val="accent6"/>
          </a:lnRef>
          <a:fillRef idx="1">
            <a:schemeClr val="lt1"/>
          </a:fillRef>
          <a:effectRef idx="0">
            <a:schemeClr val="accent6"/>
          </a:effectRef>
          <a:fontRef idx="minor">
            <a:schemeClr val="dk1"/>
          </a:fontRef>
        </p:style>
        <p:txBody>
          <a:bodyPr wrap="none">
            <a:spAutoFit/>
          </a:bodyPr>
          <a:lstStyle/>
          <a:p>
            <a:r>
              <a:rPr lang="en-US" dirty="0" err="1" smtClean="0"/>
              <a:t>DatePipe</a:t>
            </a:r>
            <a:endParaRPr lang="en-US" dirty="0"/>
          </a:p>
        </p:txBody>
      </p:sp>
      <p:sp>
        <p:nvSpPr>
          <p:cNvPr id="4" name="Rectangle 3"/>
          <p:cNvSpPr/>
          <p:nvPr/>
        </p:nvSpPr>
        <p:spPr>
          <a:xfrm>
            <a:off x="5247593" y="1252974"/>
            <a:ext cx="4027128" cy="369332"/>
          </a:xfrm>
          <a:prstGeom prst="rect">
            <a:avLst/>
          </a:prstGeom>
        </p:spPr>
        <p:txBody>
          <a:bodyPr wrap="none">
            <a:spAutoFit/>
          </a:bodyPr>
          <a:lstStyle/>
          <a:p>
            <a:r>
              <a:rPr lang="en-US" dirty="0"/>
              <a:t>&lt;p&gt;{{ today | date:'</a:t>
            </a:r>
            <a:r>
              <a:rPr lang="en-US" dirty="0" err="1"/>
              <a:t>shortTime</a:t>
            </a:r>
            <a:r>
              <a:rPr lang="en-US" dirty="0"/>
              <a:t>' }}&lt;/p&gt;</a:t>
            </a:r>
          </a:p>
        </p:txBody>
      </p:sp>
      <p:sp>
        <p:nvSpPr>
          <p:cNvPr id="5" name="Rectangle 4"/>
          <p:cNvSpPr/>
          <p:nvPr/>
        </p:nvSpPr>
        <p:spPr>
          <a:xfrm>
            <a:off x="1963281" y="1261626"/>
            <a:ext cx="2903359" cy="369332"/>
          </a:xfrm>
          <a:prstGeom prst="rect">
            <a:avLst/>
          </a:prstGeom>
        </p:spPr>
        <p:txBody>
          <a:bodyPr wrap="none">
            <a:spAutoFit/>
          </a:bodyPr>
          <a:lstStyle/>
          <a:p>
            <a:r>
              <a:rPr lang="en-US" dirty="0"/>
              <a:t>&lt;p&gt;{{ today | date }}&lt;/p&gt; </a:t>
            </a:r>
          </a:p>
        </p:txBody>
      </p:sp>
      <p:sp>
        <p:nvSpPr>
          <p:cNvPr id="6" name="Rectangle 5"/>
          <p:cNvSpPr/>
          <p:nvPr/>
        </p:nvSpPr>
        <p:spPr>
          <a:xfrm>
            <a:off x="415678" y="2035294"/>
            <a:ext cx="1547603" cy="369332"/>
          </a:xfrm>
          <a:prstGeom prst="rect">
            <a:avLst/>
          </a:prstGeom>
        </p:spPr>
        <p:txBody>
          <a:bodyPr wrap="none">
            <a:spAutoFit/>
          </a:bodyPr>
          <a:lstStyle/>
          <a:p>
            <a:r>
              <a:rPr lang="en-US" dirty="0" err="1"/>
              <a:t>CurrencyPipe</a:t>
            </a:r>
            <a:endParaRPr lang="en-US" dirty="0"/>
          </a:p>
        </p:txBody>
      </p:sp>
      <p:sp>
        <p:nvSpPr>
          <p:cNvPr id="7" name="Rectangle 6"/>
          <p:cNvSpPr/>
          <p:nvPr/>
        </p:nvSpPr>
        <p:spPr>
          <a:xfrm>
            <a:off x="5941199" y="2035294"/>
            <a:ext cx="5601213" cy="369332"/>
          </a:xfrm>
          <a:prstGeom prst="rect">
            <a:avLst/>
          </a:prstGeom>
        </p:spPr>
        <p:txBody>
          <a:bodyPr wrap="none">
            <a:spAutoFit/>
          </a:bodyPr>
          <a:lstStyle/>
          <a:p>
            <a:r>
              <a:rPr lang="en-US" dirty="0"/>
              <a:t>&lt;p&gt;{{ amount | currency:'USD':'symbol':'1.2-2' }}&lt;/p&gt;</a:t>
            </a:r>
          </a:p>
        </p:txBody>
      </p:sp>
      <p:sp>
        <p:nvSpPr>
          <p:cNvPr id="8" name="Rectangle 7"/>
          <p:cNvSpPr/>
          <p:nvPr/>
        </p:nvSpPr>
        <p:spPr>
          <a:xfrm>
            <a:off x="2216829" y="2035294"/>
            <a:ext cx="3470822" cy="369332"/>
          </a:xfrm>
          <a:prstGeom prst="rect">
            <a:avLst/>
          </a:prstGeom>
        </p:spPr>
        <p:txBody>
          <a:bodyPr wrap="none">
            <a:spAutoFit/>
          </a:bodyPr>
          <a:lstStyle/>
          <a:p>
            <a:r>
              <a:rPr lang="en-US" dirty="0"/>
              <a:t>&lt;p&gt;{{ amount | currency }}&lt;/p&gt;</a:t>
            </a:r>
          </a:p>
        </p:txBody>
      </p:sp>
      <p:sp>
        <p:nvSpPr>
          <p:cNvPr id="9" name="Rectangle 8"/>
          <p:cNvSpPr/>
          <p:nvPr/>
        </p:nvSpPr>
        <p:spPr>
          <a:xfrm>
            <a:off x="507287" y="2817614"/>
            <a:ext cx="1451423" cy="369332"/>
          </a:xfrm>
          <a:prstGeom prst="rect">
            <a:avLst/>
          </a:prstGeom>
        </p:spPr>
        <p:txBody>
          <a:bodyPr wrap="none">
            <a:spAutoFit/>
          </a:bodyPr>
          <a:lstStyle/>
          <a:p>
            <a:r>
              <a:rPr lang="en-US" dirty="0" err="1"/>
              <a:t>DecimalPipe</a:t>
            </a:r>
            <a:endParaRPr lang="en-US" dirty="0"/>
          </a:p>
        </p:txBody>
      </p:sp>
      <p:sp>
        <p:nvSpPr>
          <p:cNvPr id="10" name="Rectangle 9"/>
          <p:cNvSpPr/>
          <p:nvPr/>
        </p:nvSpPr>
        <p:spPr>
          <a:xfrm>
            <a:off x="2290567" y="2808347"/>
            <a:ext cx="3534942" cy="369332"/>
          </a:xfrm>
          <a:prstGeom prst="rect">
            <a:avLst/>
          </a:prstGeom>
        </p:spPr>
        <p:txBody>
          <a:bodyPr wrap="none">
            <a:spAutoFit/>
          </a:bodyPr>
          <a:lstStyle/>
          <a:p>
            <a:r>
              <a:rPr lang="en-US" dirty="0"/>
              <a:t>&lt;p&gt;{{ pi | number:'1.0-2' }}&lt;/p&gt; </a:t>
            </a:r>
          </a:p>
        </p:txBody>
      </p:sp>
      <p:sp>
        <p:nvSpPr>
          <p:cNvPr id="11" name="Rectangle 10"/>
          <p:cNvSpPr/>
          <p:nvPr/>
        </p:nvSpPr>
        <p:spPr>
          <a:xfrm>
            <a:off x="415678" y="3599934"/>
            <a:ext cx="1414939" cy="369332"/>
          </a:xfrm>
          <a:prstGeom prst="rect">
            <a:avLst/>
          </a:prstGeom>
        </p:spPr>
        <p:txBody>
          <a:bodyPr wrap="none">
            <a:spAutoFit/>
          </a:bodyPr>
          <a:lstStyle/>
          <a:p>
            <a:r>
              <a:rPr lang="en-US" dirty="0" err="1"/>
              <a:t>PercentPipe</a:t>
            </a:r>
            <a:endParaRPr lang="en-US" dirty="0"/>
          </a:p>
        </p:txBody>
      </p:sp>
      <p:sp>
        <p:nvSpPr>
          <p:cNvPr id="12" name="Rectangle 11"/>
          <p:cNvSpPr/>
          <p:nvPr/>
        </p:nvSpPr>
        <p:spPr>
          <a:xfrm>
            <a:off x="1958710" y="3599934"/>
            <a:ext cx="3477234" cy="369332"/>
          </a:xfrm>
          <a:prstGeom prst="rect">
            <a:avLst/>
          </a:prstGeom>
        </p:spPr>
        <p:txBody>
          <a:bodyPr wrap="none">
            <a:spAutoFit/>
          </a:bodyPr>
          <a:lstStyle/>
          <a:p>
            <a:r>
              <a:rPr lang="en-US" dirty="0"/>
              <a:t>&lt;p&gt;{{ fraction | percent }}&lt;/p&gt; </a:t>
            </a:r>
          </a:p>
        </p:txBody>
      </p:sp>
      <p:sp>
        <p:nvSpPr>
          <p:cNvPr id="13" name="Rectangle 12"/>
          <p:cNvSpPr/>
          <p:nvPr/>
        </p:nvSpPr>
        <p:spPr>
          <a:xfrm>
            <a:off x="6384373" y="3599934"/>
            <a:ext cx="5780696" cy="369332"/>
          </a:xfrm>
          <a:prstGeom prst="rect">
            <a:avLst/>
          </a:prstGeom>
        </p:spPr>
        <p:txBody>
          <a:bodyPr wrap="square">
            <a:spAutoFit/>
          </a:bodyPr>
          <a:lstStyle/>
          <a:p>
            <a:r>
              <a:rPr lang="en-US" dirty="0"/>
              <a:t>&lt;p&gt;{{ fraction | percent:'1.0-2' }}&lt;/p&gt; </a:t>
            </a:r>
            <a:r>
              <a:rPr lang="en-US" dirty="0" smtClean="0"/>
              <a:t>Custom </a:t>
            </a:r>
            <a:r>
              <a:rPr lang="en-US" dirty="0"/>
              <a:t>format </a:t>
            </a:r>
          </a:p>
        </p:txBody>
      </p:sp>
      <p:sp>
        <p:nvSpPr>
          <p:cNvPr id="14" name="Rectangle 13"/>
          <p:cNvSpPr/>
          <p:nvPr/>
        </p:nvSpPr>
        <p:spPr>
          <a:xfrm>
            <a:off x="415678" y="4382254"/>
            <a:ext cx="1106778" cy="369332"/>
          </a:xfrm>
          <a:prstGeom prst="rect">
            <a:avLst/>
          </a:prstGeom>
        </p:spPr>
        <p:txBody>
          <a:bodyPr wrap="none">
            <a:spAutoFit/>
          </a:bodyPr>
          <a:lstStyle/>
          <a:p>
            <a:r>
              <a:rPr lang="en-US" dirty="0" err="1"/>
              <a:t>SlicePipe</a:t>
            </a:r>
            <a:endParaRPr lang="en-US" dirty="0"/>
          </a:p>
        </p:txBody>
      </p:sp>
      <p:sp>
        <p:nvSpPr>
          <p:cNvPr id="15" name="Rectangle 14"/>
          <p:cNvSpPr/>
          <p:nvPr/>
        </p:nvSpPr>
        <p:spPr>
          <a:xfrm>
            <a:off x="1966921" y="4390628"/>
            <a:ext cx="3092513" cy="369332"/>
          </a:xfrm>
          <a:prstGeom prst="rect">
            <a:avLst/>
          </a:prstGeom>
        </p:spPr>
        <p:txBody>
          <a:bodyPr wrap="none">
            <a:spAutoFit/>
          </a:bodyPr>
          <a:lstStyle/>
          <a:p>
            <a:r>
              <a:rPr lang="en-US" dirty="0"/>
              <a:t>&lt;p&gt;{{ text | slice:0:5 }}&lt;/p&gt;</a:t>
            </a:r>
          </a:p>
        </p:txBody>
      </p:sp>
      <p:sp>
        <p:nvSpPr>
          <p:cNvPr id="16" name="Rectangle 15"/>
          <p:cNvSpPr/>
          <p:nvPr/>
        </p:nvSpPr>
        <p:spPr>
          <a:xfrm>
            <a:off x="375620" y="5164574"/>
            <a:ext cx="3682418" cy="369332"/>
          </a:xfrm>
          <a:prstGeom prst="rect">
            <a:avLst/>
          </a:prstGeom>
        </p:spPr>
        <p:txBody>
          <a:bodyPr wrap="none">
            <a:spAutoFit/>
          </a:bodyPr>
          <a:lstStyle/>
          <a:p>
            <a:r>
              <a:rPr lang="en-US" b="1" dirty="0" err="1"/>
              <a:t>UpperCasePipe</a:t>
            </a:r>
            <a:r>
              <a:rPr lang="en-US" b="1" dirty="0"/>
              <a:t> / </a:t>
            </a:r>
            <a:r>
              <a:rPr lang="en-US" b="1" dirty="0" err="1"/>
              <a:t>LowerCasePipe</a:t>
            </a:r>
            <a:endParaRPr lang="en-US" dirty="0"/>
          </a:p>
        </p:txBody>
      </p:sp>
      <p:sp>
        <p:nvSpPr>
          <p:cNvPr id="17" name="Rectangle 16"/>
          <p:cNvSpPr/>
          <p:nvPr/>
        </p:nvSpPr>
        <p:spPr>
          <a:xfrm>
            <a:off x="5094365" y="5146655"/>
            <a:ext cx="7294880" cy="369332"/>
          </a:xfrm>
          <a:prstGeom prst="rect">
            <a:avLst/>
          </a:prstGeom>
        </p:spPr>
        <p:txBody>
          <a:bodyPr wrap="square">
            <a:spAutoFit/>
          </a:bodyPr>
          <a:lstStyle/>
          <a:p>
            <a:r>
              <a:rPr lang="en-US" dirty="0"/>
              <a:t>&lt;p&gt;{{ name | uppercase }}&lt;/p&gt; </a:t>
            </a:r>
            <a:r>
              <a:rPr lang="en-US" dirty="0" smtClean="0"/>
              <a:t> </a:t>
            </a:r>
            <a:r>
              <a:rPr lang="en-US" dirty="0"/>
              <a:t>&lt;p&gt;{{ name | lowercase }}&lt;/p&gt;</a:t>
            </a:r>
          </a:p>
        </p:txBody>
      </p:sp>
      <p:sp>
        <p:nvSpPr>
          <p:cNvPr id="18" name="Rectangle 17"/>
          <p:cNvSpPr/>
          <p:nvPr/>
        </p:nvSpPr>
        <p:spPr>
          <a:xfrm>
            <a:off x="2216829" y="5938242"/>
            <a:ext cx="3084499" cy="369332"/>
          </a:xfrm>
          <a:prstGeom prst="rect">
            <a:avLst/>
          </a:prstGeom>
        </p:spPr>
        <p:txBody>
          <a:bodyPr wrap="none">
            <a:spAutoFit/>
          </a:bodyPr>
          <a:lstStyle/>
          <a:p>
            <a:r>
              <a:rPr lang="en-US" dirty="0"/>
              <a:t>&lt;pre&gt;{{ user | </a:t>
            </a:r>
            <a:r>
              <a:rPr lang="en-US" dirty="0" err="1"/>
              <a:t>json</a:t>
            </a:r>
            <a:r>
              <a:rPr lang="en-US" dirty="0"/>
              <a:t> }}&lt;/pre&gt;</a:t>
            </a:r>
          </a:p>
        </p:txBody>
      </p:sp>
      <p:sp>
        <p:nvSpPr>
          <p:cNvPr id="19" name="Rectangle 18"/>
          <p:cNvSpPr/>
          <p:nvPr/>
        </p:nvSpPr>
        <p:spPr>
          <a:xfrm>
            <a:off x="375620" y="5938242"/>
            <a:ext cx="1076320" cy="369332"/>
          </a:xfrm>
          <a:prstGeom prst="rect">
            <a:avLst/>
          </a:prstGeom>
        </p:spPr>
        <p:txBody>
          <a:bodyPr wrap="none">
            <a:spAutoFit/>
          </a:bodyPr>
          <a:lstStyle/>
          <a:p>
            <a:r>
              <a:rPr lang="en-US" dirty="0" err="1"/>
              <a:t>JsonPipe</a:t>
            </a:r>
            <a:endParaRPr lang="en-US" dirty="0"/>
          </a:p>
        </p:txBody>
      </p:sp>
      <p:sp>
        <p:nvSpPr>
          <p:cNvPr id="26" name="Rounded Rectangle 25"/>
          <p:cNvSpPr/>
          <p:nvPr/>
        </p:nvSpPr>
        <p:spPr>
          <a:xfrm>
            <a:off x="426497" y="4301113"/>
            <a:ext cx="1095959" cy="548640"/>
          </a:xfrm>
          <a:prstGeom prst="round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27" name="Rounded Rectangle 26"/>
          <p:cNvSpPr/>
          <p:nvPr/>
        </p:nvSpPr>
        <p:spPr>
          <a:xfrm>
            <a:off x="426497" y="5857240"/>
            <a:ext cx="1025443" cy="548640"/>
          </a:xfrm>
          <a:prstGeom prst="round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28" name="Rounded Rectangle 27"/>
          <p:cNvSpPr/>
          <p:nvPr/>
        </p:nvSpPr>
        <p:spPr>
          <a:xfrm>
            <a:off x="415678" y="5128736"/>
            <a:ext cx="3642360" cy="440452"/>
          </a:xfrm>
          <a:prstGeom prst="round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29" name="Rounded Rectangle 28"/>
          <p:cNvSpPr/>
          <p:nvPr/>
        </p:nvSpPr>
        <p:spPr>
          <a:xfrm>
            <a:off x="370664" y="3518654"/>
            <a:ext cx="1459953" cy="548640"/>
          </a:xfrm>
          <a:prstGeom prst="round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30" name="Rounded Rectangle 29"/>
          <p:cNvSpPr/>
          <p:nvPr/>
        </p:nvSpPr>
        <p:spPr>
          <a:xfrm>
            <a:off x="478756" y="2736473"/>
            <a:ext cx="1488165" cy="548640"/>
          </a:xfrm>
          <a:prstGeom prst="round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31" name="Rounded Rectangle 30"/>
          <p:cNvSpPr/>
          <p:nvPr/>
        </p:nvSpPr>
        <p:spPr>
          <a:xfrm>
            <a:off x="331195" y="1954153"/>
            <a:ext cx="1591301" cy="548640"/>
          </a:xfrm>
          <a:prstGeom prst="round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32" name="Rounded Rectangle 31"/>
          <p:cNvSpPr/>
          <p:nvPr/>
        </p:nvSpPr>
        <p:spPr>
          <a:xfrm>
            <a:off x="2045807" y="3555722"/>
            <a:ext cx="3201786" cy="548640"/>
          </a:xfrm>
          <a:prstGeom prst="roundRect">
            <a:avLst/>
          </a:prstGeom>
          <a:noFill/>
          <a:ln w="28575"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33" name="Rounded Rectangle 32"/>
          <p:cNvSpPr/>
          <p:nvPr/>
        </p:nvSpPr>
        <p:spPr>
          <a:xfrm>
            <a:off x="1966921" y="4300974"/>
            <a:ext cx="3048000" cy="548640"/>
          </a:xfrm>
          <a:prstGeom prst="roundRect">
            <a:avLst/>
          </a:prstGeom>
          <a:noFill/>
          <a:ln w="28575"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34" name="Rounded Rectangle 33"/>
          <p:cNvSpPr/>
          <p:nvPr/>
        </p:nvSpPr>
        <p:spPr>
          <a:xfrm>
            <a:off x="2235078" y="5857240"/>
            <a:ext cx="3048000" cy="548640"/>
          </a:xfrm>
          <a:prstGeom prst="roundRect">
            <a:avLst/>
          </a:prstGeom>
          <a:noFill/>
          <a:ln w="28575"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35" name="Rounded Rectangle 34"/>
          <p:cNvSpPr/>
          <p:nvPr/>
        </p:nvSpPr>
        <p:spPr>
          <a:xfrm>
            <a:off x="5161965" y="5081315"/>
            <a:ext cx="6556443" cy="548640"/>
          </a:xfrm>
          <a:prstGeom prst="roundRect">
            <a:avLst/>
          </a:prstGeom>
          <a:noFill/>
          <a:ln w="28575"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36" name="Rounded Rectangle 35"/>
          <p:cNvSpPr/>
          <p:nvPr/>
        </p:nvSpPr>
        <p:spPr>
          <a:xfrm>
            <a:off x="5301328" y="1108611"/>
            <a:ext cx="3873152" cy="548640"/>
          </a:xfrm>
          <a:prstGeom prst="roundRect">
            <a:avLst/>
          </a:prstGeom>
          <a:noFill/>
          <a:ln w="28575"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37" name="Rounded Rectangle 36"/>
          <p:cNvSpPr/>
          <p:nvPr/>
        </p:nvSpPr>
        <p:spPr>
          <a:xfrm>
            <a:off x="2045807" y="1171694"/>
            <a:ext cx="2739553" cy="548640"/>
          </a:xfrm>
          <a:prstGeom prst="roundRect">
            <a:avLst/>
          </a:prstGeom>
          <a:noFill/>
          <a:ln w="28575"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38" name="Rounded Rectangle 37"/>
          <p:cNvSpPr/>
          <p:nvPr/>
        </p:nvSpPr>
        <p:spPr>
          <a:xfrm>
            <a:off x="2290566" y="1900743"/>
            <a:ext cx="3266953" cy="548640"/>
          </a:xfrm>
          <a:prstGeom prst="roundRect">
            <a:avLst/>
          </a:prstGeom>
          <a:noFill/>
          <a:ln w="28575"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39" name="Rounded Rectangle 38"/>
          <p:cNvSpPr/>
          <p:nvPr/>
        </p:nvSpPr>
        <p:spPr>
          <a:xfrm>
            <a:off x="2387943" y="2781439"/>
            <a:ext cx="3299707" cy="548640"/>
          </a:xfrm>
          <a:prstGeom prst="roundRect">
            <a:avLst/>
          </a:prstGeom>
          <a:noFill/>
          <a:ln w="28575"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40" name="Rounded Rectangle 39"/>
          <p:cNvSpPr/>
          <p:nvPr/>
        </p:nvSpPr>
        <p:spPr>
          <a:xfrm>
            <a:off x="5994399" y="1931630"/>
            <a:ext cx="5428441" cy="548640"/>
          </a:xfrm>
          <a:prstGeom prst="roundRect">
            <a:avLst/>
          </a:prstGeom>
          <a:noFill/>
          <a:ln w="28575"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41" name="Rounded Rectangle 40"/>
          <p:cNvSpPr/>
          <p:nvPr/>
        </p:nvSpPr>
        <p:spPr>
          <a:xfrm>
            <a:off x="6355080" y="3504644"/>
            <a:ext cx="5638800" cy="548640"/>
          </a:xfrm>
          <a:prstGeom prst="roundRect">
            <a:avLst/>
          </a:prstGeom>
          <a:noFill/>
          <a:ln w="28575"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cxnSp>
        <p:nvCxnSpPr>
          <p:cNvPr id="21" name="Straight Arrow Connector 20"/>
          <p:cNvCxnSpPr>
            <a:stCxn id="3" idx="3"/>
            <a:endCxn id="37" idx="1"/>
          </p:cNvCxnSpPr>
          <p:nvPr/>
        </p:nvCxnSpPr>
        <p:spPr>
          <a:xfrm>
            <a:off x="1582328" y="1437640"/>
            <a:ext cx="463479" cy="83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37" idx="3"/>
            <a:endCxn id="4" idx="1"/>
          </p:cNvCxnSpPr>
          <p:nvPr/>
        </p:nvCxnSpPr>
        <p:spPr>
          <a:xfrm flipV="1">
            <a:off x="4785360" y="1437640"/>
            <a:ext cx="462233" cy="83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endCxn id="38" idx="1"/>
          </p:cNvCxnSpPr>
          <p:nvPr/>
        </p:nvCxnSpPr>
        <p:spPr>
          <a:xfrm flipV="1">
            <a:off x="1922496" y="2175063"/>
            <a:ext cx="368070" cy="827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38" idx="3"/>
            <a:endCxn id="40" idx="1"/>
          </p:cNvCxnSpPr>
          <p:nvPr/>
        </p:nvCxnSpPr>
        <p:spPr>
          <a:xfrm>
            <a:off x="5557519" y="2175063"/>
            <a:ext cx="436880" cy="30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30" idx="3"/>
            <a:endCxn id="39" idx="1"/>
          </p:cNvCxnSpPr>
          <p:nvPr/>
        </p:nvCxnSpPr>
        <p:spPr>
          <a:xfrm>
            <a:off x="1966921" y="3010793"/>
            <a:ext cx="421022" cy="449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29" idx="3"/>
          </p:cNvCxnSpPr>
          <p:nvPr/>
        </p:nvCxnSpPr>
        <p:spPr>
          <a:xfrm>
            <a:off x="1830617" y="3792974"/>
            <a:ext cx="275914" cy="632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32" idx="3"/>
            <a:endCxn id="41" idx="1"/>
          </p:cNvCxnSpPr>
          <p:nvPr/>
        </p:nvCxnSpPr>
        <p:spPr>
          <a:xfrm flipV="1">
            <a:off x="5247593" y="3778964"/>
            <a:ext cx="1107487" cy="510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26" idx="3"/>
            <a:endCxn id="33" idx="1"/>
          </p:cNvCxnSpPr>
          <p:nvPr/>
        </p:nvCxnSpPr>
        <p:spPr>
          <a:xfrm flipV="1">
            <a:off x="1522456" y="4575294"/>
            <a:ext cx="444465" cy="1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28" idx="3"/>
            <a:endCxn id="35" idx="1"/>
          </p:cNvCxnSpPr>
          <p:nvPr/>
        </p:nvCxnSpPr>
        <p:spPr>
          <a:xfrm>
            <a:off x="4058038" y="5348962"/>
            <a:ext cx="1103927" cy="66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27" idx="3"/>
            <a:endCxn id="34" idx="1"/>
          </p:cNvCxnSpPr>
          <p:nvPr/>
        </p:nvCxnSpPr>
        <p:spPr>
          <a:xfrm>
            <a:off x="1451940" y="6131560"/>
            <a:ext cx="7831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939451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2065866" cy="467360"/>
          </a:xfrm>
        </p:spPr>
        <p:txBody>
          <a:bodyPr>
            <a:normAutofit/>
          </a:bodyPr>
          <a:lstStyle/>
          <a:p>
            <a:r>
              <a:rPr lang="en-US" sz="2400" dirty="0"/>
              <a:t>Custom Pipes</a:t>
            </a:r>
          </a:p>
        </p:txBody>
      </p:sp>
      <p:sp>
        <p:nvSpPr>
          <p:cNvPr id="3" name="Rectangle 2"/>
          <p:cNvSpPr/>
          <p:nvPr/>
        </p:nvSpPr>
        <p:spPr>
          <a:xfrm>
            <a:off x="895835" y="1212334"/>
            <a:ext cx="1847365" cy="369332"/>
          </a:xfrm>
          <a:prstGeom prst="rect">
            <a:avLst/>
          </a:prstGeom>
          <a:ln w="38100">
            <a:solidFill>
              <a:srgbClr val="7030A0"/>
            </a:solidFill>
          </a:ln>
        </p:spPr>
        <p:txBody>
          <a:bodyPr wrap="none">
            <a:spAutoFit/>
          </a:bodyPr>
          <a:lstStyle/>
          <a:p>
            <a:r>
              <a:rPr lang="en-US" dirty="0"/>
              <a:t>Generate a Pipe</a:t>
            </a:r>
          </a:p>
        </p:txBody>
      </p:sp>
      <p:sp>
        <p:nvSpPr>
          <p:cNvPr id="5" name="Rectangle 4"/>
          <p:cNvSpPr/>
          <p:nvPr/>
        </p:nvSpPr>
        <p:spPr>
          <a:xfrm>
            <a:off x="2547826" y="1581666"/>
            <a:ext cx="2747868" cy="369332"/>
          </a:xfrm>
          <a:prstGeom prst="rect">
            <a:avLst/>
          </a:prstGeom>
          <a:ln w="38100">
            <a:solidFill>
              <a:srgbClr val="00B0F0"/>
            </a:solidFill>
          </a:ln>
        </p:spPr>
        <p:style>
          <a:lnRef idx="2">
            <a:schemeClr val="accent6"/>
          </a:lnRef>
          <a:fillRef idx="1">
            <a:schemeClr val="lt1"/>
          </a:fillRef>
          <a:effectRef idx="0">
            <a:schemeClr val="accent6"/>
          </a:effectRef>
          <a:fontRef idx="minor">
            <a:schemeClr val="dk1"/>
          </a:fontRef>
        </p:style>
        <p:txBody>
          <a:bodyPr wrap="none">
            <a:spAutoFit/>
          </a:bodyPr>
          <a:lstStyle/>
          <a:p>
            <a:r>
              <a:rPr lang="en-US" dirty="0"/>
              <a:t>ng generate pipe custom</a:t>
            </a:r>
          </a:p>
        </p:txBody>
      </p:sp>
      <p:pic>
        <p:nvPicPr>
          <p:cNvPr id="6" name="Picture 5"/>
          <p:cNvPicPr>
            <a:picLocks noChangeAspect="1"/>
          </p:cNvPicPr>
          <p:nvPr/>
        </p:nvPicPr>
        <p:blipFill>
          <a:blip r:embed="rId2"/>
          <a:stretch>
            <a:fillRect/>
          </a:stretch>
        </p:blipFill>
        <p:spPr>
          <a:xfrm>
            <a:off x="1475551" y="2320330"/>
            <a:ext cx="8176449" cy="3714710"/>
          </a:xfrm>
          <a:prstGeom prst="rect">
            <a:avLst/>
          </a:prstGeom>
        </p:spPr>
      </p:pic>
    </p:spTree>
    <p:extLst>
      <p:ext uri="{BB962C8B-B14F-4D97-AF65-F5344CB8AC3E}">
        <p14:creationId xmlns:p14="http://schemas.microsoft.com/office/powerpoint/2010/main" val="403815232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68101" y="409694"/>
            <a:ext cx="3137397" cy="369332"/>
          </a:xfrm>
          <a:prstGeom prst="rect">
            <a:avLst/>
          </a:prstGeom>
          <a:ln w="41275"/>
        </p:spPr>
        <p:style>
          <a:lnRef idx="2">
            <a:schemeClr val="accent3"/>
          </a:lnRef>
          <a:fillRef idx="1">
            <a:schemeClr val="lt1"/>
          </a:fillRef>
          <a:effectRef idx="0">
            <a:schemeClr val="accent3"/>
          </a:effectRef>
          <a:fontRef idx="minor">
            <a:schemeClr val="dk1"/>
          </a:fontRef>
        </p:style>
        <p:txBody>
          <a:bodyPr wrap="none">
            <a:spAutoFit/>
          </a:bodyPr>
          <a:lstStyle/>
          <a:p>
            <a:r>
              <a:rPr lang="en-US" dirty="0"/>
              <a:t>&lt;p&gt;{{ 'Hello' | custom }}&lt;/p&gt;</a:t>
            </a:r>
          </a:p>
        </p:txBody>
      </p:sp>
      <p:pic>
        <p:nvPicPr>
          <p:cNvPr id="4" name="Picture 3"/>
          <p:cNvPicPr>
            <a:picLocks noChangeAspect="1"/>
          </p:cNvPicPr>
          <p:nvPr/>
        </p:nvPicPr>
        <p:blipFill>
          <a:blip r:embed="rId2"/>
          <a:stretch>
            <a:fillRect/>
          </a:stretch>
        </p:blipFill>
        <p:spPr>
          <a:xfrm>
            <a:off x="1066800" y="1603483"/>
            <a:ext cx="7884160" cy="2856757"/>
          </a:xfrm>
          <a:prstGeom prst="rect">
            <a:avLst/>
          </a:prstGeom>
        </p:spPr>
      </p:pic>
      <p:sp>
        <p:nvSpPr>
          <p:cNvPr id="5" name="Rounded Rectangle 4"/>
          <p:cNvSpPr/>
          <p:nvPr/>
        </p:nvSpPr>
        <p:spPr>
          <a:xfrm>
            <a:off x="965926" y="957574"/>
            <a:ext cx="3149600" cy="467360"/>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smtClean="0"/>
              <a:t>Examples-2</a:t>
            </a:r>
            <a:endParaRPr lang="en-US" dirty="0"/>
          </a:p>
        </p:txBody>
      </p:sp>
      <p:sp>
        <p:nvSpPr>
          <p:cNvPr id="6" name="Rectangle 5"/>
          <p:cNvSpPr/>
          <p:nvPr/>
        </p:nvSpPr>
        <p:spPr>
          <a:xfrm>
            <a:off x="1930379" y="4638789"/>
            <a:ext cx="3352841" cy="369332"/>
          </a:xfrm>
          <a:prstGeom prst="rect">
            <a:avLst/>
          </a:prstGeom>
          <a:ln w="38100"/>
        </p:spPr>
        <p:style>
          <a:lnRef idx="2">
            <a:schemeClr val="accent3"/>
          </a:lnRef>
          <a:fillRef idx="1">
            <a:schemeClr val="lt1"/>
          </a:fillRef>
          <a:effectRef idx="0">
            <a:schemeClr val="accent3"/>
          </a:effectRef>
          <a:fontRef idx="minor">
            <a:schemeClr val="dk1"/>
          </a:fontRef>
        </p:style>
        <p:txBody>
          <a:bodyPr wrap="none">
            <a:spAutoFit/>
          </a:bodyPr>
          <a:lstStyle/>
          <a:p>
            <a:r>
              <a:rPr lang="en-US" dirty="0" smtClean="0"/>
              <a:t>&lt;p&gt;{{ 'Wow' | exclaim:3 }}&lt;/p&gt;</a:t>
            </a:r>
            <a:endParaRPr lang="en-US" dirty="0"/>
          </a:p>
        </p:txBody>
      </p:sp>
      <p:sp>
        <p:nvSpPr>
          <p:cNvPr id="7" name="Rectangle 6"/>
          <p:cNvSpPr/>
          <p:nvPr/>
        </p:nvSpPr>
        <p:spPr>
          <a:xfrm>
            <a:off x="3382916" y="5956776"/>
            <a:ext cx="1786708" cy="369332"/>
          </a:xfrm>
          <a:prstGeom prst="rect">
            <a:avLst/>
          </a:prstGeom>
          <a:ln w="38100"/>
        </p:spPr>
        <p:style>
          <a:lnRef idx="2">
            <a:schemeClr val="accent6"/>
          </a:lnRef>
          <a:fillRef idx="1">
            <a:schemeClr val="lt1"/>
          </a:fillRef>
          <a:effectRef idx="0">
            <a:schemeClr val="accent6"/>
          </a:effectRef>
          <a:fontRef idx="minor">
            <a:schemeClr val="dk1"/>
          </a:fontRef>
        </p:style>
        <p:txBody>
          <a:bodyPr wrap="none">
            <a:spAutoFit/>
          </a:bodyPr>
          <a:lstStyle/>
          <a:p>
            <a:r>
              <a:rPr lang="en-US" dirty="0"/>
              <a:t>&lt;p&gt;Wow!!!&lt;/p&gt;</a:t>
            </a:r>
          </a:p>
        </p:txBody>
      </p:sp>
      <p:sp>
        <p:nvSpPr>
          <p:cNvPr id="8" name="Rounded Rectangle 7"/>
          <p:cNvSpPr/>
          <p:nvPr/>
        </p:nvSpPr>
        <p:spPr>
          <a:xfrm>
            <a:off x="1290682" y="5297135"/>
            <a:ext cx="2092234" cy="467360"/>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smtClean="0"/>
              <a:t>Output</a:t>
            </a:r>
            <a:endParaRPr lang="en-US" dirty="0"/>
          </a:p>
        </p:txBody>
      </p:sp>
    </p:spTree>
    <p:extLst>
      <p:ext uri="{BB962C8B-B14F-4D97-AF65-F5344CB8AC3E}">
        <p14:creationId xmlns:p14="http://schemas.microsoft.com/office/powerpoint/2010/main" val="409017345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5957146" cy="660400"/>
          </a:xfrm>
        </p:spPr>
        <p:txBody>
          <a:bodyPr>
            <a:normAutofit/>
          </a:bodyPr>
          <a:lstStyle/>
          <a:p>
            <a:r>
              <a:rPr lang="en-US" sz="2800" dirty="0"/>
              <a:t>HTTP Client and API Communication</a:t>
            </a:r>
          </a:p>
        </p:txBody>
      </p:sp>
      <p:sp>
        <p:nvSpPr>
          <p:cNvPr id="3" name="Rectangle 1"/>
          <p:cNvSpPr>
            <a:spLocks noChangeArrowheads="1"/>
          </p:cNvSpPr>
          <p:nvPr/>
        </p:nvSpPr>
        <p:spPr bwMode="auto">
          <a:xfrm>
            <a:off x="2062480" y="1270000"/>
            <a:ext cx="9286240" cy="1569660"/>
          </a:xfrm>
          <a:prstGeom prst="rect">
            <a:avLst/>
          </a:prstGeom>
          <a:noFill/>
          <a:ln w="38100" cap="flat" cmpd="sng" algn="ctr">
            <a:solidFill>
              <a:schemeClr val="accent5"/>
            </a:solidFill>
            <a:prstDash val="solid"/>
            <a:round/>
            <a:headEnd type="none" w="med" len="med"/>
            <a:tailEnd type="none" w="med" len="med"/>
          </a:ln>
          <a:extLst/>
        </p:spPr>
        <p:style>
          <a:lnRef idx="0">
            <a:scrgbClr r="0" g="0" b="0"/>
          </a:lnRef>
          <a:fillRef idx="0">
            <a:scrgbClr r="0" g="0" b="0"/>
          </a:fillRef>
          <a:effectRef idx="0">
            <a:scrgbClr r="0" g="0" b="0"/>
          </a:effectRef>
          <a:fontRef idx="minor">
            <a:schemeClr val="accent5"/>
          </a:fontRef>
        </p:style>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err="1" smtClean="0">
                <a:ln>
                  <a:noFill/>
                </a:ln>
                <a:solidFill>
                  <a:schemeClr val="tx1"/>
                </a:solidFill>
                <a:effectLst/>
                <a:latin typeface="Arial" panose="020B0604020202020204" pitchFamily="34" charset="0"/>
              </a:rPr>
              <a:t>Angular's</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Unicode MS"/>
              </a:rPr>
              <a:t>HttpClient</a:t>
            </a:r>
            <a:r>
              <a:rPr kumimoji="0" lang="en-US" altLang="en-US" sz="2400" b="0" i="0" u="none" strike="noStrike" cap="none" normalizeH="0" baseline="0" dirty="0" smtClean="0">
                <a:ln>
                  <a:noFill/>
                </a:ln>
                <a:solidFill>
                  <a:schemeClr val="tx1"/>
                </a:solidFill>
                <a:effectLst/>
              </a:rPr>
              <a:t> module is a powerful tool for making HTTP requests and handling API communication in your applications. It provides a streamlined way to interact with RESTful APIs, manage responses, handle errors, and work with data formats like JSON </a:t>
            </a:r>
            <a:endParaRPr kumimoji="0" lang="en-US" altLang="en-US" sz="2400" b="0" i="0" u="none" strike="noStrike" cap="none" normalizeH="0" baseline="0" dirty="0" smtClean="0">
              <a:ln>
                <a:noFill/>
              </a:ln>
              <a:solidFill>
                <a:schemeClr val="tx1"/>
              </a:solidFill>
              <a:effectLst/>
              <a:latin typeface="Arial" panose="020B0604020202020204" pitchFamily="34" charset="0"/>
            </a:endParaRPr>
          </a:p>
        </p:txBody>
      </p:sp>
      <p:sp>
        <p:nvSpPr>
          <p:cNvPr id="4" name="Rectangle 3"/>
          <p:cNvSpPr/>
          <p:nvPr/>
        </p:nvSpPr>
        <p:spPr>
          <a:xfrm>
            <a:off x="3048000" y="3105835"/>
            <a:ext cx="6583680" cy="369332"/>
          </a:xfrm>
          <a:prstGeom prst="rect">
            <a:avLst/>
          </a:prstGeom>
          <a:ln w="38100"/>
        </p:spPr>
        <p:style>
          <a:lnRef idx="2">
            <a:schemeClr val="accent5"/>
          </a:lnRef>
          <a:fillRef idx="1">
            <a:schemeClr val="lt1"/>
          </a:fillRef>
          <a:effectRef idx="0">
            <a:schemeClr val="accent5"/>
          </a:effectRef>
          <a:fontRef idx="minor">
            <a:schemeClr val="dk1"/>
          </a:fontRef>
        </p:style>
        <p:txBody>
          <a:bodyPr wrap="square">
            <a:spAutoFit/>
          </a:bodyPr>
          <a:lstStyle/>
          <a:p>
            <a:r>
              <a:rPr lang="en-US" dirty="0"/>
              <a:t>HTTP methods such as GET, POST, PUT, DELETE, and more</a:t>
            </a:r>
          </a:p>
        </p:txBody>
      </p:sp>
      <p:pic>
        <p:nvPicPr>
          <p:cNvPr id="5" name="Picture 4"/>
          <p:cNvPicPr>
            <a:picLocks noChangeAspect="1"/>
          </p:cNvPicPr>
          <p:nvPr/>
        </p:nvPicPr>
        <p:blipFill>
          <a:blip r:embed="rId2"/>
          <a:stretch>
            <a:fillRect/>
          </a:stretch>
        </p:blipFill>
        <p:spPr>
          <a:xfrm>
            <a:off x="1154930" y="3741342"/>
            <a:ext cx="10325869" cy="3025218"/>
          </a:xfrm>
          <a:prstGeom prst="rect">
            <a:avLst/>
          </a:prstGeom>
        </p:spPr>
      </p:pic>
      <p:sp>
        <p:nvSpPr>
          <p:cNvPr id="6" name="Rounded Rectangle 5"/>
          <p:cNvSpPr/>
          <p:nvPr/>
        </p:nvSpPr>
        <p:spPr>
          <a:xfrm>
            <a:off x="1547446" y="5679831"/>
            <a:ext cx="8379069" cy="914400"/>
          </a:xfrm>
          <a:prstGeom prst="roundRect">
            <a:avLst/>
          </a:prstGeom>
          <a:noFill/>
          <a:ln w="38100"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Tree>
    <p:extLst>
      <p:ext uri="{BB962C8B-B14F-4D97-AF65-F5344CB8AC3E}">
        <p14:creationId xmlns:p14="http://schemas.microsoft.com/office/powerpoint/2010/main" val="160738016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79120" y="447655"/>
            <a:ext cx="6238240" cy="923330"/>
          </a:xfrm>
          <a:prstGeom prst="rect">
            <a:avLst/>
          </a:prstGeom>
          <a:ln w="53975">
            <a:solidFill>
              <a:schemeClr val="accent4"/>
            </a:solidFill>
          </a:ln>
        </p:spPr>
        <p:style>
          <a:lnRef idx="2">
            <a:schemeClr val="accent5"/>
          </a:lnRef>
          <a:fillRef idx="1">
            <a:schemeClr val="lt1"/>
          </a:fillRef>
          <a:effectRef idx="0">
            <a:schemeClr val="accent5"/>
          </a:effectRef>
          <a:fontRef idx="minor">
            <a:schemeClr val="dk1"/>
          </a:fontRef>
        </p:style>
        <p:txBody>
          <a:bodyPr wrap="square">
            <a:spAutoFit/>
          </a:bodyPr>
          <a:lstStyle/>
          <a:p>
            <a:r>
              <a:rPr lang="en-US" dirty="0" err="1"/>
              <a:t>getUsers</a:t>
            </a:r>
            <a:r>
              <a:rPr lang="en-US" dirty="0"/>
              <a:t>() {</a:t>
            </a:r>
          </a:p>
          <a:p>
            <a:r>
              <a:rPr lang="en-US" dirty="0"/>
              <a:t>  return </a:t>
            </a:r>
            <a:r>
              <a:rPr lang="en-US" dirty="0" err="1"/>
              <a:t>this.http.get</a:t>
            </a:r>
            <a:r>
              <a:rPr lang="en-US" dirty="0"/>
              <a:t>('https://api.example.com/users');</a:t>
            </a:r>
          </a:p>
          <a:p>
            <a:r>
              <a:rPr lang="en-US" dirty="0"/>
              <a:t>}</a:t>
            </a:r>
          </a:p>
        </p:txBody>
      </p:sp>
      <p:sp>
        <p:nvSpPr>
          <p:cNvPr id="4" name="Rectangle 3"/>
          <p:cNvSpPr/>
          <p:nvPr/>
        </p:nvSpPr>
        <p:spPr>
          <a:xfrm>
            <a:off x="2895600" y="1647984"/>
            <a:ext cx="6096000" cy="1200329"/>
          </a:xfrm>
          <a:prstGeom prst="rect">
            <a:avLst/>
          </a:prstGeom>
          <a:ln w="53975">
            <a:solidFill>
              <a:schemeClr val="accent5"/>
            </a:solidFill>
          </a:ln>
        </p:spPr>
        <p:style>
          <a:lnRef idx="2">
            <a:schemeClr val="accent5"/>
          </a:lnRef>
          <a:fillRef idx="1">
            <a:schemeClr val="lt1"/>
          </a:fillRef>
          <a:effectRef idx="0">
            <a:schemeClr val="accent5"/>
          </a:effectRef>
          <a:fontRef idx="minor">
            <a:schemeClr val="dk1"/>
          </a:fontRef>
        </p:style>
        <p:txBody>
          <a:bodyPr>
            <a:spAutoFit/>
          </a:bodyPr>
          <a:lstStyle/>
          <a:p>
            <a:r>
              <a:rPr lang="en-US" dirty="0" err="1"/>
              <a:t>addUser</a:t>
            </a:r>
            <a:r>
              <a:rPr lang="en-US" dirty="0"/>
              <a:t>(user: any) {</a:t>
            </a:r>
          </a:p>
          <a:p>
            <a:r>
              <a:rPr lang="en-US" dirty="0"/>
              <a:t>  return </a:t>
            </a:r>
            <a:r>
              <a:rPr lang="en-US" dirty="0" err="1"/>
              <a:t>this.http.post</a:t>
            </a:r>
            <a:r>
              <a:rPr lang="en-US" dirty="0"/>
              <a:t>('https://api.example.com/users', user);</a:t>
            </a:r>
          </a:p>
          <a:p>
            <a:r>
              <a:rPr lang="en-US" dirty="0"/>
              <a:t>}</a:t>
            </a:r>
          </a:p>
        </p:txBody>
      </p:sp>
      <p:sp>
        <p:nvSpPr>
          <p:cNvPr id="5" name="Rectangle 4"/>
          <p:cNvSpPr/>
          <p:nvPr/>
        </p:nvSpPr>
        <p:spPr>
          <a:xfrm>
            <a:off x="4155440" y="2969984"/>
            <a:ext cx="6096000" cy="1477328"/>
          </a:xfrm>
          <a:prstGeom prst="rect">
            <a:avLst/>
          </a:prstGeom>
          <a:ln w="47625">
            <a:solidFill>
              <a:schemeClr val="accent2"/>
            </a:solidFill>
          </a:ln>
        </p:spPr>
        <p:style>
          <a:lnRef idx="2">
            <a:schemeClr val="accent4"/>
          </a:lnRef>
          <a:fillRef idx="1">
            <a:schemeClr val="lt1"/>
          </a:fillRef>
          <a:effectRef idx="0">
            <a:schemeClr val="accent4"/>
          </a:effectRef>
          <a:fontRef idx="minor">
            <a:schemeClr val="dk1"/>
          </a:fontRef>
        </p:style>
        <p:txBody>
          <a:bodyPr>
            <a:spAutoFit/>
          </a:bodyPr>
          <a:lstStyle/>
          <a:p>
            <a:r>
              <a:rPr lang="en-US" dirty="0" err="1"/>
              <a:t>updateUser</a:t>
            </a:r>
            <a:r>
              <a:rPr lang="en-US" dirty="0"/>
              <a:t>(id: string, user: any) {</a:t>
            </a:r>
          </a:p>
          <a:p>
            <a:r>
              <a:rPr lang="en-US" dirty="0"/>
              <a:t>  return </a:t>
            </a:r>
            <a:r>
              <a:rPr lang="en-US" dirty="0" err="1"/>
              <a:t>this.http.put</a:t>
            </a:r>
            <a:r>
              <a:rPr lang="en-US" dirty="0"/>
              <a:t>(`https://api.example.com/users/${id}`, user);</a:t>
            </a:r>
          </a:p>
          <a:p>
            <a:r>
              <a:rPr lang="en-US" dirty="0"/>
              <a:t>}</a:t>
            </a:r>
          </a:p>
        </p:txBody>
      </p:sp>
      <p:sp>
        <p:nvSpPr>
          <p:cNvPr id="6" name="Rectangle 5"/>
          <p:cNvSpPr/>
          <p:nvPr/>
        </p:nvSpPr>
        <p:spPr>
          <a:xfrm>
            <a:off x="4815840" y="4742656"/>
            <a:ext cx="6096000" cy="1477328"/>
          </a:xfrm>
          <a:prstGeom prst="rect">
            <a:avLst/>
          </a:prstGeom>
          <a:ln w="60325">
            <a:solidFill>
              <a:schemeClr val="accent4">
                <a:lumMod val="60000"/>
                <a:lumOff val="40000"/>
              </a:schemeClr>
            </a:solidFill>
          </a:ln>
        </p:spPr>
        <p:style>
          <a:lnRef idx="2">
            <a:schemeClr val="accent5"/>
          </a:lnRef>
          <a:fillRef idx="1">
            <a:schemeClr val="lt1"/>
          </a:fillRef>
          <a:effectRef idx="0">
            <a:schemeClr val="accent5"/>
          </a:effectRef>
          <a:fontRef idx="minor">
            <a:schemeClr val="dk1"/>
          </a:fontRef>
        </p:style>
        <p:txBody>
          <a:bodyPr>
            <a:spAutoFit/>
          </a:bodyPr>
          <a:lstStyle/>
          <a:p>
            <a:r>
              <a:rPr lang="en-US" dirty="0" err="1"/>
              <a:t>deleteUser</a:t>
            </a:r>
            <a:r>
              <a:rPr lang="en-US" dirty="0"/>
              <a:t>(id: string) {</a:t>
            </a:r>
          </a:p>
          <a:p>
            <a:r>
              <a:rPr lang="en-US" dirty="0"/>
              <a:t>  return </a:t>
            </a:r>
            <a:r>
              <a:rPr lang="en-US" dirty="0" err="1"/>
              <a:t>this.http.delete</a:t>
            </a:r>
            <a:r>
              <a:rPr lang="en-US" dirty="0"/>
              <a:t>(`https://api.example.com/users/${id}`);</a:t>
            </a:r>
          </a:p>
          <a:p>
            <a:r>
              <a:rPr lang="en-US" dirty="0"/>
              <a:t>}</a:t>
            </a:r>
          </a:p>
        </p:txBody>
      </p:sp>
      <p:sp>
        <p:nvSpPr>
          <p:cNvPr id="7" name="Rounded Rectangle 6"/>
          <p:cNvSpPr/>
          <p:nvPr/>
        </p:nvSpPr>
        <p:spPr>
          <a:xfrm>
            <a:off x="7498080" y="619760"/>
            <a:ext cx="2032000" cy="599440"/>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t>Get()</a:t>
            </a:r>
            <a:endParaRPr lang="en-US" dirty="0"/>
          </a:p>
        </p:txBody>
      </p:sp>
      <p:sp>
        <p:nvSpPr>
          <p:cNvPr id="8" name="Rounded Rectangle 7"/>
          <p:cNvSpPr/>
          <p:nvPr/>
        </p:nvSpPr>
        <p:spPr>
          <a:xfrm>
            <a:off x="9763760" y="1948429"/>
            <a:ext cx="2032000" cy="59944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t>Post()</a:t>
            </a:r>
            <a:endParaRPr lang="en-US" dirty="0"/>
          </a:p>
        </p:txBody>
      </p:sp>
      <p:sp>
        <p:nvSpPr>
          <p:cNvPr id="9" name="Rounded Rectangle 8"/>
          <p:cNvSpPr/>
          <p:nvPr/>
        </p:nvSpPr>
        <p:spPr>
          <a:xfrm>
            <a:off x="619760" y="3515360"/>
            <a:ext cx="2032000" cy="5994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Put()</a:t>
            </a:r>
            <a:endParaRPr lang="en-US" dirty="0"/>
          </a:p>
        </p:txBody>
      </p:sp>
      <p:sp>
        <p:nvSpPr>
          <p:cNvPr id="10" name="Rounded Rectangle 9"/>
          <p:cNvSpPr/>
          <p:nvPr/>
        </p:nvSpPr>
        <p:spPr>
          <a:xfrm>
            <a:off x="1219200" y="5181600"/>
            <a:ext cx="2032000" cy="59944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t>Delete()</a:t>
            </a:r>
            <a:endParaRPr lang="en-US" dirty="0"/>
          </a:p>
        </p:txBody>
      </p:sp>
      <p:cxnSp>
        <p:nvCxnSpPr>
          <p:cNvPr id="12" name="Straight Arrow Connector 11"/>
          <p:cNvCxnSpPr>
            <a:stCxn id="7" idx="1"/>
          </p:cNvCxnSpPr>
          <p:nvPr/>
        </p:nvCxnSpPr>
        <p:spPr>
          <a:xfrm flipH="1">
            <a:off x="6593840" y="919480"/>
            <a:ext cx="904240" cy="0"/>
          </a:xfrm>
          <a:prstGeom prst="straightConnector1">
            <a:avLst/>
          </a:prstGeom>
          <a:ln w="444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endCxn id="6" idx="1"/>
          </p:cNvCxnSpPr>
          <p:nvPr/>
        </p:nvCxnSpPr>
        <p:spPr>
          <a:xfrm>
            <a:off x="3251200" y="5481320"/>
            <a:ext cx="1564640" cy="0"/>
          </a:xfrm>
          <a:prstGeom prst="straightConnector1">
            <a:avLst/>
          </a:prstGeom>
          <a:ln w="41275">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V="1">
            <a:off x="2651760" y="3862557"/>
            <a:ext cx="1757680" cy="14764"/>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8859520" y="2248148"/>
            <a:ext cx="904240" cy="0"/>
          </a:xfrm>
          <a:prstGeom prst="straightConnector1">
            <a:avLst/>
          </a:prstGeom>
          <a:ln w="4445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759673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2340186" cy="548640"/>
          </a:xfrm>
        </p:spPr>
        <p:txBody>
          <a:bodyPr>
            <a:normAutofit/>
          </a:bodyPr>
          <a:lstStyle/>
          <a:p>
            <a:r>
              <a:rPr lang="en-US" sz="2400" dirty="0"/>
              <a:t>Lifecycle Hooks</a:t>
            </a:r>
          </a:p>
        </p:txBody>
      </p:sp>
      <p:sp>
        <p:nvSpPr>
          <p:cNvPr id="3" name="Rectangle 2"/>
          <p:cNvSpPr/>
          <p:nvPr/>
        </p:nvSpPr>
        <p:spPr>
          <a:xfrm>
            <a:off x="1371600" y="1410117"/>
            <a:ext cx="8829040" cy="1200329"/>
          </a:xfrm>
          <a:prstGeom prst="rect">
            <a:avLst/>
          </a:prstGeom>
        </p:spPr>
        <p:txBody>
          <a:bodyPr wrap="square">
            <a:spAutoFit/>
          </a:bodyPr>
          <a:lstStyle/>
          <a:p>
            <a:r>
              <a:rPr lang="en-US" dirty="0"/>
              <a:t>Angular Lifecycle Hooks are methods that allow you to tap into key moments in the lifecycle of a component or directive. These hooks provide a way to react to changes, initialize data, clean up resources, and perform various other tasks at specific points during the lifecycle of a component.</a:t>
            </a:r>
          </a:p>
        </p:txBody>
      </p:sp>
      <p:sp>
        <p:nvSpPr>
          <p:cNvPr id="4" name="Rectangle 3"/>
          <p:cNvSpPr/>
          <p:nvPr/>
        </p:nvSpPr>
        <p:spPr>
          <a:xfrm>
            <a:off x="1847427" y="3841592"/>
            <a:ext cx="5069840" cy="1200329"/>
          </a:xfrm>
          <a:prstGeom prst="rect">
            <a:avLst/>
          </a:prstGeom>
        </p:spPr>
        <p:txBody>
          <a:bodyPr wrap="square">
            <a:spAutoFit/>
          </a:bodyPr>
          <a:lstStyle/>
          <a:p>
            <a:pPr>
              <a:buFont typeface="+mj-lt"/>
              <a:buAutoNum type="arabicPeriod"/>
            </a:pPr>
            <a:r>
              <a:rPr lang="en-US" dirty="0" smtClean="0"/>
              <a:t>Component </a:t>
            </a:r>
            <a:r>
              <a:rPr lang="en-US" dirty="0"/>
              <a:t>is initialized.</a:t>
            </a:r>
          </a:p>
          <a:p>
            <a:pPr>
              <a:buFont typeface="+mj-lt"/>
              <a:buAutoNum type="arabicPeriod"/>
            </a:pPr>
            <a:r>
              <a:rPr lang="en-US" dirty="0"/>
              <a:t>Inputs are set and checked for changes.</a:t>
            </a:r>
          </a:p>
          <a:p>
            <a:pPr>
              <a:buFont typeface="+mj-lt"/>
              <a:buAutoNum type="arabicPeriod"/>
            </a:pPr>
            <a:r>
              <a:rPr lang="en-US" dirty="0"/>
              <a:t>The view is rendered and updated.</a:t>
            </a:r>
          </a:p>
          <a:p>
            <a:pPr>
              <a:buFont typeface="+mj-lt"/>
              <a:buAutoNum type="arabicPeriod"/>
            </a:pPr>
            <a:r>
              <a:rPr lang="en-US" dirty="0"/>
              <a:t>The component is destroyed.</a:t>
            </a:r>
          </a:p>
        </p:txBody>
      </p:sp>
      <p:sp>
        <p:nvSpPr>
          <p:cNvPr id="5" name="Rectangle 4"/>
          <p:cNvSpPr/>
          <p:nvPr/>
        </p:nvSpPr>
        <p:spPr>
          <a:xfrm>
            <a:off x="677334" y="3189903"/>
            <a:ext cx="1827744" cy="369332"/>
          </a:xfrm>
          <a:prstGeom prst="rect">
            <a:avLst/>
          </a:prstGeom>
        </p:spPr>
        <p:txBody>
          <a:bodyPr wrap="none">
            <a:spAutoFit/>
          </a:bodyPr>
          <a:lstStyle/>
          <a:p>
            <a:r>
              <a:rPr lang="en-US" b="1" dirty="0"/>
              <a:t>Lifecycle Flow:</a:t>
            </a:r>
            <a:endParaRPr lang="en-US" dirty="0"/>
          </a:p>
        </p:txBody>
      </p:sp>
      <p:sp>
        <p:nvSpPr>
          <p:cNvPr id="6" name="Rounded Rectangle 5"/>
          <p:cNvSpPr/>
          <p:nvPr/>
        </p:nvSpPr>
        <p:spPr>
          <a:xfrm>
            <a:off x="8412480" y="2651027"/>
            <a:ext cx="1991360" cy="369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Lifecycle Hooks</a:t>
            </a:r>
            <a:endParaRPr lang="en-US" dirty="0"/>
          </a:p>
        </p:txBody>
      </p:sp>
      <p:sp>
        <p:nvSpPr>
          <p:cNvPr id="7" name="Rounded Rectangle 6"/>
          <p:cNvSpPr/>
          <p:nvPr/>
        </p:nvSpPr>
        <p:spPr>
          <a:xfrm>
            <a:off x="4988561" y="3140667"/>
            <a:ext cx="2829560" cy="4052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ngAfterViewChecked</a:t>
            </a:r>
            <a:r>
              <a:rPr lang="en-US" dirty="0"/>
              <a:t>()</a:t>
            </a:r>
          </a:p>
        </p:txBody>
      </p:sp>
      <p:sp>
        <p:nvSpPr>
          <p:cNvPr id="8" name="Rounded Rectangle 7"/>
          <p:cNvSpPr/>
          <p:nvPr/>
        </p:nvSpPr>
        <p:spPr>
          <a:xfrm>
            <a:off x="5299075" y="3726642"/>
            <a:ext cx="3057737" cy="4052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ngAfterViewInit</a:t>
            </a:r>
            <a:r>
              <a:rPr lang="en-US" dirty="0"/>
              <a:t>()</a:t>
            </a:r>
          </a:p>
        </p:txBody>
      </p:sp>
      <p:sp>
        <p:nvSpPr>
          <p:cNvPr id="9" name="Rounded Rectangle 8"/>
          <p:cNvSpPr/>
          <p:nvPr/>
        </p:nvSpPr>
        <p:spPr>
          <a:xfrm>
            <a:off x="5897456" y="4622800"/>
            <a:ext cx="2540847" cy="6217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ngAfterContentChecked()</a:t>
            </a:r>
          </a:p>
        </p:txBody>
      </p:sp>
      <p:sp>
        <p:nvSpPr>
          <p:cNvPr id="10" name="Rounded Rectangle 9"/>
          <p:cNvSpPr/>
          <p:nvPr/>
        </p:nvSpPr>
        <p:spPr>
          <a:xfrm>
            <a:off x="10200640" y="3419747"/>
            <a:ext cx="1889760" cy="4052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n</a:t>
            </a:r>
            <a:r>
              <a:rPr lang="en-US" dirty="0" err="1" smtClean="0"/>
              <a:t>gonchanges</a:t>
            </a:r>
            <a:r>
              <a:rPr lang="en-US" dirty="0" smtClean="0"/>
              <a:t>()</a:t>
            </a:r>
            <a:endParaRPr lang="en-US" dirty="0"/>
          </a:p>
        </p:txBody>
      </p:sp>
      <p:sp>
        <p:nvSpPr>
          <p:cNvPr id="11" name="Rounded Rectangle 10"/>
          <p:cNvSpPr/>
          <p:nvPr/>
        </p:nvSpPr>
        <p:spPr>
          <a:xfrm>
            <a:off x="9829377" y="4032304"/>
            <a:ext cx="2235200" cy="4052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n</a:t>
            </a:r>
            <a:r>
              <a:rPr lang="en-US" dirty="0" err="1" smtClean="0"/>
              <a:t>goninit</a:t>
            </a:r>
            <a:r>
              <a:rPr lang="en-US" dirty="0" smtClean="0"/>
              <a:t>()</a:t>
            </a:r>
            <a:endParaRPr lang="en-US" dirty="0"/>
          </a:p>
        </p:txBody>
      </p:sp>
      <p:sp>
        <p:nvSpPr>
          <p:cNvPr id="12" name="Rounded Rectangle 11"/>
          <p:cNvSpPr/>
          <p:nvPr/>
        </p:nvSpPr>
        <p:spPr>
          <a:xfrm>
            <a:off x="5588000" y="5485393"/>
            <a:ext cx="3159760" cy="4052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ngAfterContentInit()</a:t>
            </a:r>
          </a:p>
        </p:txBody>
      </p:sp>
      <p:sp>
        <p:nvSpPr>
          <p:cNvPr id="13" name="Rounded Rectangle 12"/>
          <p:cNvSpPr/>
          <p:nvPr/>
        </p:nvSpPr>
        <p:spPr>
          <a:xfrm>
            <a:off x="9717617" y="5040858"/>
            <a:ext cx="2074122" cy="4052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ngOnDestroy</a:t>
            </a:r>
            <a:r>
              <a:rPr lang="en-US" dirty="0" smtClean="0"/>
              <a:t>()</a:t>
            </a:r>
            <a:endParaRPr lang="en-US" dirty="0"/>
          </a:p>
        </p:txBody>
      </p:sp>
      <p:sp>
        <p:nvSpPr>
          <p:cNvPr id="14" name="Rounded Rectangle 13"/>
          <p:cNvSpPr/>
          <p:nvPr/>
        </p:nvSpPr>
        <p:spPr>
          <a:xfrm>
            <a:off x="6451600" y="6049412"/>
            <a:ext cx="2661920" cy="4052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ngDoCheck()</a:t>
            </a:r>
          </a:p>
        </p:txBody>
      </p:sp>
      <p:cxnSp>
        <p:nvCxnSpPr>
          <p:cNvPr id="16" name="Straight Arrow Connector 15"/>
          <p:cNvCxnSpPr>
            <a:stCxn id="6" idx="2"/>
            <a:endCxn id="7" idx="3"/>
          </p:cNvCxnSpPr>
          <p:nvPr/>
        </p:nvCxnSpPr>
        <p:spPr>
          <a:xfrm flipH="1">
            <a:off x="7818121" y="3020359"/>
            <a:ext cx="1590039" cy="322952"/>
          </a:xfrm>
          <a:prstGeom prst="straightConnector1">
            <a:avLst/>
          </a:prstGeom>
          <a:ln w="444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6" idx="2"/>
            <a:endCxn id="8" idx="3"/>
          </p:cNvCxnSpPr>
          <p:nvPr/>
        </p:nvCxnSpPr>
        <p:spPr>
          <a:xfrm flipH="1">
            <a:off x="8356812" y="3020359"/>
            <a:ext cx="1051348" cy="908927"/>
          </a:xfrm>
          <a:prstGeom prst="straightConnector1">
            <a:avLst/>
          </a:prstGeom>
          <a:ln w="444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6" idx="2"/>
            <a:endCxn id="9" idx="3"/>
          </p:cNvCxnSpPr>
          <p:nvPr/>
        </p:nvCxnSpPr>
        <p:spPr>
          <a:xfrm flipH="1">
            <a:off x="8438303" y="3020359"/>
            <a:ext cx="969857" cy="1913324"/>
          </a:xfrm>
          <a:prstGeom prst="straightConnector1">
            <a:avLst/>
          </a:prstGeom>
          <a:ln w="444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6" idx="2"/>
            <a:endCxn id="12" idx="3"/>
          </p:cNvCxnSpPr>
          <p:nvPr/>
        </p:nvCxnSpPr>
        <p:spPr>
          <a:xfrm flipH="1">
            <a:off x="8747760" y="3020359"/>
            <a:ext cx="660400" cy="2667678"/>
          </a:xfrm>
          <a:prstGeom prst="straightConnector1">
            <a:avLst/>
          </a:prstGeom>
          <a:ln w="444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6" idx="2"/>
            <a:endCxn id="14" idx="3"/>
          </p:cNvCxnSpPr>
          <p:nvPr/>
        </p:nvCxnSpPr>
        <p:spPr>
          <a:xfrm flipH="1">
            <a:off x="9113520" y="3020359"/>
            <a:ext cx="294640" cy="3231697"/>
          </a:xfrm>
          <a:prstGeom prst="straightConnector1">
            <a:avLst/>
          </a:prstGeom>
          <a:ln w="444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6" idx="2"/>
            <a:endCxn id="13" idx="1"/>
          </p:cNvCxnSpPr>
          <p:nvPr/>
        </p:nvCxnSpPr>
        <p:spPr>
          <a:xfrm>
            <a:off x="9408160" y="3020359"/>
            <a:ext cx="309457" cy="2223143"/>
          </a:xfrm>
          <a:prstGeom prst="straightConnector1">
            <a:avLst/>
          </a:prstGeom>
          <a:ln w="444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6" idx="2"/>
            <a:endCxn id="11" idx="1"/>
          </p:cNvCxnSpPr>
          <p:nvPr/>
        </p:nvCxnSpPr>
        <p:spPr>
          <a:xfrm>
            <a:off x="9408160" y="3020359"/>
            <a:ext cx="421217" cy="1214589"/>
          </a:xfrm>
          <a:prstGeom prst="straightConnector1">
            <a:avLst/>
          </a:prstGeom>
          <a:ln w="444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6" idx="2"/>
            <a:endCxn id="10" idx="0"/>
          </p:cNvCxnSpPr>
          <p:nvPr/>
        </p:nvCxnSpPr>
        <p:spPr>
          <a:xfrm>
            <a:off x="9408160" y="3020359"/>
            <a:ext cx="1737360" cy="399388"/>
          </a:xfrm>
          <a:prstGeom prst="straightConnector1">
            <a:avLst/>
          </a:prstGeom>
          <a:ln w="444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434530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45982" y="694174"/>
            <a:ext cx="1726755" cy="369332"/>
          </a:xfrm>
          <a:prstGeom prst="rect">
            <a:avLst/>
          </a:prstGeom>
        </p:spPr>
        <p:style>
          <a:lnRef idx="2">
            <a:schemeClr val="accent5"/>
          </a:lnRef>
          <a:fillRef idx="1">
            <a:schemeClr val="lt1"/>
          </a:fillRef>
          <a:effectRef idx="0">
            <a:schemeClr val="accent5"/>
          </a:effectRef>
          <a:fontRef idx="minor">
            <a:schemeClr val="dk1"/>
          </a:fontRef>
        </p:style>
        <p:txBody>
          <a:bodyPr wrap="none">
            <a:spAutoFit/>
          </a:bodyPr>
          <a:lstStyle/>
          <a:p>
            <a:r>
              <a:rPr lang="en-US" dirty="0" err="1"/>
              <a:t>ngOnChanges</a:t>
            </a:r>
            <a:r>
              <a:rPr lang="en-US" dirty="0"/>
              <a:t>()</a:t>
            </a:r>
          </a:p>
        </p:txBody>
      </p:sp>
      <p:sp>
        <p:nvSpPr>
          <p:cNvPr id="4" name="Rectangle 1"/>
          <p:cNvSpPr>
            <a:spLocks noChangeArrowheads="1"/>
          </p:cNvSpPr>
          <p:nvPr/>
        </p:nvSpPr>
        <p:spPr bwMode="auto">
          <a:xfrm>
            <a:off x="355600" y="1626215"/>
            <a:ext cx="5842000" cy="923330"/>
          </a:xfrm>
          <a:prstGeom prst="rect">
            <a:avLst/>
          </a:prstGeom>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chemeClr val="tx1"/>
                </a:solidFill>
                <a:effectLst/>
                <a:latin typeface="Arial" panose="020B0604020202020204" pitchFamily="34" charset="0"/>
              </a:rPr>
              <a:t>When It’s Called:</a:t>
            </a:r>
            <a:r>
              <a:rPr kumimoji="0" lang="en-US" altLang="en-US" b="0" i="0" u="none" strike="noStrike" cap="none" normalizeH="0" baseline="0" dirty="0" smtClean="0">
                <a:ln>
                  <a:noFill/>
                </a:ln>
                <a:solidFill>
                  <a:schemeClr val="tx1"/>
                </a:solidFill>
                <a:effectLst/>
                <a:latin typeface="Arial" panose="020B0604020202020204" pitchFamily="34" charset="0"/>
              </a:rPr>
              <a:t> Before </a:t>
            </a:r>
            <a:r>
              <a:rPr kumimoji="0" lang="en-US" altLang="en-US" b="0" i="0" u="none" strike="noStrike" cap="none" normalizeH="0" baseline="0" dirty="0" err="1" smtClean="0">
                <a:ln>
                  <a:noFill/>
                </a:ln>
                <a:solidFill>
                  <a:schemeClr val="tx1"/>
                </a:solidFill>
                <a:effectLst/>
                <a:latin typeface="Arial Unicode MS"/>
              </a:rPr>
              <a:t>ngOnInit</a:t>
            </a:r>
            <a:r>
              <a:rPr kumimoji="0" lang="en-US" altLang="en-US" b="0" i="0" u="none" strike="noStrike" cap="none" normalizeH="0" baseline="0" dirty="0" smtClean="0">
                <a:ln>
                  <a:noFill/>
                </a:ln>
                <a:solidFill>
                  <a:schemeClr val="tx1"/>
                </a:solidFill>
                <a:effectLst/>
                <a:latin typeface="Arial Unicode MS"/>
              </a:rPr>
              <a:t>()</a:t>
            </a:r>
            <a:r>
              <a:rPr kumimoji="0" lang="en-US" altLang="en-US" b="0" i="0" u="none" strike="noStrike" cap="none" normalizeH="0" baseline="0" dirty="0" smtClean="0">
                <a:ln>
                  <a:noFill/>
                </a:ln>
                <a:solidFill>
                  <a:schemeClr val="tx1"/>
                </a:solidFill>
                <a:effectLst/>
              </a:rPr>
              <a:t> and whenever one or more data-bound input properties change.</a:t>
            </a:r>
            <a:endParaRPr kumimoji="0" lang="en-US" altLang="en-US"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chemeClr val="tx1"/>
                </a:solidFill>
                <a:effectLst/>
                <a:latin typeface="Arial" panose="020B0604020202020204" pitchFamily="34" charset="0"/>
              </a:rPr>
              <a:t>Use Case:</a:t>
            </a:r>
            <a:r>
              <a:rPr kumimoji="0" lang="en-US" altLang="en-US" b="0" i="0" u="none" strike="noStrike" cap="none" normalizeH="0" baseline="0" dirty="0" smtClean="0">
                <a:ln>
                  <a:noFill/>
                </a:ln>
                <a:solidFill>
                  <a:schemeClr val="tx1"/>
                </a:solidFill>
                <a:effectLst/>
                <a:latin typeface="Arial" panose="020B0604020202020204" pitchFamily="34" charset="0"/>
              </a:rPr>
              <a:t> Respond to changes in input properties. </a:t>
            </a:r>
          </a:p>
        </p:txBody>
      </p:sp>
      <p:sp>
        <p:nvSpPr>
          <p:cNvPr id="5" name="Rectangle 4"/>
          <p:cNvSpPr/>
          <p:nvPr/>
        </p:nvSpPr>
        <p:spPr>
          <a:xfrm>
            <a:off x="6604000" y="1626215"/>
            <a:ext cx="5425440"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err="1"/>
              <a:t>ngOnChanges</a:t>
            </a:r>
            <a:r>
              <a:rPr lang="en-US" dirty="0"/>
              <a:t>(changes: </a:t>
            </a:r>
            <a:r>
              <a:rPr lang="en-US" dirty="0" err="1"/>
              <a:t>SimpleChanges</a:t>
            </a:r>
            <a:r>
              <a:rPr lang="en-US" dirty="0"/>
              <a:t>) {</a:t>
            </a:r>
          </a:p>
          <a:p>
            <a:r>
              <a:rPr lang="en-US" dirty="0"/>
              <a:t>  console.log('Input properties changed:', changes);</a:t>
            </a:r>
          </a:p>
          <a:p>
            <a:r>
              <a:rPr lang="en-US" dirty="0"/>
              <a:t>}</a:t>
            </a:r>
          </a:p>
        </p:txBody>
      </p:sp>
      <p:sp>
        <p:nvSpPr>
          <p:cNvPr id="7" name="Rectangle 6"/>
          <p:cNvSpPr/>
          <p:nvPr/>
        </p:nvSpPr>
        <p:spPr>
          <a:xfrm>
            <a:off x="5553812" y="2898616"/>
            <a:ext cx="1226618" cy="369332"/>
          </a:xfrm>
          <a:prstGeom prst="rect">
            <a:avLst/>
          </a:prstGeom>
        </p:spPr>
        <p:style>
          <a:lnRef idx="2">
            <a:schemeClr val="accent3"/>
          </a:lnRef>
          <a:fillRef idx="1">
            <a:schemeClr val="lt1"/>
          </a:fillRef>
          <a:effectRef idx="0">
            <a:schemeClr val="accent3"/>
          </a:effectRef>
          <a:fontRef idx="minor">
            <a:schemeClr val="dk1"/>
          </a:fontRef>
        </p:style>
        <p:txBody>
          <a:bodyPr wrap="none">
            <a:spAutoFit/>
          </a:bodyPr>
          <a:lstStyle/>
          <a:p>
            <a:r>
              <a:rPr lang="en-US" dirty="0" err="1"/>
              <a:t>ngOnInit</a:t>
            </a:r>
            <a:r>
              <a:rPr lang="en-US" dirty="0" smtClean="0"/>
              <a:t>()</a:t>
            </a:r>
            <a:endParaRPr lang="en-US" dirty="0"/>
          </a:p>
        </p:txBody>
      </p:sp>
      <p:sp>
        <p:nvSpPr>
          <p:cNvPr id="9" name="Rectangle 2"/>
          <p:cNvSpPr>
            <a:spLocks noChangeArrowheads="1"/>
          </p:cNvSpPr>
          <p:nvPr/>
        </p:nvSpPr>
        <p:spPr bwMode="auto">
          <a:xfrm>
            <a:off x="355600" y="3494930"/>
            <a:ext cx="5811521" cy="1200329"/>
          </a:xfrm>
          <a:prstGeom prst="rect">
            <a:avLst/>
          </a:prstGeom>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chemeClr val="tx1"/>
                </a:solidFill>
                <a:effectLst/>
                <a:latin typeface="Arial" panose="020B0604020202020204" pitchFamily="34" charset="0"/>
              </a:rPr>
              <a:t>When It’s Called:</a:t>
            </a:r>
            <a:r>
              <a:rPr kumimoji="0" lang="en-US" altLang="en-US" b="0" i="0" u="none" strike="noStrike" cap="none" normalizeH="0" baseline="0" dirty="0" smtClean="0">
                <a:ln>
                  <a:noFill/>
                </a:ln>
                <a:solidFill>
                  <a:schemeClr val="tx1"/>
                </a:solidFill>
                <a:effectLst/>
                <a:latin typeface="Arial" panose="020B0604020202020204" pitchFamily="34" charset="0"/>
              </a:rPr>
              <a:t> Once after the first </a:t>
            </a:r>
            <a:r>
              <a:rPr kumimoji="0" lang="en-US" altLang="en-US" b="0" i="0" u="none" strike="noStrike" cap="none" normalizeH="0" baseline="0" dirty="0" err="1" smtClean="0">
                <a:ln>
                  <a:noFill/>
                </a:ln>
                <a:solidFill>
                  <a:schemeClr val="tx1"/>
                </a:solidFill>
                <a:effectLst/>
                <a:latin typeface="Arial Unicode MS"/>
              </a:rPr>
              <a:t>ngOnChanges</a:t>
            </a:r>
            <a:r>
              <a:rPr kumimoji="0" lang="en-US" altLang="en-US" b="0" i="0" u="none" strike="noStrike" cap="none" normalizeH="0" baseline="0" dirty="0" smtClean="0">
                <a:ln>
                  <a:noFill/>
                </a:ln>
                <a:solidFill>
                  <a:schemeClr val="tx1"/>
                </a:solidFill>
                <a:effectLst/>
                <a:latin typeface="Arial Unicode MS"/>
              </a:rPr>
              <a:t>()</a:t>
            </a:r>
            <a:r>
              <a:rPr kumimoji="0" lang="en-US" altLang="en-US" b="0" i="0" u="none" strike="noStrike" cap="none" normalizeH="0" baseline="0" dirty="0" smtClean="0">
                <a:ln>
                  <a:noFill/>
                </a:ln>
                <a:solidFill>
                  <a:schemeClr val="tx1"/>
                </a:solidFill>
                <a:effectLst/>
              </a:rPr>
              <a:t> and before the component's view is fully initialized.</a:t>
            </a:r>
            <a:endParaRPr kumimoji="0" lang="en-US" altLang="en-US"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chemeClr val="tx1"/>
                </a:solidFill>
                <a:effectLst/>
                <a:latin typeface="Arial" panose="020B0604020202020204" pitchFamily="34" charset="0"/>
              </a:rPr>
              <a:t>Use Case:</a:t>
            </a:r>
            <a:r>
              <a:rPr kumimoji="0" lang="en-US" altLang="en-US" b="0" i="0" u="none" strike="noStrike" cap="none" normalizeH="0" baseline="0" dirty="0" smtClean="0">
                <a:ln>
                  <a:noFill/>
                </a:ln>
                <a:solidFill>
                  <a:schemeClr val="tx1"/>
                </a:solidFill>
                <a:effectLst/>
                <a:latin typeface="Arial" panose="020B0604020202020204" pitchFamily="34" charset="0"/>
              </a:rPr>
              <a:t> Perform component initialization, such as fetching data. </a:t>
            </a:r>
          </a:p>
        </p:txBody>
      </p:sp>
      <p:sp>
        <p:nvSpPr>
          <p:cNvPr id="10" name="Rectangle 9"/>
          <p:cNvSpPr/>
          <p:nvPr/>
        </p:nvSpPr>
        <p:spPr>
          <a:xfrm>
            <a:off x="6949440" y="3404215"/>
            <a:ext cx="6096000" cy="923330"/>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r>
              <a:rPr lang="en-US" dirty="0" err="1"/>
              <a:t>ngOnInit</a:t>
            </a:r>
            <a:r>
              <a:rPr lang="en-US" dirty="0"/>
              <a:t>() {</a:t>
            </a:r>
          </a:p>
          <a:p>
            <a:r>
              <a:rPr lang="en-US" dirty="0"/>
              <a:t>  console.log('Component initialized');</a:t>
            </a:r>
          </a:p>
          <a:p>
            <a:r>
              <a:rPr lang="en-US" dirty="0"/>
              <a:t>}</a:t>
            </a:r>
          </a:p>
        </p:txBody>
      </p:sp>
      <p:sp>
        <p:nvSpPr>
          <p:cNvPr id="11" name="Rectangle 10"/>
          <p:cNvSpPr/>
          <p:nvPr/>
        </p:nvSpPr>
        <p:spPr>
          <a:xfrm>
            <a:off x="5699800" y="4812883"/>
            <a:ext cx="1483098" cy="369332"/>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r>
              <a:rPr lang="en-US" dirty="0" err="1"/>
              <a:t>ngDoCheck</a:t>
            </a:r>
            <a:r>
              <a:rPr lang="en-US" dirty="0"/>
              <a:t>()</a:t>
            </a:r>
          </a:p>
        </p:txBody>
      </p:sp>
      <p:sp>
        <p:nvSpPr>
          <p:cNvPr id="12" name="Rectangle 3"/>
          <p:cNvSpPr>
            <a:spLocks noChangeArrowheads="1"/>
          </p:cNvSpPr>
          <p:nvPr/>
        </p:nvSpPr>
        <p:spPr bwMode="auto">
          <a:xfrm>
            <a:off x="355600" y="5552220"/>
            <a:ext cx="6024880" cy="646331"/>
          </a:xfrm>
          <a:prstGeom prst="rect">
            <a:avLst/>
          </a:prstGeom>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When It’s Called:</a:t>
            </a:r>
            <a:r>
              <a:rPr kumimoji="0" lang="en-US" altLang="en-US" sz="1800" b="0" i="0" u="none" strike="noStrike" cap="none" normalizeH="0" baseline="0" dirty="0" smtClean="0">
                <a:ln>
                  <a:noFill/>
                </a:ln>
                <a:solidFill>
                  <a:schemeClr val="tx1"/>
                </a:solidFill>
                <a:effectLst/>
                <a:latin typeface="Arial" panose="020B0604020202020204" pitchFamily="34" charset="0"/>
              </a:rPr>
              <a:t> During every change detection run.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Use Case:</a:t>
            </a:r>
            <a:r>
              <a:rPr kumimoji="0" lang="en-US" altLang="en-US" sz="1800" b="0" i="0" u="none" strike="noStrike" cap="none" normalizeH="0" baseline="0" dirty="0" smtClean="0">
                <a:ln>
                  <a:noFill/>
                </a:ln>
                <a:solidFill>
                  <a:schemeClr val="tx1"/>
                </a:solidFill>
                <a:effectLst/>
                <a:latin typeface="Arial" panose="020B0604020202020204" pitchFamily="34" charset="0"/>
              </a:rPr>
              <a:t> Implement custom change detection logic. </a:t>
            </a:r>
          </a:p>
        </p:txBody>
      </p:sp>
      <p:sp>
        <p:nvSpPr>
          <p:cNvPr id="13" name="Rectangle 12"/>
          <p:cNvSpPr/>
          <p:nvPr/>
        </p:nvSpPr>
        <p:spPr>
          <a:xfrm>
            <a:off x="6780430" y="5410815"/>
            <a:ext cx="6096000" cy="923330"/>
          </a:xfrm>
          <a:prstGeom prst="rect">
            <a:avLst/>
          </a:prstGeom>
        </p:spPr>
        <p:style>
          <a:lnRef idx="2">
            <a:schemeClr val="accent6"/>
          </a:lnRef>
          <a:fillRef idx="1">
            <a:schemeClr val="lt1"/>
          </a:fillRef>
          <a:effectRef idx="0">
            <a:schemeClr val="accent6"/>
          </a:effectRef>
          <a:fontRef idx="minor">
            <a:schemeClr val="dk1"/>
          </a:fontRef>
        </p:style>
        <p:txBody>
          <a:bodyPr>
            <a:spAutoFit/>
          </a:bodyPr>
          <a:lstStyle/>
          <a:p>
            <a:r>
              <a:rPr lang="en-US" dirty="0" err="1"/>
              <a:t>ngDoCheck</a:t>
            </a:r>
            <a:r>
              <a:rPr lang="en-US" dirty="0"/>
              <a:t>() {</a:t>
            </a:r>
          </a:p>
          <a:p>
            <a:r>
              <a:rPr lang="en-US" dirty="0"/>
              <a:t>  console.log('Custom change detection logic');</a:t>
            </a:r>
          </a:p>
          <a:p>
            <a:r>
              <a:rPr lang="en-US" dirty="0"/>
              <a:t>}</a:t>
            </a:r>
          </a:p>
        </p:txBody>
      </p:sp>
      <p:cxnSp>
        <p:nvCxnSpPr>
          <p:cNvPr id="15" name="Straight Arrow Connector 14"/>
          <p:cNvCxnSpPr>
            <a:stCxn id="3" idx="2"/>
            <a:endCxn id="4" idx="0"/>
          </p:cNvCxnSpPr>
          <p:nvPr/>
        </p:nvCxnSpPr>
        <p:spPr>
          <a:xfrm flipH="1">
            <a:off x="3276600" y="1063506"/>
            <a:ext cx="3032760" cy="562709"/>
          </a:xfrm>
          <a:prstGeom prst="straightConnector1">
            <a:avLst/>
          </a:prstGeom>
          <a:ln w="3175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7" idx="2"/>
            <a:endCxn id="10" idx="0"/>
          </p:cNvCxnSpPr>
          <p:nvPr/>
        </p:nvCxnSpPr>
        <p:spPr>
          <a:xfrm>
            <a:off x="6167121" y="3267948"/>
            <a:ext cx="3830319" cy="136267"/>
          </a:xfrm>
          <a:prstGeom prst="straightConnector1">
            <a:avLst/>
          </a:prstGeom>
          <a:ln w="3175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7" idx="2"/>
            <a:endCxn id="9" idx="0"/>
          </p:cNvCxnSpPr>
          <p:nvPr/>
        </p:nvCxnSpPr>
        <p:spPr>
          <a:xfrm flipH="1">
            <a:off x="3261361" y="3267948"/>
            <a:ext cx="2905760" cy="226982"/>
          </a:xfrm>
          <a:prstGeom prst="straightConnector1">
            <a:avLst/>
          </a:prstGeom>
          <a:ln w="3175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3" idx="2"/>
            <a:endCxn id="5" idx="0"/>
          </p:cNvCxnSpPr>
          <p:nvPr/>
        </p:nvCxnSpPr>
        <p:spPr>
          <a:xfrm>
            <a:off x="6309360" y="1063506"/>
            <a:ext cx="3007360" cy="562709"/>
          </a:xfrm>
          <a:prstGeom prst="straightConnector1">
            <a:avLst/>
          </a:prstGeom>
          <a:ln w="3175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11" idx="2"/>
            <a:endCxn id="13" idx="0"/>
          </p:cNvCxnSpPr>
          <p:nvPr/>
        </p:nvCxnSpPr>
        <p:spPr>
          <a:xfrm>
            <a:off x="6441349" y="5182215"/>
            <a:ext cx="3387081" cy="228600"/>
          </a:xfrm>
          <a:prstGeom prst="straightConnector1">
            <a:avLst/>
          </a:prstGeom>
          <a:ln w="3175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endCxn id="12" idx="0"/>
          </p:cNvCxnSpPr>
          <p:nvPr/>
        </p:nvCxnSpPr>
        <p:spPr>
          <a:xfrm flipH="1">
            <a:off x="3368040" y="5184337"/>
            <a:ext cx="3093720" cy="367883"/>
          </a:xfrm>
          <a:prstGeom prst="straightConnector1">
            <a:avLst/>
          </a:prstGeom>
          <a:ln w="317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613456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048888" y="277614"/>
            <a:ext cx="2297424" cy="369332"/>
          </a:xfrm>
          <a:prstGeom prst="rect">
            <a:avLst/>
          </a:prstGeom>
        </p:spPr>
        <p:style>
          <a:lnRef idx="2">
            <a:schemeClr val="accent5"/>
          </a:lnRef>
          <a:fillRef idx="1">
            <a:schemeClr val="lt1"/>
          </a:fillRef>
          <a:effectRef idx="0">
            <a:schemeClr val="accent5"/>
          </a:effectRef>
          <a:fontRef idx="minor">
            <a:schemeClr val="dk1"/>
          </a:fontRef>
        </p:style>
        <p:txBody>
          <a:bodyPr wrap="none">
            <a:spAutoFit/>
          </a:bodyPr>
          <a:lstStyle/>
          <a:p>
            <a:r>
              <a:rPr lang="en-US" dirty="0" err="1"/>
              <a:t>ngAfterContentInit</a:t>
            </a:r>
            <a:r>
              <a:rPr lang="en-US" dirty="0"/>
              <a:t>()</a:t>
            </a:r>
          </a:p>
        </p:txBody>
      </p:sp>
      <p:sp>
        <p:nvSpPr>
          <p:cNvPr id="4" name="Rectangle 1"/>
          <p:cNvSpPr>
            <a:spLocks noChangeArrowheads="1"/>
          </p:cNvSpPr>
          <p:nvPr/>
        </p:nvSpPr>
        <p:spPr bwMode="auto">
          <a:xfrm>
            <a:off x="477520" y="883665"/>
            <a:ext cx="6177280" cy="923330"/>
          </a:xfrm>
          <a:prstGeom prst="rect">
            <a:avLst/>
          </a:prstGeom>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When It’s Called:</a:t>
            </a:r>
            <a:r>
              <a:rPr kumimoji="0" lang="en-US" altLang="en-US" sz="1800" b="0" i="0" u="none" strike="noStrike" cap="none" normalizeH="0" baseline="0" dirty="0" smtClean="0">
                <a:ln>
                  <a:noFill/>
                </a:ln>
                <a:solidFill>
                  <a:schemeClr val="tx1"/>
                </a:solidFill>
                <a:effectLst/>
                <a:latin typeface="Arial" panose="020B0604020202020204" pitchFamily="34" charset="0"/>
              </a:rPr>
              <a:t> After Angular projects external content into the component’s view.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Use Case:</a:t>
            </a:r>
            <a:r>
              <a:rPr kumimoji="0" lang="en-US" altLang="en-US" sz="1800" b="0" i="0" u="none" strike="noStrike" cap="none" normalizeH="0" baseline="0" dirty="0" smtClean="0">
                <a:ln>
                  <a:noFill/>
                </a:ln>
                <a:solidFill>
                  <a:schemeClr val="tx1"/>
                </a:solidFill>
                <a:effectLst/>
                <a:latin typeface="Arial" panose="020B0604020202020204" pitchFamily="34" charset="0"/>
              </a:rPr>
              <a:t> Respond after content projection is done. </a:t>
            </a:r>
          </a:p>
        </p:txBody>
      </p:sp>
      <p:sp>
        <p:nvSpPr>
          <p:cNvPr id="5" name="Rectangle 4"/>
          <p:cNvSpPr/>
          <p:nvPr/>
        </p:nvSpPr>
        <p:spPr>
          <a:xfrm>
            <a:off x="7026512" y="880443"/>
            <a:ext cx="4831952" cy="92333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dirty="0" err="1"/>
              <a:t>ngAfterContentInit</a:t>
            </a:r>
            <a:r>
              <a:rPr lang="en-US" dirty="0"/>
              <a:t>() {</a:t>
            </a:r>
          </a:p>
          <a:p>
            <a:r>
              <a:rPr lang="en-US" dirty="0"/>
              <a:t>  console.log('Content has been projected');</a:t>
            </a:r>
          </a:p>
          <a:p>
            <a:r>
              <a:rPr lang="en-US" dirty="0"/>
              <a:t>}</a:t>
            </a:r>
          </a:p>
        </p:txBody>
      </p:sp>
      <p:sp>
        <p:nvSpPr>
          <p:cNvPr id="6" name="Rectangle 5"/>
          <p:cNvSpPr/>
          <p:nvPr/>
        </p:nvSpPr>
        <p:spPr>
          <a:xfrm>
            <a:off x="5139992" y="2064405"/>
            <a:ext cx="2826415" cy="369332"/>
          </a:xfrm>
          <a:prstGeom prst="rect">
            <a:avLst/>
          </a:prstGeom>
        </p:spPr>
        <p:style>
          <a:lnRef idx="2">
            <a:schemeClr val="accent4"/>
          </a:lnRef>
          <a:fillRef idx="1">
            <a:schemeClr val="lt1"/>
          </a:fillRef>
          <a:effectRef idx="0">
            <a:schemeClr val="accent4"/>
          </a:effectRef>
          <a:fontRef idx="minor">
            <a:schemeClr val="dk1"/>
          </a:fontRef>
        </p:style>
        <p:txBody>
          <a:bodyPr wrap="none">
            <a:spAutoFit/>
          </a:bodyPr>
          <a:lstStyle/>
          <a:p>
            <a:r>
              <a:rPr lang="en-US" dirty="0" err="1"/>
              <a:t>ngAfterContentChecked</a:t>
            </a:r>
            <a:r>
              <a:rPr lang="en-US" dirty="0"/>
              <a:t>()</a:t>
            </a:r>
          </a:p>
        </p:txBody>
      </p:sp>
      <p:sp>
        <p:nvSpPr>
          <p:cNvPr id="7" name="Rectangle 2"/>
          <p:cNvSpPr>
            <a:spLocks noChangeArrowheads="1"/>
          </p:cNvSpPr>
          <p:nvPr/>
        </p:nvSpPr>
        <p:spPr bwMode="auto">
          <a:xfrm>
            <a:off x="264160" y="2702792"/>
            <a:ext cx="6604000" cy="646331"/>
          </a:xfrm>
          <a:prstGeom prst="rect">
            <a:avLst/>
          </a:prstGeom>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When It’s Called:</a:t>
            </a:r>
            <a:r>
              <a:rPr kumimoji="0" lang="en-US" altLang="en-US" sz="1800" b="0" i="0" u="none" strike="noStrike" cap="none" normalizeH="0" baseline="0" dirty="0" smtClean="0">
                <a:ln>
                  <a:noFill/>
                </a:ln>
                <a:solidFill>
                  <a:schemeClr val="tx1"/>
                </a:solidFill>
                <a:effectLst/>
                <a:latin typeface="Arial" panose="020B0604020202020204" pitchFamily="34" charset="0"/>
              </a:rPr>
              <a:t> After every check of the projected content.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Use Case:</a:t>
            </a:r>
            <a:r>
              <a:rPr kumimoji="0" lang="en-US" altLang="en-US" sz="1800" b="0" i="0" u="none" strike="noStrike" cap="none" normalizeH="0" baseline="0" dirty="0" smtClean="0">
                <a:ln>
                  <a:noFill/>
                </a:ln>
                <a:solidFill>
                  <a:schemeClr val="tx1"/>
                </a:solidFill>
                <a:effectLst/>
                <a:latin typeface="Arial" panose="020B0604020202020204" pitchFamily="34" charset="0"/>
              </a:rPr>
              <a:t> Respond after the content is checked </a:t>
            </a:r>
          </a:p>
        </p:txBody>
      </p:sp>
      <p:sp>
        <p:nvSpPr>
          <p:cNvPr id="8" name="Rectangle 7"/>
          <p:cNvSpPr/>
          <p:nvPr/>
        </p:nvSpPr>
        <p:spPr>
          <a:xfrm>
            <a:off x="7366000" y="2608440"/>
            <a:ext cx="4632960" cy="9233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err="1"/>
              <a:t>ngAfterContentChecked</a:t>
            </a:r>
            <a:r>
              <a:rPr lang="en-US" dirty="0"/>
              <a:t>() {</a:t>
            </a:r>
          </a:p>
          <a:p>
            <a:r>
              <a:rPr lang="en-US" dirty="0"/>
              <a:t>  console.log('Projected content checked');</a:t>
            </a:r>
          </a:p>
          <a:p>
            <a:r>
              <a:rPr lang="en-US" dirty="0"/>
              <a:t>}</a:t>
            </a:r>
          </a:p>
        </p:txBody>
      </p:sp>
      <p:sp>
        <p:nvSpPr>
          <p:cNvPr id="9" name="Rectangle 8"/>
          <p:cNvSpPr/>
          <p:nvPr/>
        </p:nvSpPr>
        <p:spPr>
          <a:xfrm>
            <a:off x="5139992" y="3580703"/>
            <a:ext cx="2498441" cy="369332"/>
          </a:xfrm>
          <a:prstGeom prst="rect">
            <a:avLst/>
          </a:prstGeom>
        </p:spPr>
        <p:style>
          <a:lnRef idx="2">
            <a:schemeClr val="accent4"/>
          </a:lnRef>
          <a:fillRef idx="1">
            <a:schemeClr val="lt1"/>
          </a:fillRef>
          <a:effectRef idx="0">
            <a:schemeClr val="accent4"/>
          </a:effectRef>
          <a:fontRef idx="minor">
            <a:schemeClr val="dk1"/>
          </a:fontRef>
        </p:style>
        <p:txBody>
          <a:bodyPr wrap="none">
            <a:spAutoFit/>
          </a:bodyPr>
          <a:lstStyle/>
          <a:p>
            <a:r>
              <a:rPr lang="en-US" dirty="0" err="1"/>
              <a:t>ngAfterViewChecked</a:t>
            </a:r>
            <a:r>
              <a:rPr lang="en-US" dirty="0"/>
              <a:t>()</a:t>
            </a:r>
          </a:p>
        </p:txBody>
      </p:sp>
      <p:sp>
        <p:nvSpPr>
          <p:cNvPr id="10" name="Rectangle 3"/>
          <p:cNvSpPr>
            <a:spLocks noChangeArrowheads="1"/>
          </p:cNvSpPr>
          <p:nvPr/>
        </p:nvSpPr>
        <p:spPr bwMode="auto">
          <a:xfrm>
            <a:off x="467358" y="4228590"/>
            <a:ext cx="5730241" cy="923330"/>
          </a:xfrm>
          <a:prstGeom prst="rect">
            <a:avLst/>
          </a:prstGeom>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When It’s Called:</a:t>
            </a:r>
            <a:r>
              <a:rPr kumimoji="0" lang="en-US" altLang="en-US" sz="1800" b="0" i="0" u="none" strike="noStrike" cap="none" normalizeH="0" baseline="0" dirty="0" smtClean="0">
                <a:ln>
                  <a:noFill/>
                </a:ln>
                <a:solidFill>
                  <a:schemeClr val="tx1"/>
                </a:solidFill>
                <a:effectLst/>
                <a:latin typeface="Arial" panose="020B0604020202020204" pitchFamily="34" charset="0"/>
              </a:rPr>
              <a:t> After every check of the component's view.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Use Case:</a:t>
            </a:r>
            <a:r>
              <a:rPr kumimoji="0" lang="en-US" altLang="en-US" sz="1800" b="0" i="0" u="none" strike="noStrike" cap="none" normalizeH="0" baseline="0" dirty="0" smtClean="0">
                <a:ln>
                  <a:noFill/>
                </a:ln>
                <a:solidFill>
                  <a:schemeClr val="tx1"/>
                </a:solidFill>
                <a:effectLst/>
                <a:latin typeface="Arial" panose="020B0604020202020204" pitchFamily="34" charset="0"/>
              </a:rPr>
              <a:t> Respond after the view is checked. </a:t>
            </a:r>
          </a:p>
        </p:txBody>
      </p:sp>
      <p:sp>
        <p:nvSpPr>
          <p:cNvPr id="11" name="Rectangle 10"/>
          <p:cNvSpPr/>
          <p:nvPr/>
        </p:nvSpPr>
        <p:spPr>
          <a:xfrm>
            <a:off x="6868160" y="4222327"/>
            <a:ext cx="4489753"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err="1"/>
              <a:t>ngAfterViewChecked</a:t>
            </a:r>
            <a:r>
              <a:rPr lang="en-US" dirty="0"/>
              <a:t>() {</a:t>
            </a:r>
          </a:p>
          <a:p>
            <a:r>
              <a:rPr lang="en-US" dirty="0"/>
              <a:t>  console.log('Component view checked');</a:t>
            </a:r>
          </a:p>
          <a:p>
            <a:r>
              <a:rPr lang="en-US" dirty="0"/>
              <a:t>}</a:t>
            </a:r>
          </a:p>
        </p:txBody>
      </p:sp>
      <p:sp>
        <p:nvSpPr>
          <p:cNvPr id="12" name="Rectangle 11"/>
          <p:cNvSpPr/>
          <p:nvPr/>
        </p:nvSpPr>
        <p:spPr>
          <a:xfrm>
            <a:off x="5450425" y="5252997"/>
            <a:ext cx="1657826" cy="369332"/>
          </a:xfrm>
          <a:prstGeom prst="rect">
            <a:avLst/>
          </a:prstGeom>
        </p:spPr>
        <p:style>
          <a:lnRef idx="2">
            <a:schemeClr val="accent4"/>
          </a:lnRef>
          <a:fillRef idx="1">
            <a:schemeClr val="lt1"/>
          </a:fillRef>
          <a:effectRef idx="0">
            <a:schemeClr val="accent4"/>
          </a:effectRef>
          <a:fontRef idx="minor">
            <a:schemeClr val="dk1"/>
          </a:fontRef>
        </p:style>
        <p:txBody>
          <a:bodyPr wrap="none">
            <a:spAutoFit/>
          </a:bodyPr>
          <a:lstStyle/>
          <a:p>
            <a:r>
              <a:rPr lang="en-US" dirty="0" err="1"/>
              <a:t>ngOnDestroy</a:t>
            </a:r>
            <a:r>
              <a:rPr lang="en-US" dirty="0"/>
              <a:t>()</a:t>
            </a:r>
          </a:p>
        </p:txBody>
      </p:sp>
      <p:sp>
        <p:nvSpPr>
          <p:cNvPr id="13" name="Rectangle 4"/>
          <p:cNvSpPr>
            <a:spLocks noChangeArrowheads="1"/>
          </p:cNvSpPr>
          <p:nvPr/>
        </p:nvSpPr>
        <p:spPr bwMode="auto">
          <a:xfrm>
            <a:off x="111760" y="5810108"/>
            <a:ext cx="6908800" cy="923330"/>
          </a:xfrm>
          <a:prstGeom prst="rect">
            <a:avLst/>
          </a:prstGeom>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When It’s Called:</a:t>
            </a:r>
            <a:r>
              <a:rPr kumimoji="0" lang="en-US" altLang="en-US" sz="1800" b="0" i="0" u="none" strike="noStrike" cap="none" normalizeH="0" baseline="0" dirty="0" smtClean="0">
                <a:ln>
                  <a:noFill/>
                </a:ln>
                <a:solidFill>
                  <a:schemeClr val="tx1"/>
                </a:solidFill>
                <a:effectLst/>
                <a:latin typeface="Arial" panose="020B0604020202020204" pitchFamily="34" charset="0"/>
              </a:rPr>
              <a:t> Just before Angular destroys the component.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Use Case:</a:t>
            </a:r>
            <a:r>
              <a:rPr kumimoji="0" lang="en-US" altLang="en-US" sz="1800" b="0" i="0" u="none" strike="noStrike" cap="none" normalizeH="0" baseline="0" dirty="0" smtClean="0">
                <a:ln>
                  <a:noFill/>
                </a:ln>
                <a:solidFill>
                  <a:schemeClr val="tx1"/>
                </a:solidFill>
                <a:effectLst/>
                <a:latin typeface="Arial" panose="020B0604020202020204" pitchFamily="34" charset="0"/>
              </a:rPr>
              <a:t> Clean up resources, unsubscribe from observables, detach event handlers, etc. </a:t>
            </a:r>
          </a:p>
        </p:txBody>
      </p:sp>
      <p:sp>
        <p:nvSpPr>
          <p:cNvPr id="14" name="Rectangle 13"/>
          <p:cNvSpPr/>
          <p:nvPr/>
        </p:nvSpPr>
        <p:spPr>
          <a:xfrm>
            <a:off x="7449024" y="5836214"/>
            <a:ext cx="4409440" cy="9233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err="1"/>
              <a:t>ngOnDestroy</a:t>
            </a:r>
            <a:r>
              <a:rPr lang="en-US" dirty="0"/>
              <a:t>() {</a:t>
            </a:r>
          </a:p>
          <a:p>
            <a:r>
              <a:rPr lang="en-US" dirty="0"/>
              <a:t>  console.log('Component destroyed');</a:t>
            </a:r>
          </a:p>
          <a:p>
            <a:r>
              <a:rPr lang="en-US" dirty="0"/>
              <a:t>}</a:t>
            </a:r>
          </a:p>
        </p:txBody>
      </p:sp>
      <p:cxnSp>
        <p:nvCxnSpPr>
          <p:cNvPr id="16" name="Straight Arrow Connector 15"/>
          <p:cNvCxnSpPr>
            <a:stCxn id="3" idx="2"/>
            <a:endCxn id="4" idx="0"/>
          </p:cNvCxnSpPr>
          <p:nvPr/>
        </p:nvCxnSpPr>
        <p:spPr>
          <a:xfrm flipH="1">
            <a:off x="3566160" y="646946"/>
            <a:ext cx="2631440" cy="236719"/>
          </a:xfrm>
          <a:prstGeom prst="straightConnector1">
            <a:avLst/>
          </a:prstGeom>
          <a:ln w="34925">
            <a:tailEnd type="triangle"/>
          </a:ln>
        </p:spPr>
        <p:style>
          <a:lnRef idx="1">
            <a:schemeClr val="accent5"/>
          </a:lnRef>
          <a:fillRef idx="0">
            <a:schemeClr val="accent5"/>
          </a:fillRef>
          <a:effectRef idx="0">
            <a:schemeClr val="accent5"/>
          </a:effectRef>
          <a:fontRef idx="minor">
            <a:schemeClr val="tx1"/>
          </a:fontRef>
        </p:style>
      </p:cxnSp>
      <p:cxnSp>
        <p:nvCxnSpPr>
          <p:cNvPr id="17" name="Straight Arrow Connector 16"/>
          <p:cNvCxnSpPr>
            <a:stCxn id="6" idx="2"/>
            <a:endCxn id="7" idx="0"/>
          </p:cNvCxnSpPr>
          <p:nvPr/>
        </p:nvCxnSpPr>
        <p:spPr>
          <a:xfrm flipH="1">
            <a:off x="3566160" y="2433737"/>
            <a:ext cx="2987040" cy="269055"/>
          </a:xfrm>
          <a:prstGeom prst="straightConnector1">
            <a:avLst/>
          </a:prstGeom>
          <a:ln w="34925">
            <a:tailEnd type="triangle"/>
          </a:ln>
        </p:spPr>
        <p:style>
          <a:lnRef idx="1">
            <a:schemeClr val="accent5"/>
          </a:lnRef>
          <a:fillRef idx="0">
            <a:schemeClr val="accent5"/>
          </a:fillRef>
          <a:effectRef idx="0">
            <a:schemeClr val="accent5"/>
          </a:effectRef>
          <a:fontRef idx="minor">
            <a:schemeClr val="tx1"/>
          </a:fontRef>
        </p:style>
      </p:cxnSp>
      <p:cxnSp>
        <p:nvCxnSpPr>
          <p:cNvPr id="18" name="Straight Arrow Connector 17"/>
          <p:cNvCxnSpPr>
            <a:stCxn id="9" idx="2"/>
            <a:endCxn id="11" idx="0"/>
          </p:cNvCxnSpPr>
          <p:nvPr/>
        </p:nvCxnSpPr>
        <p:spPr>
          <a:xfrm>
            <a:off x="6389213" y="3950035"/>
            <a:ext cx="2723824" cy="272292"/>
          </a:xfrm>
          <a:prstGeom prst="straightConnector1">
            <a:avLst/>
          </a:prstGeom>
          <a:ln w="34925">
            <a:tailEnd type="triangle"/>
          </a:ln>
        </p:spPr>
        <p:style>
          <a:lnRef idx="1">
            <a:schemeClr val="accent5"/>
          </a:lnRef>
          <a:fillRef idx="0">
            <a:schemeClr val="accent5"/>
          </a:fillRef>
          <a:effectRef idx="0">
            <a:schemeClr val="accent5"/>
          </a:effectRef>
          <a:fontRef idx="minor">
            <a:schemeClr val="tx1"/>
          </a:fontRef>
        </p:style>
      </p:cxnSp>
      <p:cxnSp>
        <p:nvCxnSpPr>
          <p:cNvPr id="19" name="Straight Arrow Connector 18"/>
          <p:cNvCxnSpPr>
            <a:stCxn id="9" idx="2"/>
            <a:endCxn id="10" idx="0"/>
          </p:cNvCxnSpPr>
          <p:nvPr/>
        </p:nvCxnSpPr>
        <p:spPr>
          <a:xfrm flipH="1">
            <a:off x="3332479" y="3950035"/>
            <a:ext cx="3056734" cy="278555"/>
          </a:xfrm>
          <a:prstGeom prst="straightConnector1">
            <a:avLst/>
          </a:prstGeom>
          <a:ln w="34925">
            <a:tailEnd type="triangle"/>
          </a:ln>
        </p:spPr>
        <p:style>
          <a:lnRef idx="1">
            <a:schemeClr val="accent5"/>
          </a:lnRef>
          <a:fillRef idx="0">
            <a:schemeClr val="accent5"/>
          </a:fillRef>
          <a:effectRef idx="0">
            <a:schemeClr val="accent5"/>
          </a:effectRef>
          <a:fontRef idx="minor">
            <a:schemeClr val="tx1"/>
          </a:fontRef>
        </p:style>
      </p:cxnSp>
      <p:cxnSp>
        <p:nvCxnSpPr>
          <p:cNvPr id="20" name="Straight Arrow Connector 19"/>
          <p:cNvCxnSpPr>
            <a:stCxn id="6" idx="2"/>
            <a:endCxn id="8" idx="0"/>
          </p:cNvCxnSpPr>
          <p:nvPr/>
        </p:nvCxnSpPr>
        <p:spPr>
          <a:xfrm>
            <a:off x="6553200" y="2433737"/>
            <a:ext cx="3129280" cy="174703"/>
          </a:xfrm>
          <a:prstGeom prst="straightConnector1">
            <a:avLst/>
          </a:prstGeom>
          <a:ln w="34925">
            <a:tailEnd type="triangle"/>
          </a:ln>
        </p:spPr>
        <p:style>
          <a:lnRef idx="1">
            <a:schemeClr val="accent5"/>
          </a:lnRef>
          <a:fillRef idx="0">
            <a:schemeClr val="accent5"/>
          </a:fillRef>
          <a:effectRef idx="0">
            <a:schemeClr val="accent5"/>
          </a:effectRef>
          <a:fontRef idx="minor">
            <a:schemeClr val="tx1"/>
          </a:fontRef>
        </p:style>
      </p:cxnSp>
      <p:cxnSp>
        <p:nvCxnSpPr>
          <p:cNvPr id="21" name="Straight Arrow Connector 20"/>
          <p:cNvCxnSpPr>
            <a:stCxn id="3" idx="2"/>
            <a:endCxn id="5" idx="0"/>
          </p:cNvCxnSpPr>
          <p:nvPr/>
        </p:nvCxnSpPr>
        <p:spPr>
          <a:xfrm>
            <a:off x="6197600" y="646946"/>
            <a:ext cx="3244888" cy="233497"/>
          </a:xfrm>
          <a:prstGeom prst="straightConnector1">
            <a:avLst/>
          </a:prstGeom>
          <a:ln w="34925">
            <a:tailEnd type="triangle"/>
          </a:ln>
        </p:spPr>
        <p:style>
          <a:lnRef idx="1">
            <a:schemeClr val="accent5"/>
          </a:lnRef>
          <a:fillRef idx="0">
            <a:schemeClr val="accent5"/>
          </a:fillRef>
          <a:effectRef idx="0">
            <a:schemeClr val="accent5"/>
          </a:effectRef>
          <a:fontRef idx="minor">
            <a:schemeClr val="tx1"/>
          </a:fontRef>
        </p:style>
      </p:cxnSp>
      <p:cxnSp>
        <p:nvCxnSpPr>
          <p:cNvPr id="32" name="Straight Arrow Connector 31"/>
          <p:cNvCxnSpPr>
            <a:stCxn id="12" idx="2"/>
            <a:endCxn id="14" idx="0"/>
          </p:cNvCxnSpPr>
          <p:nvPr/>
        </p:nvCxnSpPr>
        <p:spPr>
          <a:xfrm>
            <a:off x="6279338" y="5622329"/>
            <a:ext cx="3374406" cy="213885"/>
          </a:xfrm>
          <a:prstGeom prst="straightConnector1">
            <a:avLst/>
          </a:prstGeom>
          <a:ln w="34925">
            <a:tailEnd type="triangle"/>
          </a:ln>
        </p:spPr>
        <p:style>
          <a:lnRef idx="1">
            <a:schemeClr val="accent5"/>
          </a:lnRef>
          <a:fillRef idx="0">
            <a:schemeClr val="accent5"/>
          </a:fillRef>
          <a:effectRef idx="0">
            <a:schemeClr val="accent5"/>
          </a:effectRef>
          <a:fontRef idx="minor">
            <a:schemeClr val="tx1"/>
          </a:fontRef>
        </p:style>
      </p:cxnSp>
      <p:cxnSp>
        <p:nvCxnSpPr>
          <p:cNvPr id="33" name="Straight Arrow Connector 32"/>
          <p:cNvCxnSpPr>
            <a:endCxn id="13" idx="0"/>
          </p:cNvCxnSpPr>
          <p:nvPr/>
        </p:nvCxnSpPr>
        <p:spPr>
          <a:xfrm flipH="1">
            <a:off x="3566160" y="5597294"/>
            <a:ext cx="2713178" cy="212814"/>
          </a:xfrm>
          <a:prstGeom prst="straightConnector1">
            <a:avLst/>
          </a:prstGeom>
          <a:ln w="34925">
            <a:tailEnd type="triangle"/>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76464806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8541" y="574431"/>
            <a:ext cx="1318521" cy="401515"/>
          </a:xfrm>
          <a:ln w="38100">
            <a:solidFill>
              <a:srgbClr val="0070C0"/>
            </a:solidFill>
          </a:ln>
        </p:spPr>
        <p:txBody>
          <a:bodyPr>
            <a:normAutofit fontScale="90000"/>
          </a:bodyPr>
          <a:lstStyle/>
          <a:p>
            <a:r>
              <a:rPr lang="en-US" sz="2400" dirty="0"/>
              <a:t>Material</a:t>
            </a:r>
          </a:p>
        </p:txBody>
      </p:sp>
      <p:sp>
        <p:nvSpPr>
          <p:cNvPr id="3" name="Rectangle 2"/>
          <p:cNvSpPr/>
          <p:nvPr/>
        </p:nvSpPr>
        <p:spPr>
          <a:xfrm>
            <a:off x="1327800" y="1169267"/>
            <a:ext cx="8510791" cy="1200329"/>
          </a:xfrm>
          <a:prstGeom prst="rect">
            <a:avLst/>
          </a:prstGeom>
          <a:ln w="28575">
            <a:solidFill>
              <a:schemeClr val="accent2">
                <a:lumMod val="60000"/>
                <a:lumOff val="40000"/>
              </a:schemeClr>
            </a:solidFill>
          </a:ln>
        </p:spPr>
        <p:style>
          <a:lnRef idx="2">
            <a:schemeClr val="accent5"/>
          </a:lnRef>
          <a:fillRef idx="1">
            <a:schemeClr val="lt1"/>
          </a:fillRef>
          <a:effectRef idx="0">
            <a:schemeClr val="accent5"/>
          </a:effectRef>
          <a:fontRef idx="minor">
            <a:schemeClr val="dk1"/>
          </a:fontRef>
        </p:style>
        <p:txBody>
          <a:bodyPr wrap="square">
            <a:spAutoFit/>
          </a:bodyPr>
          <a:lstStyle/>
          <a:p>
            <a:pPr algn="just"/>
            <a:r>
              <a:rPr lang="en-US" dirty="0"/>
              <a:t>Angular Material is a UI component library for Angular developers, providing a range of pre-built, customizable UI components that follow the Material Design guidelines by Google. It helps you build consistent, responsive, and visually appealing user interfaces with ease.</a:t>
            </a:r>
          </a:p>
        </p:txBody>
      </p:sp>
      <p:sp>
        <p:nvSpPr>
          <p:cNvPr id="4" name="Rectangle 3"/>
          <p:cNvSpPr/>
          <p:nvPr/>
        </p:nvSpPr>
        <p:spPr>
          <a:xfrm>
            <a:off x="657980" y="2637665"/>
            <a:ext cx="1887055" cy="369332"/>
          </a:xfrm>
          <a:prstGeom prst="rect">
            <a:avLst/>
          </a:prstGeom>
          <a:ln w="38100">
            <a:solidFill>
              <a:srgbClr val="0070C0"/>
            </a:solidFill>
          </a:ln>
        </p:spPr>
        <p:txBody>
          <a:bodyPr wrap="none">
            <a:spAutoFit/>
          </a:bodyPr>
          <a:lstStyle/>
          <a:p>
            <a:r>
              <a:rPr lang="en-US" dirty="0" smtClean="0"/>
              <a:t>Install </a:t>
            </a:r>
            <a:r>
              <a:rPr lang="en-US" dirty="0"/>
              <a:t>Material:</a:t>
            </a:r>
          </a:p>
        </p:txBody>
      </p:sp>
      <p:sp>
        <p:nvSpPr>
          <p:cNvPr id="5" name="Rectangle 4"/>
          <p:cNvSpPr/>
          <p:nvPr/>
        </p:nvSpPr>
        <p:spPr>
          <a:xfrm>
            <a:off x="2444665" y="2905707"/>
            <a:ext cx="2888932" cy="369332"/>
          </a:xfrm>
          <a:prstGeom prst="rect">
            <a:avLst/>
          </a:prstGeom>
          <a:ln w="38100">
            <a:solidFill>
              <a:schemeClr val="accent4"/>
            </a:solidFill>
          </a:ln>
        </p:spPr>
        <p:txBody>
          <a:bodyPr wrap="none">
            <a:spAutoFit/>
          </a:bodyPr>
          <a:lstStyle/>
          <a:p>
            <a:r>
              <a:rPr lang="en-US" dirty="0"/>
              <a:t>ng add @angular/material</a:t>
            </a:r>
          </a:p>
        </p:txBody>
      </p:sp>
      <p:sp>
        <p:nvSpPr>
          <p:cNvPr id="6" name="Rectangle 5"/>
          <p:cNvSpPr/>
          <p:nvPr/>
        </p:nvSpPr>
        <p:spPr>
          <a:xfrm>
            <a:off x="5238035" y="3173749"/>
            <a:ext cx="3140283" cy="369332"/>
          </a:xfrm>
          <a:prstGeom prst="rect">
            <a:avLst/>
          </a:prstGeom>
          <a:noFill/>
          <a:ln w="38100"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none">
            <a:spAutoFit/>
          </a:bodyPr>
          <a:lstStyle/>
          <a:p>
            <a:r>
              <a:rPr lang="en-US" dirty="0"/>
              <a:t>https://material.angular.io/</a:t>
            </a:r>
          </a:p>
        </p:txBody>
      </p:sp>
      <p:sp>
        <p:nvSpPr>
          <p:cNvPr id="7" name="Rectangle 6"/>
          <p:cNvSpPr/>
          <p:nvPr/>
        </p:nvSpPr>
        <p:spPr>
          <a:xfrm>
            <a:off x="801854" y="3661983"/>
            <a:ext cx="2089033" cy="369332"/>
          </a:xfrm>
          <a:prstGeom prst="rect">
            <a:avLst/>
          </a:prstGeom>
          <a:ln w="38100">
            <a:solidFill>
              <a:srgbClr val="7030A0"/>
            </a:solidFill>
          </a:ln>
        </p:spPr>
        <p:txBody>
          <a:bodyPr wrap="none">
            <a:spAutoFit/>
          </a:bodyPr>
          <a:lstStyle/>
          <a:p>
            <a:r>
              <a:rPr lang="en-US" dirty="0" smtClean="0"/>
              <a:t>Examples </a:t>
            </a:r>
            <a:r>
              <a:rPr lang="en-US" dirty="0" smtClean="0">
                <a:solidFill>
                  <a:srgbClr val="00B0F0"/>
                </a:solidFill>
              </a:rPr>
              <a:t>Buttons</a:t>
            </a:r>
            <a:r>
              <a:rPr lang="en-US" dirty="0"/>
              <a:t>:</a:t>
            </a:r>
          </a:p>
        </p:txBody>
      </p:sp>
      <p:sp>
        <p:nvSpPr>
          <p:cNvPr id="8" name="Rectangle 7"/>
          <p:cNvSpPr/>
          <p:nvPr/>
        </p:nvSpPr>
        <p:spPr>
          <a:xfrm>
            <a:off x="2819400" y="3846649"/>
            <a:ext cx="7379676" cy="923330"/>
          </a:xfrm>
          <a:prstGeom prst="rect">
            <a:avLst/>
          </a:prstGeom>
          <a:ln w="38100">
            <a:solidFill>
              <a:srgbClr val="FFFF00"/>
            </a:solidFill>
          </a:ln>
        </p:spPr>
        <p:txBody>
          <a:bodyPr wrap="square">
            <a:spAutoFit/>
          </a:bodyPr>
          <a:lstStyle/>
          <a:p>
            <a:pPr algn="just"/>
            <a:r>
              <a:rPr lang="en-US" dirty="0"/>
              <a:t>Angular Material buttons come with built-in styles and animations. You can easily create different types of buttons like raised, flat, and icon buttons.</a:t>
            </a:r>
          </a:p>
        </p:txBody>
      </p:sp>
      <p:sp>
        <p:nvSpPr>
          <p:cNvPr id="9" name="Rectangle 8"/>
          <p:cNvSpPr/>
          <p:nvPr/>
        </p:nvSpPr>
        <p:spPr>
          <a:xfrm>
            <a:off x="1535723" y="5178559"/>
            <a:ext cx="6096000" cy="1477328"/>
          </a:xfrm>
          <a:prstGeom prst="rect">
            <a:avLst/>
          </a:prstGeom>
          <a:ln w="57150">
            <a:solidFill>
              <a:schemeClr val="tx2">
                <a:lumMod val="60000"/>
                <a:lumOff val="40000"/>
              </a:schemeClr>
            </a:solidFill>
          </a:ln>
        </p:spPr>
        <p:txBody>
          <a:bodyPr>
            <a:spAutoFit/>
          </a:bodyPr>
          <a:lstStyle/>
          <a:p>
            <a:r>
              <a:rPr lang="en-US" dirty="0"/>
              <a:t>&lt;button mat-button&gt;Basic Button&lt;/button&gt;</a:t>
            </a:r>
          </a:p>
          <a:p>
            <a:r>
              <a:rPr lang="en-US" dirty="0"/>
              <a:t>&lt;button mat-raised-button&gt;Raised Button&lt;/button&gt;</a:t>
            </a:r>
          </a:p>
          <a:p>
            <a:r>
              <a:rPr lang="en-US" dirty="0"/>
              <a:t>&lt;button mat-icon-button&gt;</a:t>
            </a:r>
          </a:p>
          <a:p>
            <a:r>
              <a:rPr lang="en-US" dirty="0"/>
              <a:t>  &lt;mat-icon&gt;favorite&lt;/mat-icon&gt;</a:t>
            </a:r>
          </a:p>
          <a:p>
            <a:r>
              <a:rPr lang="en-US" dirty="0"/>
              <a:t>&lt;/button&gt;</a:t>
            </a:r>
          </a:p>
        </p:txBody>
      </p:sp>
      <p:cxnSp>
        <p:nvCxnSpPr>
          <p:cNvPr id="11" name="Straight Arrow Connector 10"/>
          <p:cNvCxnSpPr>
            <a:stCxn id="7" idx="2"/>
            <a:endCxn id="9" idx="1"/>
          </p:cNvCxnSpPr>
          <p:nvPr/>
        </p:nvCxnSpPr>
        <p:spPr>
          <a:xfrm flipH="1">
            <a:off x="1535723" y="4031315"/>
            <a:ext cx="310648" cy="188590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616043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5732585" y="0"/>
            <a:ext cx="6459415" cy="6858000"/>
          </a:xfrm>
          <a:prstGeom prst="rect">
            <a:avLst/>
          </a:prstGeom>
        </p:spPr>
      </p:pic>
      <p:pic>
        <p:nvPicPr>
          <p:cNvPr id="5" name="Picture 4"/>
          <p:cNvPicPr>
            <a:picLocks noChangeAspect="1"/>
          </p:cNvPicPr>
          <p:nvPr/>
        </p:nvPicPr>
        <p:blipFill>
          <a:blip r:embed="rId3"/>
          <a:stretch>
            <a:fillRect/>
          </a:stretch>
        </p:blipFill>
        <p:spPr>
          <a:xfrm>
            <a:off x="0" y="76753"/>
            <a:ext cx="2676899" cy="6704493"/>
          </a:xfrm>
          <a:prstGeom prst="rect">
            <a:avLst/>
          </a:prstGeom>
        </p:spPr>
      </p:pic>
      <p:pic>
        <p:nvPicPr>
          <p:cNvPr id="6" name="Picture 5"/>
          <p:cNvPicPr>
            <a:picLocks noChangeAspect="1"/>
          </p:cNvPicPr>
          <p:nvPr/>
        </p:nvPicPr>
        <p:blipFill>
          <a:blip r:embed="rId4"/>
          <a:stretch>
            <a:fillRect/>
          </a:stretch>
        </p:blipFill>
        <p:spPr>
          <a:xfrm>
            <a:off x="2894826" y="46674"/>
            <a:ext cx="3154281" cy="6811326"/>
          </a:xfrm>
          <a:prstGeom prst="rect">
            <a:avLst/>
          </a:prstGeom>
        </p:spPr>
      </p:pic>
    </p:spTree>
    <p:extLst>
      <p:ext uri="{BB962C8B-B14F-4D97-AF65-F5344CB8AC3E}">
        <p14:creationId xmlns:p14="http://schemas.microsoft.com/office/powerpoint/2010/main" val="351165303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 y="0"/>
            <a:ext cx="5811715" cy="6858000"/>
          </a:xfrm>
          <a:prstGeom prst="rect">
            <a:avLst/>
          </a:prstGeom>
        </p:spPr>
      </p:pic>
      <p:sp>
        <p:nvSpPr>
          <p:cNvPr id="6" name="Rectangle 5"/>
          <p:cNvSpPr/>
          <p:nvPr/>
        </p:nvSpPr>
        <p:spPr>
          <a:xfrm>
            <a:off x="6096000" y="591235"/>
            <a:ext cx="6096000" cy="646331"/>
          </a:xfrm>
          <a:prstGeom prst="rect">
            <a:avLst/>
          </a:prstGeom>
          <a:ln w="38100">
            <a:solidFill>
              <a:schemeClr val="accent4"/>
            </a:solidFill>
          </a:ln>
        </p:spPr>
        <p:txBody>
          <a:bodyPr>
            <a:spAutoFit/>
          </a:bodyPr>
          <a:lstStyle/>
          <a:p>
            <a:r>
              <a:rPr lang="en-US" dirty="0"/>
              <a:t>&lt;mat-icon aria-hidden="false" aria-label="Example home icon" </a:t>
            </a:r>
            <a:r>
              <a:rPr lang="en-US" dirty="0" err="1"/>
              <a:t>fontIcon</a:t>
            </a:r>
            <a:r>
              <a:rPr lang="en-US" dirty="0"/>
              <a:t>="home"&gt;&lt;/mat-icon&gt;</a:t>
            </a:r>
          </a:p>
        </p:txBody>
      </p:sp>
      <p:sp>
        <p:nvSpPr>
          <p:cNvPr id="7" name="Rectangle 3"/>
          <p:cNvSpPr>
            <a:spLocks noChangeArrowheads="1"/>
          </p:cNvSpPr>
          <p:nvPr/>
        </p:nvSpPr>
        <p:spPr bwMode="auto">
          <a:xfrm>
            <a:off x="6446227" y="2149605"/>
            <a:ext cx="5395546" cy="1538883"/>
          </a:xfrm>
          <a:prstGeom prst="rect">
            <a:avLst/>
          </a:prstGeom>
          <a:ln w="38100"/>
        </p:spPr>
        <p:style>
          <a:lnRef idx="2">
            <a:schemeClr val="accent5"/>
          </a:lnRef>
          <a:fillRef idx="1">
            <a:schemeClr val="lt1"/>
          </a:fillRef>
          <a:effectRef idx="0">
            <a:schemeClr val="accent5"/>
          </a:effectRef>
          <a:fontRef idx="minor">
            <a:schemeClr val="dk1"/>
          </a:fontRef>
        </p:style>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9C27B0"/>
                </a:solidFill>
                <a:effectLst/>
                <a:latin typeface="Roboto Mono"/>
              </a:rPr>
              <a:t>&lt;</a:t>
            </a:r>
            <a:r>
              <a:rPr kumimoji="0" lang="en-US" altLang="en-US" sz="2000" b="0" i="0" u="none" strike="noStrike" cap="none" normalizeH="0" baseline="0" dirty="0" smtClean="0">
                <a:ln>
                  <a:noFill/>
                </a:ln>
                <a:solidFill>
                  <a:srgbClr val="3B78E7"/>
                </a:solidFill>
                <a:effectLst/>
                <a:latin typeface="Roboto Mono"/>
              </a:rPr>
              <a:t>mat-list</a:t>
            </a:r>
            <a:r>
              <a:rPr kumimoji="0" lang="en-US" altLang="en-US" sz="2000" b="0" i="0" u="none" strike="noStrike" cap="none" normalizeH="0" baseline="0" dirty="0" smtClean="0">
                <a:ln>
                  <a:noFill/>
                </a:ln>
                <a:solidFill>
                  <a:srgbClr val="9C27B0"/>
                </a:solidFill>
                <a:effectLst/>
                <a:latin typeface="Roboto Mono"/>
              </a:rPr>
              <a:t>&gt;</a:t>
            </a:r>
            <a:r>
              <a:rPr kumimoji="0" lang="en-US" altLang="en-US" sz="2000" b="0" i="0" u="none" strike="noStrike" cap="none" normalizeH="0" baseline="0" dirty="0" smtClean="0">
                <a:ln>
                  <a:noFill/>
                </a:ln>
                <a:solidFill>
                  <a:srgbClr val="1A1B1F"/>
                </a:solidFill>
                <a:effectLst/>
                <a:latin typeface="Roboto Mono"/>
              </a:rPr>
              <a:t> </a:t>
            </a:r>
            <a:r>
              <a:rPr kumimoji="0" lang="en-US" altLang="en-US" sz="2000" b="0" i="0" u="none" strike="noStrike" cap="none" normalizeH="0" baseline="0" dirty="0" smtClean="0">
                <a:ln>
                  <a:noFill/>
                </a:ln>
                <a:solidFill>
                  <a:srgbClr val="9C27B0"/>
                </a:solidFill>
                <a:effectLst/>
                <a:latin typeface="Roboto Mono"/>
              </a:rPr>
              <a:t>&lt;</a:t>
            </a:r>
            <a:r>
              <a:rPr kumimoji="0" lang="en-US" altLang="en-US" sz="2000" b="0" i="0" u="none" strike="noStrike" cap="none" normalizeH="0" baseline="0" dirty="0" smtClean="0">
                <a:ln>
                  <a:noFill/>
                </a:ln>
                <a:solidFill>
                  <a:srgbClr val="3B78E7"/>
                </a:solidFill>
                <a:effectLst/>
                <a:latin typeface="Roboto Mono"/>
              </a:rPr>
              <a:t>mat-list-item</a:t>
            </a:r>
            <a:r>
              <a:rPr kumimoji="0" lang="en-US" altLang="en-US" sz="2000" b="0" i="0" u="none" strike="noStrike" cap="none" normalizeH="0" baseline="0" dirty="0" smtClean="0">
                <a:ln>
                  <a:noFill/>
                </a:ln>
                <a:solidFill>
                  <a:srgbClr val="9C27B0"/>
                </a:solidFill>
                <a:effectLst/>
                <a:latin typeface="Roboto Mono"/>
              </a:rPr>
              <a:t>&gt;</a:t>
            </a:r>
            <a:r>
              <a:rPr kumimoji="0" lang="en-US" altLang="en-US" sz="2000" b="0" i="0" u="none" strike="noStrike" cap="none" normalizeH="0" baseline="0" dirty="0" smtClean="0">
                <a:ln>
                  <a:noFill/>
                </a:ln>
                <a:solidFill>
                  <a:srgbClr val="1A1B1F"/>
                </a:solidFill>
                <a:effectLst/>
                <a:latin typeface="Roboto Mono"/>
              </a:rPr>
              <a:t>Item 1</a:t>
            </a:r>
            <a:r>
              <a:rPr kumimoji="0" lang="en-US" altLang="en-US" sz="2000" b="0" i="0" u="none" strike="noStrike" cap="none" normalizeH="0" baseline="0" dirty="0" smtClean="0">
                <a:ln>
                  <a:noFill/>
                </a:ln>
                <a:solidFill>
                  <a:srgbClr val="9C27B0"/>
                </a:solidFill>
                <a:effectLst/>
                <a:latin typeface="Roboto Mono"/>
              </a:rPr>
              <a:t>&lt;/</a:t>
            </a:r>
            <a:r>
              <a:rPr kumimoji="0" lang="en-US" altLang="en-US" sz="2000" b="0" i="0" u="none" strike="noStrike" cap="none" normalizeH="0" baseline="0" dirty="0" smtClean="0">
                <a:ln>
                  <a:noFill/>
                </a:ln>
                <a:solidFill>
                  <a:srgbClr val="3B78E7"/>
                </a:solidFill>
                <a:effectLst/>
                <a:latin typeface="Roboto Mono"/>
              </a:rPr>
              <a:t>mat-list-item</a:t>
            </a:r>
            <a:r>
              <a:rPr kumimoji="0" lang="en-US" altLang="en-US" sz="2000" b="0" i="0" u="none" strike="noStrike" cap="none" normalizeH="0" baseline="0" dirty="0" smtClean="0">
                <a:ln>
                  <a:noFill/>
                </a:ln>
                <a:solidFill>
                  <a:srgbClr val="9C27B0"/>
                </a:solidFill>
                <a:effectLst/>
                <a:latin typeface="Roboto Mono"/>
              </a:rPr>
              <a:t>&gt;</a:t>
            </a:r>
            <a:r>
              <a:rPr kumimoji="0" lang="en-US" altLang="en-US" sz="2000" b="0" i="0" u="none" strike="noStrike" cap="none" normalizeH="0" baseline="0" dirty="0" smtClean="0">
                <a:ln>
                  <a:noFill/>
                </a:ln>
                <a:solidFill>
                  <a:srgbClr val="1A1B1F"/>
                </a:solidFill>
                <a:effectLst/>
                <a:latin typeface="Roboto Mono"/>
              </a:rPr>
              <a:t> </a:t>
            </a:r>
            <a:r>
              <a:rPr kumimoji="0" lang="en-US" altLang="en-US" sz="2000" b="0" i="0" u="none" strike="noStrike" cap="none" normalizeH="0" baseline="0" dirty="0" smtClean="0">
                <a:ln>
                  <a:noFill/>
                </a:ln>
                <a:solidFill>
                  <a:srgbClr val="9C27B0"/>
                </a:solidFill>
                <a:effectLst/>
                <a:latin typeface="Roboto Mono"/>
              </a:rPr>
              <a:t>&lt;</a:t>
            </a:r>
            <a:r>
              <a:rPr kumimoji="0" lang="en-US" altLang="en-US" sz="2000" b="0" i="0" u="none" strike="noStrike" cap="none" normalizeH="0" baseline="0" dirty="0" smtClean="0">
                <a:ln>
                  <a:noFill/>
                </a:ln>
                <a:solidFill>
                  <a:srgbClr val="3B78E7"/>
                </a:solidFill>
                <a:effectLst/>
                <a:latin typeface="Roboto Mono"/>
              </a:rPr>
              <a:t>mat-divider</a:t>
            </a:r>
            <a:r>
              <a:rPr kumimoji="0" lang="en-US" altLang="en-US" sz="2000" b="0" i="0" u="none" strike="noStrike" cap="none" normalizeH="0" baseline="0" dirty="0" smtClean="0">
                <a:ln>
                  <a:noFill/>
                </a:ln>
                <a:solidFill>
                  <a:srgbClr val="9C27B0"/>
                </a:solidFill>
                <a:effectLst/>
                <a:latin typeface="Roboto Mono"/>
              </a:rPr>
              <a:t>&gt;&lt;/</a:t>
            </a:r>
            <a:r>
              <a:rPr kumimoji="0" lang="en-US" altLang="en-US" sz="2000" b="0" i="0" u="none" strike="noStrike" cap="none" normalizeH="0" baseline="0" dirty="0" smtClean="0">
                <a:ln>
                  <a:noFill/>
                </a:ln>
                <a:solidFill>
                  <a:srgbClr val="3B78E7"/>
                </a:solidFill>
                <a:effectLst/>
                <a:latin typeface="Roboto Mono"/>
              </a:rPr>
              <a:t>mat-divider</a:t>
            </a:r>
            <a:r>
              <a:rPr kumimoji="0" lang="en-US" altLang="en-US" sz="2000" b="0" i="0" u="none" strike="noStrike" cap="none" normalizeH="0" baseline="0" dirty="0" smtClean="0">
                <a:ln>
                  <a:noFill/>
                </a:ln>
                <a:solidFill>
                  <a:srgbClr val="9C27B0"/>
                </a:solidFill>
                <a:effectLst/>
                <a:latin typeface="Roboto Mono"/>
              </a:rPr>
              <a:t>&gt;</a:t>
            </a:r>
            <a:r>
              <a:rPr kumimoji="0" lang="en-US" altLang="en-US" sz="2000" b="0" i="0" u="none" strike="noStrike" cap="none" normalizeH="0" baseline="0" dirty="0" smtClean="0">
                <a:ln>
                  <a:noFill/>
                </a:ln>
                <a:solidFill>
                  <a:srgbClr val="1A1B1F"/>
                </a:solidFill>
                <a:effectLst/>
                <a:latin typeface="Roboto Mono"/>
              </a:rPr>
              <a:t> </a:t>
            </a:r>
            <a:r>
              <a:rPr kumimoji="0" lang="en-US" altLang="en-US" sz="2000" b="0" i="0" u="none" strike="noStrike" cap="none" normalizeH="0" baseline="0" dirty="0" smtClean="0">
                <a:ln>
                  <a:noFill/>
                </a:ln>
                <a:solidFill>
                  <a:srgbClr val="9C27B0"/>
                </a:solidFill>
                <a:effectLst/>
                <a:latin typeface="Roboto Mono"/>
              </a:rPr>
              <a:t>&lt;</a:t>
            </a:r>
            <a:r>
              <a:rPr kumimoji="0" lang="en-US" altLang="en-US" sz="2000" b="0" i="0" u="none" strike="noStrike" cap="none" normalizeH="0" baseline="0" dirty="0" smtClean="0">
                <a:ln>
                  <a:noFill/>
                </a:ln>
                <a:solidFill>
                  <a:srgbClr val="3B78E7"/>
                </a:solidFill>
                <a:effectLst/>
                <a:latin typeface="Roboto Mono"/>
              </a:rPr>
              <a:t>mat-list-item</a:t>
            </a:r>
            <a:r>
              <a:rPr kumimoji="0" lang="en-US" altLang="en-US" sz="2000" b="0" i="0" u="none" strike="noStrike" cap="none" normalizeH="0" baseline="0" dirty="0" smtClean="0">
                <a:ln>
                  <a:noFill/>
                </a:ln>
                <a:solidFill>
                  <a:srgbClr val="9C27B0"/>
                </a:solidFill>
                <a:effectLst/>
                <a:latin typeface="Roboto Mono"/>
              </a:rPr>
              <a:t>&gt;</a:t>
            </a:r>
            <a:r>
              <a:rPr kumimoji="0" lang="en-US" altLang="en-US" sz="2000" b="0" i="0" u="none" strike="noStrike" cap="none" normalizeH="0" baseline="0" dirty="0" smtClean="0">
                <a:ln>
                  <a:noFill/>
                </a:ln>
                <a:solidFill>
                  <a:srgbClr val="1A1B1F"/>
                </a:solidFill>
                <a:effectLst/>
                <a:latin typeface="Roboto Mono"/>
              </a:rPr>
              <a:t>Item 2</a:t>
            </a:r>
            <a:r>
              <a:rPr kumimoji="0" lang="en-US" altLang="en-US" sz="2000" b="0" i="0" u="none" strike="noStrike" cap="none" normalizeH="0" baseline="0" dirty="0" smtClean="0">
                <a:ln>
                  <a:noFill/>
                </a:ln>
                <a:solidFill>
                  <a:srgbClr val="9C27B0"/>
                </a:solidFill>
                <a:effectLst/>
                <a:latin typeface="Roboto Mono"/>
              </a:rPr>
              <a:t>&lt;/</a:t>
            </a:r>
            <a:r>
              <a:rPr kumimoji="0" lang="en-US" altLang="en-US" sz="2000" b="0" i="0" u="none" strike="noStrike" cap="none" normalizeH="0" baseline="0" dirty="0" smtClean="0">
                <a:ln>
                  <a:noFill/>
                </a:ln>
                <a:solidFill>
                  <a:srgbClr val="3B78E7"/>
                </a:solidFill>
                <a:effectLst/>
                <a:latin typeface="Roboto Mono"/>
              </a:rPr>
              <a:t>mat-list-item</a:t>
            </a:r>
            <a:r>
              <a:rPr kumimoji="0" lang="en-US" altLang="en-US" sz="2000" b="0" i="0" u="none" strike="noStrike" cap="none" normalizeH="0" baseline="0" dirty="0" smtClean="0">
                <a:ln>
                  <a:noFill/>
                </a:ln>
                <a:solidFill>
                  <a:srgbClr val="9C27B0"/>
                </a:solidFill>
                <a:effectLst/>
                <a:latin typeface="Roboto Mono"/>
              </a:rPr>
              <a:t>&gt;</a:t>
            </a:r>
            <a:r>
              <a:rPr kumimoji="0" lang="en-US" altLang="en-US" sz="2000" b="0" i="0" u="none" strike="noStrike" cap="none" normalizeH="0" baseline="0" dirty="0" smtClean="0">
                <a:ln>
                  <a:noFill/>
                </a:ln>
                <a:solidFill>
                  <a:srgbClr val="1A1B1F"/>
                </a:solidFill>
                <a:effectLst/>
                <a:latin typeface="Roboto Mono"/>
              </a:rPr>
              <a:t> </a:t>
            </a:r>
            <a:r>
              <a:rPr kumimoji="0" lang="en-US" altLang="en-US" sz="2000" b="0" i="0" u="none" strike="noStrike" cap="none" normalizeH="0" baseline="0" dirty="0" smtClean="0">
                <a:ln>
                  <a:noFill/>
                </a:ln>
                <a:solidFill>
                  <a:srgbClr val="9C27B0"/>
                </a:solidFill>
                <a:effectLst/>
                <a:latin typeface="Roboto Mono"/>
              </a:rPr>
              <a:t>&lt;</a:t>
            </a:r>
            <a:r>
              <a:rPr kumimoji="0" lang="en-US" altLang="en-US" sz="2000" b="0" i="0" u="none" strike="noStrike" cap="none" normalizeH="0" baseline="0" dirty="0" smtClean="0">
                <a:ln>
                  <a:noFill/>
                </a:ln>
                <a:solidFill>
                  <a:srgbClr val="3B78E7"/>
                </a:solidFill>
                <a:effectLst/>
                <a:latin typeface="Roboto Mono"/>
              </a:rPr>
              <a:t>mat-divider</a:t>
            </a:r>
            <a:r>
              <a:rPr kumimoji="0" lang="en-US" altLang="en-US" sz="2000" b="0" i="0" u="none" strike="noStrike" cap="none" normalizeH="0" baseline="0" dirty="0" smtClean="0">
                <a:ln>
                  <a:noFill/>
                </a:ln>
                <a:solidFill>
                  <a:srgbClr val="9C27B0"/>
                </a:solidFill>
                <a:effectLst/>
                <a:latin typeface="Roboto Mono"/>
              </a:rPr>
              <a:t>&gt;&lt;/</a:t>
            </a:r>
            <a:r>
              <a:rPr kumimoji="0" lang="en-US" altLang="en-US" sz="2000" b="0" i="0" u="none" strike="noStrike" cap="none" normalizeH="0" baseline="0" dirty="0" smtClean="0">
                <a:ln>
                  <a:noFill/>
                </a:ln>
                <a:solidFill>
                  <a:srgbClr val="3B78E7"/>
                </a:solidFill>
                <a:effectLst/>
                <a:latin typeface="Roboto Mono"/>
              </a:rPr>
              <a:t>mat-divider</a:t>
            </a:r>
            <a:r>
              <a:rPr kumimoji="0" lang="en-US" altLang="en-US" sz="2000" b="0" i="0" u="none" strike="noStrike" cap="none" normalizeH="0" baseline="0" dirty="0" smtClean="0">
                <a:ln>
                  <a:noFill/>
                </a:ln>
                <a:solidFill>
                  <a:srgbClr val="9C27B0"/>
                </a:solidFill>
                <a:effectLst/>
                <a:latin typeface="Roboto Mono"/>
              </a:rPr>
              <a:t>&gt;</a:t>
            </a:r>
            <a:r>
              <a:rPr kumimoji="0" lang="en-US" altLang="en-US" sz="2000" b="0" i="0" u="none" strike="noStrike" cap="none" normalizeH="0" baseline="0" dirty="0" smtClean="0">
                <a:ln>
                  <a:noFill/>
                </a:ln>
                <a:solidFill>
                  <a:srgbClr val="1A1B1F"/>
                </a:solidFill>
                <a:effectLst/>
                <a:latin typeface="Roboto Mono"/>
              </a:rPr>
              <a:t> </a:t>
            </a:r>
            <a:r>
              <a:rPr kumimoji="0" lang="en-US" altLang="en-US" sz="2000" b="0" i="0" u="none" strike="noStrike" cap="none" normalizeH="0" baseline="0" dirty="0" smtClean="0">
                <a:ln>
                  <a:noFill/>
                </a:ln>
                <a:solidFill>
                  <a:srgbClr val="9C27B0"/>
                </a:solidFill>
                <a:effectLst/>
                <a:latin typeface="Roboto Mono"/>
              </a:rPr>
              <a:t>&lt;</a:t>
            </a:r>
            <a:r>
              <a:rPr kumimoji="0" lang="en-US" altLang="en-US" sz="2000" b="0" i="0" u="none" strike="noStrike" cap="none" normalizeH="0" baseline="0" dirty="0" smtClean="0">
                <a:ln>
                  <a:noFill/>
                </a:ln>
                <a:solidFill>
                  <a:srgbClr val="3B78E7"/>
                </a:solidFill>
                <a:effectLst/>
                <a:latin typeface="Roboto Mono"/>
              </a:rPr>
              <a:t>mat-list-item</a:t>
            </a:r>
            <a:r>
              <a:rPr kumimoji="0" lang="en-US" altLang="en-US" sz="2000" b="0" i="0" u="none" strike="noStrike" cap="none" normalizeH="0" baseline="0" dirty="0" smtClean="0">
                <a:ln>
                  <a:noFill/>
                </a:ln>
                <a:solidFill>
                  <a:srgbClr val="9C27B0"/>
                </a:solidFill>
                <a:effectLst/>
                <a:latin typeface="Roboto Mono"/>
              </a:rPr>
              <a:t>&gt;</a:t>
            </a:r>
            <a:r>
              <a:rPr kumimoji="0" lang="en-US" altLang="en-US" sz="2000" b="0" i="0" u="none" strike="noStrike" cap="none" normalizeH="0" baseline="0" dirty="0" smtClean="0">
                <a:ln>
                  <a:noFill/>
                </a:ln>
                <a:solidFill>
                  <a:srgbClr val="1A1B1F"/>
                </a:solidFill>
                <a:effectLst/>
                <a:latin typeface="Roboto Mono"/>
              </a:rPr>
              <a:t>Item 3</a:t>
            </a:r>
            <a:r>
              <a:rPr kumimoji="0" lang="en-US" altLang="en-US" sz="2000" b="0" i="0" u="none" strike="noStrike" cap="none" normalizeH="0" baseline="0" dirty="0" smtClean="0">
                <a:ln>
                  <a:noFill/>
                </a:ln>
                <a:solidFill>
                  <a:srgbClr val="9C27B0"/>
                </a:solidFill>
                <a:effectLst/>
                <a:latin typeface="Roboto Mono"/>
              </a:rPr>
              <a:t>&lt;/</a:t>
            </a:r>
            <a:r>
              <a:rPr kumimoji="0" lang="en-US" altLang="en-US" sz="2000" b="0" i="0" u="none" strike="noStrike" cap="none" normalizeH="0" baseline="0" dirty="0" smtClean="0">
                <a:ln>
                  <a:noFill/>
                </a:ln>
                <a:solidFill>
                  <a:srgbClr val="3B78E7"/>
                </a:solidFill>
                <a:effectLst/>
                <a:latin typeface="Roboto Mono"/>
              </a:rPr>
              <a:t>mat-list-item</a:t>
            </a:r>
            <a:r>
              <a:rPr kumimoji="0" lang="en-US" altLang="en-US" sz="2000" b="0" i="0" u="none" strike="noStrike" cap="none" normalizeH="0" baseline="0" dirty="0" smtClean="0">
                <a:ln>
                  <a:noFill/>
                </a:ln>
                <a:solidFill>
                  <a:srgbClr val="9C27B0"/>
                </a:solidFill>
                <a:effectLst/>
                <a:latin typeface="Roboto Mono"/>
              </a:rPr>
              <a:t>&gt;</a:t>
            </a:r>
            <a:r>
              <a:rPr kumimoji="0" lang="en-US" altLang="en-US" sz="2000" b="0" i="0" u="none" strike="noStrike" cap="none" normalizeH="0" baseline="0" dirty="0" smtClean="0">
                <a:ln>
                  <a:noFill/>
                </a:ln>
                <a:solidFill>
                  <a:srgbClr val="1A1B1F"/>
                </a:solidFill>
                <a:effectLst/>
                <a:latin typeface="Roboto Mono"/>
              </a:rPr>
              <a:t> </a:t>
            </a:r>
            <a:r>
              <a:rPr kumimoji="0" lang="en-US" altLang="en-US" sz="2000" b="0" i="0" u="none" strike="noStrike" cap="none" normalizeH="0" baseline="0" dirty="0" smtClean="0">
                <a:ln>
                  <a:noFill/>
                </a:ln>
                <a:solidFill>
                  <a:srgbClr val="9C27B0"/>
                </a:solidFill>
                <a:effectLst/>
                <a:latin typeface="Roboto Mono"/>
              </a:rPr>
              <a:t>&lt;/</a:t>
            </a:r>
            <a:r>
              <a:rPr kumimoji="0" lang="en-US" altLang="en-US" sz="2000" b="0" i="0" u="none" strike="noStrike" cap="none" normalizeH="0" baseline="0" dirty="0" smtClean="0">
                <a:ln>
                  <a:noFill/>
                </a:ln>
                <a:solidFill>
                  <a:srgbClr val="3B78E7"/>
                </a:solidFill>
                <a:effectLst/>
                <a:latin typeface="Roboto Mono"/>
              </a:rPr>
              <a:t>mat-list</a:t>
            </a:r>
            <a:r>
              <a:rPr kumimoji="0" lang="en-US" altLang="en-US" sz="2000" b="0" i="0" u="none" strike="noStrike" cap="none" normalizeH="0" baseline="0" dirty="0" smtClean="0">
                <a:ln>
                  <a:noFill/>
                </a:ln>
                <a:solidFill>
                  <a:srgbClr val="9C27B0"/>
                </a:solidFill>
                <a:effectLst/>
                <a:latin typeface="Roboto Mono"/>
              </a:rPr>
              <a:t>&gt;</a:t>
            </a:r>
            <a:r>
              <a:rPr kumimoji="0" lang="en-US" altLang="en-US" sz="2000" b="0" i="0" u="none" strike="noStrike" cap="none" normalizeH="0" baseline="0" dirty="0" smtClean="0">
                <a:ln>
                  <a:noFill/>
                </a:ln>
                <a:solidFill>
                  <a:schemeClr val="tx1"/>
                </a:solidFill>
                <a:effectLst/>
              </a:rPr>
              <a:t> </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p:txBody>
      </p:sp>
      <p:sp>
        <p:nvSpPr>
          <p:cNvPr id="8" name="Rectangle 7"/>
          <p:cNvSpPr/>
          <p:nvPr/>
        </p:nvSpPr>
        <p:spPr>
          <a:xfrm>
            <a:off x="6670431" y="4156392"/>
            <a:ext cx="4891454" cy="2585323"/>
          </a:xfrm>
          <a:prstGeom prst="rect">
            <a:avLst/>
          </a:prstGeom>
          <a:ln w="57150">
            <a:solidFill>
              <a:schemeClr val="tx2">
                <a:lumMod val="40000"/>
                <a:lumOff val="60000"/>
              </a:schemeClr>
            </a:solidFill>
          </a:ln>
        </p:spPr>
        <p:style>
          <a:lnRef idx="2">
            <a:schemeClr val="accent5"/>
          </a:lnRef>
          <a:fillRef idx="1">
            <a:schemeClr val="lt1"/>
          </a:fillRef>
          <a:effectRef idx="0">
            <a:schemeClr val="accent5"/>
          </a:effectRef>
          <a:fontRef idx="minor">
            <a:schemeClr val="dk1"/>
          </a:fontRef>
        </p:style>
        <p:txBody>
          <a:bodyPr wrap="square">
            <a:spAutoFit/>
          </a:bodyPr>
          <a:lstStyle/>
          <a:p>
            <a:r>
              <a:rPr lang="en-US" dirty="0"/>
              <a:t>&lt;mat-form-field&gt;</a:t>
            </a:r>
          </a:p>
          <a:p>
            <a:r>
              <a:rPr lang="en-US" dirty="0"/>
              <a:t>  &lt;mat-label&gt;Choose a date&lt;/mat-label&gt;</a:t>
            </a:r>
          </a:p>
          <a:p>
            <a:r>
              <a:rPr lang="en-US" dirty="0"/>
              <a:t>  &lt;input </a:t>
            </a:r>
            <a:r>
              <a:rPr lang="en-US" dirty="0" err="1"/>
              <a:t>matInput</a:t>
            </a:r>
            <a:r>
              <a:rPr lang="en-US" dirty="0"/>
              <a:t> [</a:t>
            </a:r>
            <a:r>
              <a:rPr lang="en-US" dirty="0" err="1"/>
              <a:t>matDatepicker</a:t>
            </a:r>
            <a:r>
              <a:rPr lang="en-US" dirty="0"/>
              <a:t>]="picker"&gt;</a:t>
            </a:r>
          </a:p>
          <a:p>
            <a:r>
              <a:rPr lang="en-US" dirty="0"/>
              <a:t>  &lt;mat-hint&gt;MM/DD/YYYY&lt;/mat-hint&gt;</a:t>
            </a:r>
          </a:p>
          <a:p>
            <a:r>
              <a:rPr lang="en-US" dirty="0"/>
              <a:t>  &lt;mat-</a:t>
            </a:r>
            <a:r>
              <a:rPr lang="en-US" dirty="0" err="1"/>
              <a:t>datepicker</a:t>
            </a:r>
            <a:r>
              <a:rPr lang="en-US" dirty="0"/>
              <a:t>-toggle </a:t>
            </a:r>
            <a:r>
              <a:rPr lang="en-US" dirty="0" err="1"/>
              <a:t>matIconSuffix</a:t>
            </a:r>
            <a:r>
              <a:rPr lang="en-US" dirty="0"/>
              <a:t> [for]="picker"&gt;&lt;/mat-</a:t>
            </a:r>
            <a:r>
              <a:rPr lang="en-US" dirty="0" err="1"/>
              <a:t>datepicker</a:t>
            </a:r>
            <a:r>
              <a:rPr lang="en-US" dirty="0"/>
              <a:t>-toggle&gt;</a:t>
            </a:r>
          </a:p>
          <a:p>
            <a:r>
              <a:rPr lang="en-US" dirty="0"/>
              <a:t>  &lt;mat-</a:t>
            </a:r>
            <a:r>
              <a:rPr lang="en-US" dirty="0" err="1"/>
              <a:t>datepicker</a:t>
            </a:r>
            <a:r>
              <a:rPr lang="en-US" dirty="0"/>
              <a:t> #picker&gt;&lt;/mat-</a:t>
            </a:r>
            <a:r>
              <a:rPr lang="en-US" dirty="0" err="1"/>
              <a:t>datepicker</a:t>
            </a:r>
            <a:r>
              <a:rPr lang="en-US" dirty="0"/>
              <a:t>&gt;</a:t>
            </a:r>
          </a:p>
          <a:p>
            <a:r>
              <a:rPr lang="en-US" dirty="0"/>
              <a:t>&lt;/mat-form-field&gt;</a:t>
            </a:r>
          </a:p>
        </p:txBody>
      </p:sp>
    </p:spTree>
    <p:extLst>
      <p:ext uri="{BB962C8B-B14F-4D97-AF65-F5344CB8AC3E}">
        <p14:creationId xmlns:p14="http://schemas.microsoft.com/office/powerpoint/2010/main" val="281250435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1557866" cy="772160"/>
          </a:xfrm>
        </p:spPr>
        <p:txBody>
          <a:bodyPr>
            <a:normAutofit fontScale="90000"/>
          </a:bodyPr>
          <a:lstStyle/>
          <a:p>
            <a:r>
              <a:rPr lang="en-US" b="1" dirty="0"/>
              <a:t>Testing</a:t>
            </a:r>
            <a:br>
              <a:rPr lang="en-US" b="1" dirty="0"/>
            </a:br>
            <a:r>
              <a:rPr lang="en-US" dirty="0"/>
              <a:t/>
            </a:r>
            <a:br>
              <a:rPr lang="en-US" dirty="0"/>
            </a:br>
            <a:endParaRPr lang="en-US" dirty="0"/>
          </a:p>
        </p:txBody>
      </p:sp>
      <p:sp>
        <p:nvSpPr>
          <p:cNvPr id="3" name="Rectangle 2"/>
          <p:cNvSpPr/>
          <p:nvPr/>
        </p:nvSpPr>
        <p:spPr>
          <a:xfrm>
            <a:off x="1168400" y="1518196"/>
            <a:ext cx="9093200" cy="923330"/>
          </a:xfrm>
          <a:prstGeom prst="rect">
            <a:avLst/>
          </a:prstGeom>
        </p:spPr>
        <p:txBody>
          <a:bodyPr wrap="square">
            <a:spAutoFit/>
          </a:bodyPr>
          <a:lstStyle/>
          <a:p>
            <a:pPr algn="just"/>
            <a:r>
              <a:rPr lang="en-US" dirty="0">
                <a:solidFill>
                  <a:srgbClr val="000000"/>
                </a:solidFill>
                <a:latin typeface="Verdana" panose="020B0604030504040204" pitchFamily="34" charset="0"/>
              </a:rPr>
              <a:t>Testing is a very important phase in the development life cycle of an application. It ensures an application quality. It needs careful planning and execution.</a:t>
            </a:r>
            <a:endParaRPr lang="en-US" dirty="0"/>
          </a:p>
        </p:txBody>
      </p:sp>
      <p:sp>
        <p:nvSpPr>
          <p:cNvPr id="4" name="Rectangle 3"/>
          <p:cNvSpPr/>
          <p:nvPr/>
        </p:nvSpPr>
        <p:spPr>
          <a:xfrm>
            <a:off x="677334" y="2577962"/>
            <a:ext cx="1344506" cy="369332"/>
          </a:xfrm>
          <a:prstGeom prst="rect">
            <a:avLst/>
          </a:prstGeom>
          <a:ln w="60325">
            <a:solidFill>
              <a:srgbClr val="4F5A8F"/>
            </a:solidFill>
          </a:ln>
        </p:spPr>
        <p:style>
          <a:lnRef idx="2">
            <a:schemeClr val="accent5"/>
          </a:lnRef>
          <a:fillRef idx="1">
            <a:schemeClr val="lt1"/>
          </a:fillRef>
          <a:effectRef idx="0">
            <a:schemeClr val="accent5"/>
          </a:effectRef>
          <a:fontRef idx="minor">
            <a:schemeClr val="dk1"/>
          </a:fontRef>
        </p:style>
        <p:txBody>
          <a:bodyPr wrap="square">
            <a:spAutoFit/>
          </a:bodyPr>
          <a:lstStyle/>
          <a:p>
            <a:r>
              <a:rPr lang="en-US" dirty="0">
                <a:solidFill>
                  <a:srgbClr val="000000"/>
                </a:solidFill>
                <a:latin typeface="var(--ff-lato)"/>
              </a:rPr>
              <a:t>Unit Test</a:t>
            </a:r>
            <a:endParaRPr lang="en-US" b="0" i="0" dirty="0">
              <a:solidFill>
                <a:srgbClr val="000000"/>
              </a:solidFill>
              <a:effectLst/>
              <a:latin typeface="var(--ff-lato)"/>
            </a:endParaRPr>
          </a:p>
        </p:txBody>
      </p:sp>
      <p:sp>
        <p:nvSpPr>
          <p:cNvPr id="5" name="Rectangle 4"/>
          <p:cNvSpPr/>
          <p:nvPr/>
        </p:nvSpPr>
        <p:spPr>
          <a:xfrm>
            <a:off x="1270000" y="3074464"/>
            <a:ext cx="9326880" cy="1200329"/>
          </a:xfrm>
          <a:prstGeom prst="rect">
            <a:avLst/>
          </a:prstGeom>
        </p:spPr>
        <p:txBody>
          <a:bodyPr wrap="square">
            <a:spAutoFit/>
          </a:bodyPr>
          <a:lstStyle/>
          <a:p>
            <a:pPr algn="just"/>
            <a:r>
              <a:rPr lang="en-US" dirty="0">
                <a:solidFill>
                  <a:srgbClr val="000000"/>
                </a:solidFill>
                <a:latin typeface="Verdana" panose="020B0604030504040204" pitchFamily="34" charset="0"/>
              </a:rPr>
              <a:t>Unit testing is the easiest method to test an application. It is based on ensuring the correctness of a piece of code or a method of a class. But, it does not reflect the real environment and subsequently. It is the least option to find the bugs.</a:t>
            </a:r>
            <a:endParaRPr lang="en-US" dirty="0"/>
          </a:p>
        </p:txBody>
      </p:sp>
      <p:sp>
        <p:nvSpPr>
          <p:cNvPr id="7" name="Rounded Rectangle 6"/>
          <p:cNvSpPr/>
          <p:nvPr/>
        </p:nvSpPr>
        <p:spPr>
          <a:xfrm>
            <a:off x="4744720" y="4274793"/>
            <a:ext cx="2560320"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Ng test</a:t>
            </a:r>
            <a:endParaRPr lang="en-US" dirty="0"/>
          </a:p>
        </p:txBody>
      </p:sp>
      <p:pic>
        <p:nvPicPr>
          <p:cNvPr id="8" name="Picture 7"/>
          <p:cNvPicPr>
            <a:picLocks noChangeAspect="1"/>
          </p:cNvPicPr>
          <p:nvPr/>
        </p:nvPicPr>
        <p:blipFill>
          <a:blip r:embed="rId2"/>
          <a:stretch>
            <a:fillRect/>
          </a:stretch>
        </p:blipFill>
        <p:spPr>
          <a:xfrm>
            <a:off x="1570567" y="4907731"/>
            <a:ext cx="8386808" cy="1720053"/>
          </a:xfrm>
          <a:prstGeom prst="rect">
            <a:avLst/>
          </a:prstGeom>
        </p:spPr>
      </p:pic>
    </p:spTree>
    <p:extLst>
      <p:ext uri="{BB962C8B-B14F-4D97-AF65-F5344CB8AC3E}">
        <p14:creationId xmlns:p14="http://schemas.microsoft.com/office/powerpoint/2010/main" val="390086187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90600" y="525471"/>
            <a:ext cx="10304318" cy="646331"/>
          </a:xfrm>
          <a:prstGeom prst="rect">
            <a:avLst/>
          </a:prstGeom>
        </p:spPr>
        <p:txBody>
          <a:bodyPr wrap="square">
            <a:spAutoFit/>
          </a:bodyPr>
          <a:lstStyle/>
          <a:p>
            <a:r>
              <a:rPr lang="en-US" dirty="0">
                <a:solidFill>
                  <a:srgbClr val="000000"/>
                </a:solidFill>
                <a:latin typeface="Verdana" panose="020B0604030504040204" pitchFamily="34" charset="0"/>
              </a:rPr>
              <a:t>Now, Chrome browser also opens and shows the test output in the “Jasmine HTML Reporter”. It looks similar to this,</a:t>
            </a:r>
            <a:endParaRPr lang="en-US" dirty="0"/>
          </a:p>
        </p:txBody>
      </p:sp>
      <p:pic>
        <p:nvPicPr>
          <p:cNvPr id="4" name="Picture 3"/>
          <p:cNvPicPr>
            <a:picLocks noChangeAspect="1"/>
          </p:cNvPicPr>
          <p:nvPr/>
        </p:nvPicPr>
        <p:blipFill>
          <a:blip r:embed="rId2"/>
          <a:stretch>
            <a:fillRect/>
          </a:stretch>
        </p:blipFill>
        <p:spPr>
          <a:xfrm>
            <a:off x="1184562" y="1171803"/>
            <a:ext cx="9996056" cy="2579316"/>
          </a:xfrm>
          <a:prstGeom prst="rect">
            <a:avLst/>
          </a:prstGeom>
        </p:spPr>
      </p:pic>
      <p:sp>
        <p:nvSpPr>
          <p:cNvPr id="5" name="Rectangle 4"/>
          <p:cNvSpPr/>
          <p:nvPr/>
        </p:nvSpPr>
        <p:spPr>
          <a:xfrm>
            <a:off x="1094455" y="4117171"/>
            <a:ext cx="2771015" cy="369332"/>
          </a:xfrm>
          <a:prstGeom prst="rect">
            <a:avLst/>
          </a:prstGeom>
          <a:ln w="50800">
            <a:solidFill>
              <a:schemeClr val="accent5">
                <a:alpha val="98000"/>
              </a:schemeClr>
            </a:solidFill>
          </a:ln>
        </p:spPr>
        <p:style>
          <a:lnRef idx="2">
            <a:schemeClr val="accent5"/>
          </a:lnRef>
          <a:fillRef idx="1">
            <a:schemeClr val="lt1"/>
          </a:fillRef>
          <a:effectRef idx="0">
            <a:schemeClr val="accent5"/>
          </a:effectRef>
          <a:fontRef idx="minor">
            <a:schemeClr val="dk1"/>
          </a:fontRef>
        </p:style>
        <p:txBody>
          <a:bodyPr wrap="none">
            <a:spAutoFit/>
          </a:bodyPr>
          <a:lstStyle/>
          <a:p>
            <a:r>
              <a:rPr lang="en-US" dirty="0">
                <a:solidFill>
                  <a:srgbClr val="000000"/>
                </a:solidFill>
                <a:latin typeface="var(--ff-lato)"/>
              </a:rPr>
              <a:t>End to End (E2E) Testing</a:t>
            </a:r>
            <a:endParaRPr lang="en-US" b="0" i="0" dirty="0">
              <a:solidFill>
                <a:srgbClr val="000000"/>
              </a:solidFill>
              <a:effectLst/>
              <a:latin typeface="var(--ff-lato)"/>
            </a:endParaRPr>
          </a:p>
        </p:txBody>
      </p:sp>
      <p:sp>
        <p:nvSpPr>
          <p:cNvPr id="6" name="Rectangle 5"/>
          <p:cNvSpPr/>
          <p:nvPr/>
        </p:nvSpPr>
        <p:spPr>
          <a:xfrm>
            <a:off x="1094455" y="4965945"/>
            <a:ext cx="10730345" cy="923330"/>
          </a:xfrm>
          <a:prstGeom prst="rect">
            <a:avLst/>
          </a:prstGeom>
        </p:spPr>
        <p:txBody>
          <a:bodyPr wrap="square">
            <a:spAutoFit/>
          </a:bodyPr>
          <a:lstStyle/>
          <a:p>
            <a:r>
              <a:rPr lang="en-US" dirty="0">
                <a:solidFill>
                  <a:srgbClr val="000000"/>
                </a:solidFill>
                <a:latin typeface="Verdana" panose="020B0604030504040204" pitchFamily="34" charset="0"/>
              </a:rPr>
              <a:t>Unit tests are small, simple and fast process whereas, E2E testing phase multiple components are involved and works together which cover flows in the application. To perform e2e test, type the below command </a:t>
            </a:r>
            <a:endParaRPr lang="en-US" dirty="0"/>
          </a:p>
        </p:txBody>
      </p:sp>
    </p:spTree>
    <p:extLst>
      <p:ext uri="{BB962C8B-B14F-4D97-AF65-F5344CB8AC3E}">
        <p14:creationId xmlns:p14="http://schemas.microsoft.com/office/powerpoint/2010/main" val="374162779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4655128" y="394854"/>
            <a:ext cx="2265218" cy="5611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Ng e2e</a:t>
            </a:r>
            <a:endParaRPr lang="en-US" dirty="0"/>
          </a:p>
        </p:txBody>
      </p:sp>
      <p:pic>
        <p:nvPicPr>
          <p:cNvPr id="5" name="Picture 4"/>
          <p:cNvPicPr>
            <a:picLocks noChangeAspect="1"/>
          </p:cNvPicPr>
          <p:nvPr/>
        </p:nvPicPr>
        <p:blipFill>
          <a:blip r:embed="rId2"/>
          <a:stretch>
            <a:fillRect/>
          </a:stretch>
        </p:blipFill>
        <p:spPr>
          <a:xfrm>
            <a:off x="1340427" y="1131898"/>
            <a:ext cx="9289473" cy="4676620"/>
          </a:xfrm>
          <a:prstGeom prst="rect">
            <a:avLst/>
          </a:prstGeom>
        </p:spPr>
      </p:pic>
    </p:spTree>
    <p:extLst>
      <p:ext uri="{BB962C8B-B14F-4D97-AF65-F5344CB8AC3E}">
        <p14:creationId xmlns:p14="http://schemas.microsoft.com/office/powerpoint/2010/main" val="218950372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2602197" cy="401515"/>
          </a:xfrm>
          <a:noFill/>
          <a:ln w="38100"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a:normAutofit/>
          </a:bodyPr>
          <a:lstStyle/>
          <a:p>
            <a:r>
              <a:rPr lang="en-US" sz="2000" dirty="0"/>
              <a:t>Ahead-of-Time (AOT) </a:t>
            </a:r>
          </a:p>
        </p:txBody>
      </p:sp>
      <p:sp>
        <p:nvSpPr>
          <p:cNvPr id="3" name="Rectangle 2"/>
          <p:cNvSpPr/>
          <p:nvPr/>
        </p:nvSpPr>
        <p:spPr>
          <a:xfrm>
            <a:off x="1157654" y="1292359"/>
            <a:ext cx="8786446" cy="923330"/>
          </a:xfrm>
          <a:prstGeom prst="rect">
            <a:avLst/>
          </a:prstGeom>
          <a:ln w="38100">
            <a:solidFill>
              <a:schemeClr val="accent3">
                <a:lumMod val="75000"/>
              </a:schemeClr>
            </a:solidFill>
          </a:ln>
        </p:spPr>
        <p:txBody>
          <a:bodyPr wrap="square">
            <a:spAutoFit/>
          </a:bodyPr>
          <a:lstStyle/>
          <a:p>
            <a:r>
              <a:rPr lang="en-US" dirty="0"/>
              <a:t>AOT compilation is a process that compiles Angular templates and components into highly efficient JavaScript code during the build phase, rather than at runtime. This reduces the size of the bundle and speeds up the rendering of the application.</a:t>
            </a:r>
          </a:p>
        </p:txBody>
      </p:sp>
      <p:sp>
        <p:nvSpPr>
          <p:cNvPr id="4" name="Rectangle 3"/>
          <p:cNvSpPr/>
          <p:nvPr/>
        </p:nvSpPr>
        <p:spPr>
          <a:xfrm>
            <a:off x="677334" y="2496933"/>
            <a:ext cx="1848711" cy="369332"/>
          </a:xfrm>
          <a:prstGeom prst="rect">
            <a:avLst/>
          </a:prstGeom>
          <a:ln w="38100">
            <a:solidFill>
              <a:srgbClr val="00B0F0"/>
            </a:solidFill>
          </a:ln>
        </p:spPr>
        <p:txBody>
          <a:bodyPr wrap="none">
            <a:spAutoFit/>
          </a:bodyPr>
          <a:lstStyle/>
          <a:p>
            <a:r>
              <a:rPr lang="en-US" dirty="0"/>
              <a:t>Benefits of AOT:</a:t>
            </a:r>
          </a:p>
        </p:txBody>
      </p:sp>
      <p:sp>
        <p:nvSpPr>
          <p:cNvPr id="5" name="Rectangle 1"/>
          <p:cNvSpPr>
            <a:spLocks noChangeArrowheads="1"/>
          </p:cNvSpPr>
          <p:nvPr/>
        </p:nvSpPr>
        <p:spPr bwMode="auto">
          <a:xfrm>
            <a:off x="1978432" y="3147509"/>
            <a:ext cx="9381393" cy="147732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Faster Rendering:</a:t>
            </a:r>
            <a:r>
              <a:rPr kumimoji="0" lang="en-US" altLang="en-US" sz="1800" b="0" i="0" u="none" strike="noStrike" cap="none" normalizeH="0" baseline="0" dirty="0" smtClean="0">
                <a:ln>
                  <a:noFill/>
                </a:ln>
                <a:solidFill>
                  <a:schemeClr val="tx1"/>
                </a:solidFill>
                <a:effectLst/>
                <a:latin typeface="Arial" panose="020B0604020202020204" pitchFamily="34" charset="0"/>
              </a:rPr>
              <a:t> The browser downloads a pre-compiled version of the application, resulting in faster rendering.</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Smaller Bundles:</a:t>
            </a:r>
            <a:r>
              <a:rPr kumimoji="0" lang="en-US" altLang="en-US" sz="1800" b="0" i="0" u="none" strike="noStrike" cap="none" normalizeH="0" baseline="0" dirty="0" smtClean="0">
                <a:ln>
                  <a:noFill/>
                </a:ln>
                <a:solidFill>
                  <a:schemeClr val="tx1"/>
                </a:solidFill>
                <a:effectLst/>
                <a:latin typeface="Arial" panose="020B0604020202020204" pitchFamily="34" charset="0"/>
              </a:rPr>
              <a:t> AOT removes Angular decorators and other unnecessary code from the final bundle.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Improved Security:</a:t>
            </a:r>
            <a:r>
              <a:rPr kumimoji="0" lang="en-US" altLang="en-US" sz="1800" b="0" i="0" u="none" strike="noStrike" cap="none" normalizeH="0" baseline="0" dirty="0" smtClean="0">
                <a:ln>
                  <a:noFill/>
                </a:ln>
                <a:solidFill>
                  <a:schemeClr val="tx1"/>
                </a:solidFill>
                <a:effectLst/>
                <a:latin typeface="Arial" panose="020B0604020202020204" pitchFamily="34" charset="0"/>
              </a:rPr>
              <a:t> AOT compiles templates into JavaScript, preventing injection attacks. </a:t>
            </a:r>
          </a:p>
        </p:txBody>
      </p:sp>
      <p:sp>
        <p:nvSpPr>
          <p:cNvPr id="6" name="Rectangle 5"/>
          <p:cNvSpPr/>
          <p:nvPr/>
        </p:nvSpPr>
        <p:spPr>
          <a:xfrm>
            <a:off x="4757230" y="5776465"/>
            <a:ext cx="1587294" cy="369332"/>
          </a:xfrm>
          <a:prstGeom prst="rect">
            <a:avLst/>
          </a:prstGeom>
          <a:ln w="57150">
            <a:solidFill>
              <a:srgbClr val="FFFF00"/>
            </a:solidFill>
          </a:ln>
        </p:spPr>
        <p:txBody>
          <a:bodyPr wrap="none">
            <a:spAutoFit/>
          </a:bodyPr>
          <a:lstStyle/>
          <a:p>
            <a:r>
              <a:rPr lang="en-US" dirty="0"/>
              <a:t>ng build --</a:t>
            </a:r>
            <a:r>
              <a:rPr lang="en-US" dirty="0" err="1"/>
              <a:t>aot</a:t>
            </a:r>
            <a:endParaRPr lang="en-US" dirty="0"/>
          </a:p>
        </p:txBody>
      </p:sp>
      <p:sp>
        <p:nvSpPr>
          <p:cNvPr id="7" name="Rectangle 2"/>
          <p:cNvSpPr>
            <a:spLocks noChangeArrowheads="1"/>
          </p:cNvSpPr>
          <p:nvPr/>
        </p:nvSpPr>
        <p:spPr bwMode="auto">
          <a:xfrm>
            <a:off x="1415561" y="4963259"/>
            <a:ext cx="9396045" cy="650576"/>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Arial" panose="020B0604020202020204" pitchFamily="34" charset="0"/>
              </a:rPr>
              <a:t>AOT is enabled by default in production builds. You can explicitly use it in development by adding the </a:t>
            </a:r>
            <a:r>
              <a:rPr kumimoji="0" lang="en-US" altLang="en-US" b="0" i="0" u="none" strike="noStrike" cap="none" normalizeH="0" baseline="0" dirty="0" smtClean="0">
                <a:ln>
                  <a:noFill/>
                </a:ln>
                <a:solidFill>
                  <a:schemeClr val="tx1"/>
                </a:solidFill>
                <a:effectLst/>
                <a:latin typeface="Arial Unicode MS"/>
              </a:rPr>
              <a:t>--</a:t>
            </a:r>
            <a:r>
              <a:rPr kumimoji="0" lang="en-US" altLang="en-US" b="0" i="0" u="none" strike="noStrike" cap="none" normalizeH="0" baseline="0" dirty="0" err="1" smtClean="0">
                <a:ln>
                  <a:noFill/>
                </a:ln>
                <a:solidFill>
                  <a:schemeClr val="tx1"/>
                </a:solidFill>
                <a:effectLst/>
                <a:latin typeface="Arial Unicode MS"/>
              </a:rPr>
              <a:t>aot</a:t>
            </a:r>
            <a:r>
              <a:rPr kumimoji="0" lang="en-US" altLang="en-US" b="0" i="0" u="none" strike="noStrike" cap="none" normalizeH="0" baseline="0" dirty="0" smtClean="0">
                <a:ln>
                  <a:noFill/>
                </a:ln>
                <a:solidFill>
                  <a:schemeClr val="tx1"/>
                </a:solidFill>
                <a:effectLst/>
              </a:rPr>
              <a:t> flag. </a:t>
            </a:r>
            <a:endParaRPr kumimoji="0" lang="en-US" altLang="en-US"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79574920"/>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2603" y="325288"/>
            <a:ext cx="3373039" cy="369332"/>
          </a:xfrm>
          <a:prstGeom prst="rect">
            <a:avLst/>
          </a:prstGeom>
          <a:ln w="57150">
            <a:solidFill>
              <a:srgbClr val="99FFCC"/>
            </a:solidFill>
            <a:prstDash val="sysDot"/>
          </a:ln>
        </p:spPr>
        <p:txBody>
          <a:bodyPr wrap="none">
            <a:spAutoFit/>
          </a:bodyPr>
          <a:lstStyle/>
          <a:p>
            <a:r>
              <a:rPr lang="en-US" dirty="0">
                <a:latin typeface="Verdana" panose="020B0604030504040204" pitchFamily="34" charset="0"/>
              </a:rPr>
              <a:t>Just In Time (JIT) Compiler</a:t>
            </a:r>
            <a:endParaRPr lang="en-US" b="0" i="0" dirty="0">
              <a:effectLst/>
              <a:latin typeface="Verdana" panose="020B0604030504040204" pitchFamily="34" charset="0"/>
            </a:endParaRPr>
          </a:p>
        </p:txBody>
      </p:sp>
      <p:sp>
        <p:nvSpPr>
          <p:cNvPr id="4" name="Rectangle 3"/>
          <p:cNvSpPr/>
          <p:nvPr/>
        </p:nvSpPr>
        <p:spPr>
          <a:xfrm>
            <a:off x="1503484" y="967043"/>
            <a:ext cx="8449408" cy="1200329"/>
          </a:xfrm>
          <a:prstGeom prst="rect">
            <a:avLst/>
          </a:prstGeom>
          <a:ln w="28575">
            <a:solidFill>
              <a:srgbClr val="0070C0"/>
            </a:solidFill>
          </a:ln>
        </p:spPr>
        <p:txBody>
          <a:bodyPr wrap="square">
            <a:spAutoFit/>
          </a:bodyPr>
          <a:lstStyle/>
          <a:p>
            <a:pPr algn="just"/>
            <a:r>
              <a:rPr lang="en-US" dirty="0">
                <a:latin typeface="Verdana" panose="020B0604030504040204" pitchFamily="34" charset="0"/>
              </a:rPr>
              <a:t>In </a:t>
            </a:r>
            <a:r>
              <a:rPr lang="en-US" b="1" dirty="0">
                <a:latin typeface="inherit"/>
              </a:rPr>
              <a:t>Just In Time (JIT)</a:t>
            </a:r>
            <a:r>
              <a:rPr lang="en-US" dirty="0">
                <a:latin typeface="Verdana" panose="020B0604030504040204" pitchFamily="34" charset="0"/>
              </a:rPr>
              <a:t> compilation, the compiler will be bundled along with the application and send to the browser. Angular application will be compiled in the browser and run just before the execution of application.</a:t>
            </a:r>
            <a:endParaRPr lang="en-US" b="0" i="0" dirty="0">
              <a:effectLst/>
              <a:latin typeface="Verdana" panose="020B0604030504040204" pitchFamily="34" charset="0"/>
            </a:endParaRPr>
          </a:p>
        </p:txBody>
      </p:sp>
      <p:sp>
        <p:nvSpPr>
          <p:cNvPr id="5" name="Rectangle 4"/>
          <p:cNvSpPr/>
          <p:nvPr/>
        </p:nvSpPr>
        <p:spPr>
          <a:xfrm>
            <a:off x="768684" y="2439795"/>
            <a:ext cx="2055756" cy="369332"/>
          </a:xfrm>
          <a:prstGeom prst="rect">
            <a:avLst/>
          </a:prstGeom>
          <a:ln w="28575">
            <a:solidFill>
              <a:srgbClr val="7030A0"/>
            </a:solidFill>
          </a:ln>
        </p:spPr>
        <p:txBody>
          <a:bodyPr wrap="none">
            <a:spAutoFit/>
          </a:bodyPr>
          <a:lstStyle/>
          <a:p>
            <a:r>
              <a:rPr lang="en-US" dirty="0"/>
              <a:t>Production Builds:</a:t>
            </a:r>
          </a:p>
        </p:txBody>
      </p:sp>
      <p:sp>
        <p:nvSpPr>
          <p:cNvPr id="6" name="Rectangle 5"/>
          <p:cNvSpPr/>
          <p:nvPr/>
        </p:nvSpPr>
        <p:spPr>
          <a:xfrm>
            <a:off x="2212730" y="3081550"/>
            <a:ext cx="8636977" cy="646331"/>
          </a:xfrm>
          <a:prstGeom prst="rect">
            <a:avLst/>
          </a:prstGeom>
          <a:ln w="38100">
            <a:solidFill>
              <a:srgbClr val="C00000"/>
            </a:solidFill>
          </a:ln>
        </p:spPr>
        <p:txBody>
          <a:bodyPr wrap="square">
            <a:spAutoFit/>
          </a:bodyPr>
          <a:lstStyle/>
          <a:p>
            <a:r>
              <a:rPr lang="en-US" dirty="0"/>
              <a:t>When building an application for production, Angular provides optimizations to ensure the best performance.</a:t>
            </a:r>
          </a:p>
        </p:txBody>
      </p:sp>
      <p:sp>
        <p:nvSpPr>
          <p:cNvPr id="7" name="Rectangle 6"/>
          <p:cNvSpPr/>
          <p:nvPr/>
        </p:nvSpPr>
        <p:spPr>
          <a:xfrm>
            <a:off x="604426" y="3912547"/>
            <a:ext cx="2929392" cy="369332"/>
          </a:xfrm>
          <a:prstGeom prst="rect">
            <a:avLst/>
          </a:prstGeom>
          <a:ln w="38100">
            <a:solidFill>
              <a:srgbClr val="00B0F0"/>
            </a:solidFill>
          </a:ln>
        </p:spPr>
        <p:txBody>
          <a:bodyPr wrap="none">
            <a:spAutoFit/>
          </a:bodyPr>
          <a:lstStyle/>
          <a:p>
            <a:r>
              <a:rPr lang="en-US" dirty="0"/>
              <a:t>Production Build Features:</a:t>
            </a:r>
          </a:p>
        </p:txBody>
      </p:sp>
      <p:sp>
        <p:nvSpPr>
          <p:cNvPr id="8" name="Rectangle 1"/>
          <p:cNvSpPr>
            <a:spLocks noChangeArrowheads="1"/>
          </p:cNvSpPr>
          <p:nvPr/>
        </p:nvSpPr>
        <p:spPr bwMode="auto">
          <a:xfrm>
            <a:off x="2505808" y="4466545"/>
            <a:ext cx="8991600" cy="1477328"/>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smtClean="0">
                <a:ln>
                  <a:noFill/>
                </a:ln>
                <a:solidFill>
                  <a:schemeClr val="tx1"/>
                </a:solidFill>
                <a:effectLst/>
                <a:latin typeface="Arial" panose="020B0604020202020204" pitchFamily="34" charset="0"/>
              </a:rPr>
              <a:t>Minification</a:t>
            </a:r>
            <a:r>
              <a:rPr kumimoji="0" lang="en-US" altLang="en-US" sz="1800" b="1"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smtClean="0">
                <a:ln>
                  <a:noFill/>
                </a:ln>
                <a:solidFill>
                  <a:schemeClr val="tx1"/>
                </a:solidFill>
                <a:effectLst/>
                <a:latin typeface="Arial" panose="020B0604020202020204" pitchFamily="34" charset="0"/>
              </a:rPr>
              <a:t> Removes unnecessary white spaces, comments, and code to reduce the bundle size.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smtClean="0">
                <a:ln>
                  <a:noFill/>
                </a:ln>
                <a:solidFill>
                  <a:schemeClr val="tx1"/>
                </a:solidFill>
                <a:effectLst/>
                <a:latin typeface="Arial" panose="020B0604020202020204" pitchFamily="34" charset="0"/>
              </a:rPr>
              <a:t>Uglification</a:t>
            </a:r>
            <a:r>
              <a:rPr kumimoji="0" lang="en-US" altLang="en-US" sz="1800" b="1" i="0" u="none" strike="noStrike" cap="none" normalizeH="0" baseline="0" dirty="0" smtClean="0">
                <a:ln>
                  <a:noFill/>
                </a:ln>
                <a:solidFill>
                  <a:schemeClr val="tx1"/>
                </a:solidFill>
                <a:effectLst/>
                <a:latin typeface="Arial" panose="020B0604020202020204" pitchFamily="34" charset="0"/>
              </a:rPr>
              <a:t>:</a:t>
            </a:r>
            <a:r>
              <a:rPr kumimoji="0" lang="en-US" altLang="en-US" sz="1800" b="0" i="0" u="none" strike="noStrike" cap="none" normalizeH="0" baseline="0" dirty="0" smtClean="0">
                <a:ln>
                  <a:noFill/>
                </a:ln>
                <a:solidFill>
                  <a:schemeClr val="tx1"/>
                </a:solidFill>
                <a:effectLst/>
                <a:latin typeface="Arial" panose="020B0604020202020204" pitchFamily="34" charset="0"/>
              </a:rPr>
              <a:t> Renames variables and functions to shorter names to further reduce the size.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Dead Code Elimination:</a:t>
            </a:r>
            <a:r>
              <a:rPr kumimoji="0" lang="en-US" altLang="en-US" sz="1800" b="0" i="0" u="none" strike="noStrike" cap="none" normalizeH="0" baseline="0" dirty="0" smtClean="0">
                <a:ln>
                  <a:noFill/>
                </a:ln>
                <a:solidFill>
                  <a:schemeClr val="tx1"/>
                </a:solidFill>
                <a:effectLst/>
                <a:latin typeface="Arial" panose="020B0604020202020204" pitchFamily="34" charset="0"/>
              </a:rPr>
              <a:t> Removes unused code from the final bundle. </a:t>
            </a:r>
          </a:p>
        </p:txBody>
      </p:sp>
      <p:sp>
        <p:nvSpPr>
          <p:cNvPr id="9" name="Rectangle 8"/>
          <p:cNvSpPr/>
          <p:nvPr/>
        </p:nvSpPr>
        <p:spPr>
          <a:xfrm>
            <a:off x="4868016" y="6233718"/>
            <a:ext cx="1720343" cy="369332"/>
          </a:xfrm>
          <a:prstGeom prst="rect">
            <a:avLst/>
          </a:prstGeom>
          <a:ln w="28575">
            <a:solidFill>
              <a:srgbClr val="00B050"/>
            </a:solidFill>
          </a:ln>
        </p:spPr>
        <p:txBody>
          <a:bodyPr wrap="none">
            <a:spAutoFit/>
          </a:bodyPr>
          <a:lstStyle/>
          <a:p>
            <a:r>
              <a:rPr lang="en-US" dirty="0"/>
              <a:t>ng build --prod</a:t>
            </a:r>
          </a:p>
        </p:txBody>
      </p:sp>
    </p:spTree>
    <p:extLst>
      <p:ext uri="{BB962C8B-B14F-4D97-AF65-F5344CB8AC3E}">
        <p14:creationId xmlns:p14="http://schemas.microsoft.com/office/powerpoint/2010/main" val="1977580859"/>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3247</TotalTime>
  <Words>2506</Words>
  <Application>Microsoft Office PowerPoint</Application>
  <PresentationFormat>Widescreen</PresentationFormat>
  <Paragraphs>287</Paragraphs>
  <Slides>58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58</vt:i4>
      </vt:variant>
    </vt:vector>
  </HeadingPairs>
  <TitlesOfParts>
    <vt:vector size="67" baseType="lpstr">
      <vt:lpstr>Arial</vt:lpstr>
      <vt:lpstr>Arial Unicode MS</vt:lpstr>
      <vt:lpstr>inherit</vt:lpstr>
      <vt:lpstr>Roboto Mono</vt:lpstr>
      <vt:lpstr>Trebuchet MS</vt:lpstr>
      <vt:lpstr>var(--ff-lato)</vt:lpstr>
      <vt:lpstr>Verdana</vt:lpstr>
      <vt:lpstr>Wingdings 3</vt:lpstr>
      <vt:lpstr>Facet</vt:lpstr>
      <vt:lpstr>Angular-17</vt:lpstr>
      <vt:lpstr>What is Angular</vt:lpstr>
      <vt:lpstr>PowerPoint Presentation</vt:lpstr>
      <vt:lpstr>How to  Installation </vt:lpstr>
      <vt:lpstr>Angular architecture</vt:lpstr>
      <vt:lpstr>How Add a component </vt:lpstr>
      <vt:lpstr>What is data binding</vt:lpstr>
      <vt:lpstr>What is Directive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Angular Services and Dependency Injection</vt:lpstr>
      <vt:lpstr>Example of a Service:</vt:lpstr>
      <vt:lpstr>Example of Dependency Injection:</vt:lpstr>
      <vt:lpstr>Forms</vt:lpstr>
      <vt:lpstr>PowerPoint Presentation</vt:lpstr>
      <vt:lpstr>Reactive Forms</vt:lpstr>
      <vt:lpstr>PowerPoint Presentation</vt:lpstr>
      <vt:lpstr>T.s.File</vt:lpstr>
      <vt:lpstr>Form Validation and Error Handling</vt:lpstr>
      <vt:lpstr>PowerPoint Presentation</vt:lpstr>
      <vt:lpstr>Error Handling:</vt:lpstr>
      <vt:lpstr>Angular Routing and Navigation</vt:lpstr>
      <vt:lpstr>PowerPoint Presentation</vt:lpstr>
      <vt:lpstr>PowerPoint Presentation</vt:lpstr>
      <vt:lpstr>PowerPoint Presentation</vt:lpstr>
      <vt:lpstr>Lazy Loading </vt:lpstr>
      <vt:lpstr>Pipes</vt:lpstr>
      <vt:lpstr>Examples of Built-in pipes</vt:lpstr>
      <vt:lpstr>Custom Pipes</vt:lpstr>
      <vt:lpstr>PowerPoint Presentation</vt:lpstr>
      <vt:lpstr>HTTP Client and API Communication</vt:lpstr>
      <vt:lpstr>PowerPoint Presentation</vt:lpstr>
      <vt:lpstr>Lifecycle Hooks</vt:lpstr>
      <vt:lpstr>PowerPoint Presentation</vt:lpstr>
      <vt:lpstr>PowerPoint Presentation</vt:lpstr>
      <vt:lpstr>Material</vt:lpstr>
      <vt:lpstr>PowerPoint Presentation</vt:lpstr>
      <vt:lpstr>PowerPoint Presentation</vt:lpstr>
      <vt:lpstr>Testing  </vt:lpstr>
      <vt:lpstr>PowerPoint Presentation</vt:lpstr>
      <vt:lpstr>PowerPoint Presentation</vt:lpstr>
      <vt:lpstr>Ahead-of-Time (AOT)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Angular-17</dc:title>
  <dc:creator>naga raju</dc:creator>
  <cp:lastModifiedBy>naga raju</cp:lastModifiedBy>
  <cp:revision>64</cp:revision>
  <dcterms:created xsi:type="dcterms:W3CDTF">2024-07-30T13:37:38Z</dcterms:created>
  <dcterms:modified xsi:type="dcterms:W3CDTF">2025-10-23T15:41:06Z</dcterms:modified>
</cp:coreProperties>
</file>